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C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594360"/>
            <a:ext cx="1828800" cy="228600"/>
          </a:xfrm>
          <a:prstGeom prst="rect">
            <a:avLst/>
          </a:prstGeom>
          <a:noFill/>
        </p:spPr>
        <p:txBody>
          <a:bodyPr wrap="square" lIns="18288" rIns="18288" tIns="18288" bIns="18288" anchor="t">
            <a:spAutoFit/>
          </a:bodyPr>
          <a:lstStyle/>
          <a:p>
            <a:pPr algn="l">
              <a:spcAft>
                <a:spcPts val="500"/>
              </a:spcAft>
              <a:defRPr sz="900" b="1">
                <a:solidFill>
                  <a:srgbClr val="21B8C9"/>
                </a:solidFill>
                <a:latin typeface="Aptos"/>
              </a:defRPr>
            </a:pPr>
            <a:r>
              <a:t>SEMINAR BY CoC</a:t>
            </a:r>
          </a:p>
        </p:txBody>
      </p:sp>
      <p:sp>
        <p:nvSpPr>
          <p:cNvPr id="4" name="TextBox 3"/>
          <p:cNvSpPr txBox="1"/>
          <p:nvPr/>
        </p:nvSpPr>
        <p:spPr>
          <a:xfrm>
            <a:off x="713232" y="1261872"/>
            <a:ext cx="6126480" cy="594360"/>
          </a:xfrm>
          <a:prstGeom prst="rect">
            <a:avLst/>
          </a:prstGeom>
          <a:noFill/>
        </p:spPr>
        <p:txBody>
          <a:bodyPr wrap="square" lIns="18288" rIns="18288" tIns="18288" bIns="18288" anchor="t">
            <a:spAutoFit/>
          </a:bodyPr>
          <a:lstStyle/>
          <a:p>
            <a:pPr algn="l">
              <a:spcAft>
                <a:spcPts val="500"/>
              </a:spcAft>
              <a:defRPr sz="3200" b="1">
                <a:solidFill>
                  <a:srgbClr val="FFFFFF"/>
                </a:solidFill>
                <a:latin typeface="Aptos Display"/>
              </a:defRPr>
            </a:pPr>
            <a:r>
              <a:t>FYP Road-Map:</a:t>
            </a:r>
          </a:p>
        </p:txBody>
      </p:sp>
      <p:sp>
        <p:nvSpPr>
          <p:cNvPr id="5" name="TextBox 4"/>
          <p:cNvSpPr txBox="1"/>
          <p:nvPr/>
        </p:nvSpPr>
        <p:spPr>
          <a:xfrm>
            <a:off x="713232" y="1901952"/>
            <a:ext cx="7589520" cy="594360"/>
          </a:xfrm>
          <a:prstGeom prst="rect">
            <a:avLst/>
          </a:prstGeom>
          <a:noFill/>
        </p:spPr>
        <p:txBody>
          <a:bodyPr wrap="square" lIns="18288" rIns="18288" tIns="18288" bIns="18288" anchor="t">
            <a:spAutoFit/>
          </a:bodyPr>
          <a:lstStyle/>
          <a:p>
            <a:pPr algn="l">
              <a:spcAft>
                <a:spcPts val="500"/>
              </a:spcAft>
              <a:defRPr sz="2500" b="1">
                <a:solidFill>
                  <a:srgbClr val="CFE1F0"/>
                </a:solidFill>
                <a:latin typeface="Aptos Display"/>
              </a:defRPr>
            </a:pPr>
            <a:r>
              <a:t>Proposal, Development &amp; Execution</a:t>
            </a:r>
          </a:p>
        </p:txBody>
      </p:sp>
      <p:sp>
        <p:nvSpPr>
          <p:cNvPr id="6" name="TextBox 5"/>
          <p:cNvSpPr txBox="1"/>
          <p:nvPr/>
        </p:nvSpPr>
        <p:spPr>
          <a:xfrm>
            <a:off x="731520" y="2788920"/>
            <a:ext cx="5943600" cy="685800"/>
          </a:xfrm>
          <a:prstGeom prst="rect">
            <a:avLst/>
          </a:prstGeom>
          <a:noFill/>
        </p:spPr>
        <p:txBody>
          <a:bodyPr wrap="square" lIns="18288" rIns="18288" tIns="18288" bIns="18288" anchor="t">
            <a:spAutoFit/>
          </a:bodyPr>
          <a:lstStyle/>
          <a:p>
            <a:pPr algn="l">
              <a:spcAft>
                <a:spcPts val="500"/>
              </a:spcAft>
              <a:defRPr sz="1400" b="0">
                <a:solidFill>
                  <a:srgbClr val="FFFFFF"/>
                </a:solidFill>
                <a:latin typeface="Aptos"/>
              </a:defRPr>
            </a:pPr>
            <a:r>
              <a:t>Department of Computer Engineering</a:t>
            </a:r>
          </a:p>
          <a:p>
            <a:pPr algn="l">
              <a:spcAft>
                <a:spcPts val="500"/>
              </a:spcAft>
              <a:defRPr sz="1400" b="0">
                <a:solidFill>
                  <a:srgbClr val="FFFFFF"/>
                </a:solidFill>
                <a:latin typeface="Aptos"/>
              </a:defRPr>
            </a:pPr>
            <a:r>
              <a:t>COMSATS University Islamabad, Lahore Campus</a:t>
            </a:r>
          </a:p>
        </p:txBody>
      </p:sp>
      <p:sp>
        <p:nvSpPr>
          <p:cNvPr id="7" name="TextBox 6"/>
          <p:cNvSpPr txBox="1"/>
          <p:nvPr/>
        </p:nvSpPr>
        <p:spPr>
          <a:xfrm>
            <a:off x="731520" y="3822191"/>
            <a:ext cx="4937760" cy="411480"/>
          </a:xfrm>
          <a:prstGeom prst="rect">
            <a:avLst/>
          </a:prstGeom>
          <a:noFill/>
        </p:spPr>
        <p:txBody>
          <a:bodyPr wrap="square" lIns="18288" rIns="18288" tIns="18288" bIns="18288" anchor="t">
            <a:spAutoFit/>
          </a:bodyPr>
          <a:lstStyle/>
          <a:p>
            <a:pPr algn="l">
              <a:spcAft>
                <a:spcPts val="500"/>
              </a:spcAft>
              <a:defRPr sz="1900" b="1">
                <a:solidFill>
                  <a:srgbClr val="F28F2A"/>
                </a:solidFill>
                <a:latin typeface="Aptos"/>
              </a:defRPr>
            </a:pPr>
            <a:r>
              <a:t>Engr. Dr. Jehangir Arshad</a:t>
            </a:r>
          </a:p>
        </p:txBody>
      </p:sp>
      <p:sp>
        <p:nvSpPr>
          <p:cNvPr id="8" name="TextBox 7"/>
          <p:cNvSpPr txBox="1"/>
          <p:nvPr/>
        </p:nvSpPr>
        <p:spPr>
          <a:xfrm>
            <a:off x="749808" y="4315968"/>
            <a:ext cx="6400800" cy="1097280"/>
          </a:xfrm>
          <a:prstGeom prst="rect">
            <a:avLst/>
          </a:prstGeom>
          <a:noFill/>
        </p:spPr>
        <p:txBody>
          <a:bodyPr wrap="square" lIns="18288" rIns="18288" tIns="18288" bIns="18288" anchor="t">
            <a:spAutoFit/>
          </a:bodyPr>
          <a:lstStyle/>
          <a:p>
            <a:pPr algn="l">
              <a:spcAft>
                <a:spcPts val="500"/>
              </a:spcAft>
              <a:defRPr sz="950" b="0">
                <a:solidFill>
                  <a:srgbClr val="BECDDC"/>
                </a:solidFill>
                <a:latin typeface="Aptos"/>
              </a:defRPr>
            </a:pPr>
            <a:r>
              <a:t>Asst. Professor | Ph.D. Supervisor | Registered Engineer (PEC No. COMP/7371)</a:t>
            </a:r>
          </a:p>
          <a:p>
            <a:pPr algn="l">
              <a:spcAft>
                <a:spcPts val="500"/>
              </a:spcAft>
              <a:defRPr sz="950" b="0">
                <a:solidFill>
                  <a:srgbClr val="BECDDC"/>
                </a:solidFill>
                <a:latin typeface="Aptos"/>
              </a:defRPr>
            </a:pPr>
            <a:r>
              <a:t>Ph.D. in Information and Communication Engineering</a:t>
            </a:r>
          </a:p>
          <a:p>
            <a:pPr algn="l">
              <a:spcAft>
                <a:spcPts val="500"/>
              </a:spcAft>
              <a:defRPr sz="950" b="0">
                <a:solidFill>
                  <a:srgbClr val="BECDDC"/>
                </a:solidFill>
                <a:latin typeface="Aptos"/>
              </a:defRPr>
            </a:pPr>
            <a:r>
              <a:t>E-MAIL: jehangirarshad@cuilahore.edu.pk</a:t>
            </a:r>
          </a:p>
          <a:p>
            <a:pPr algn="l">
              <a:spcAft>
                <a:spcPts val="500"/>
              </a:spcAft>
              <a:defRPr sz="950" b="0">
                <a:solidFill>
                  <a:srgbClr val="BECDDC"/>
                </a:solidFill>
                <a:latin typeface="Aptos"/>
              </a:defRPr>
            </a:pPr>
            <a:r>
              <a:t>PROFILE LINK: https://scholar.google.com/citations?user=_WnfDB4AAAAJ&amp;hl=en#</a:t>
            </a:r>
          </a:p>
        </p:txBody>
      </p:sp>
      <p:sp>
        <p:nvSpPr>
          <p:cNvPr id="9" name="TextBox 8"/>
          <p:cNvSpPr txBox="1"/>
          <p:nvPr/>
        </p:nvSpPr>
        <p:spPr>
          <a:xfrm>
            <a:off x="8275320" y="1078992"/>
            <a:ext cx="914400" cy="457200"/>
          </a:xfrm>
          <a:prstGeom prst="rect">
            <a:avLst/>
          </a:prstGeom>
          <a:noFill/>
        </p:spPr>
        <p:txBody>
          <a:bodyPr wrap="square" lIns="18288" rIns="18288" tIns="18288" bIns="18288" anchor="t">
            <a:spAutoFit/>
          </a:bodyPr>
          <a:lstStyle/>
          <a:p>
            <a:pPr algn="ctr">
              <a:spcAft>
                <a:spcPts val="500"/>
              </a:spcAft>
              <a:defRPr sz="2200" b="1">
                <a:solidFill>
                  <a:srgbClr val="21B8C9"/>
                </a:solidFill>
                <a:latin typeface="Aptos"/>
              </a:defRPr>
            </a:pPr>
            <a:r>
              <a:t>01</a:t>
            </a:r>
          </a:p>
        </p:txBody>
      </p:sp>
      <p:sp>
        <p:nvSpPr>
          <p:cNvPr id="10" name="TextBox 9"/>
          <p:cNvSpPr txBox="1"/>
          <p:nvPr/>
        </p:nvSpPr>
        <p:spPr>
          <a:xfrm>
            <a:off x="9326880" y="2057400"/>
            <a:ext cx="914400" cy="457200"/>
          </a:xfrm>
          <a:prstGeom prst="rect">
            <a:avLst/>
          </a:prstGeom>
          <a:noFill/>
        </p:spPr>
        <p:txBody>
          <a:bodyPr wrap="square" lIns="18288" rIns="18288" tIns="18288" bIns="18288" anchor="t">
            <a:spAutoFit/>
          </a:bodyPr>
          <a:lstStyle/>
          <a:p>
            <a:pPr algn="ctr">
              <a:spcAft>
                <a:spcPts val="500"/>
              </a:spcAft>
              <a:defRPr sz="2200" b="1">
                <a:solidFill>
                  <a:srgbClr val="189B91"/>
                </a:solidFill>
                <a:latin typeface="Aptos"/>
              </a:defRPr>
            </a:pPr>
            <a:r>
              <a:t>02</a:t>
            </a:r>
          </a:p>
        </p:txBody>
      </p:sp>
      <p:sp>
        <p:nvSpPr>
          <p:cNvPr id="11" name="TextBox 10"/>
          <p:cNvSpPr txBox="1"/>
          <p:nvPr/>
        </p:nvSpPr>
        <p:spPr>
          <a:xfrm>
            <a:off x="8229600" y="3063240"/>
            <a:ext cx="914400" cy="457200"/>
          </a:xfrm>
          <a:prstGeom prst="rect">
            <a:avLst/>
          </a:prstGeom>
          <a:noFill/>
        </p:spPr>
        <p:txBody>
          <a:bodyPr wrap="square" lIns="18288" rIns="18288" tIns="18288" bIns="18288" anchor="t">
            <a:spAutoFit/>
          </a:bodyPr>
          <a:lstStyle/>
          <a:p>
            <a:pPr algn="ctr">
              <a:spcAft>
                <a:spcPts val="500"/>
              </a:spcAft>
              <a:defRPr sz="2200" b="1">
                <a:solidFill>
                  <a:srgbClr val="F28F2A"/>
                </a:solidFill>
                <a:latin typeface="Aptos"/>
              </a:defRPr>
            </a:pPr>
            <a:r>
              <a:t>03</a:t>
            </a:r>
          </a:p>
        </p:txBody>
      </p:sp>
      <p:sp>
        <p:nvSpPr>
          <p:cNvPr id="12" name="TextBox 11"/>
          <p:cNvSpPr txBox="1"/>
          <p:nvPr/>
        </p:nvSpPr>
        <p:spPr>
          <a:xfrm>
            <a:off x="9372600" y="4069080"/>
            <a:ext cx="914400" cy="457200"/>
          </a:xfrm>
          <a:prstGeom prst="rect">
            <a:avLst/>
          </a:prstGeom>
          <a:noFill/>
        </p:spPr>
        <p:txBody>
          <a:bodyPr wrap="square" lIns="18288" rIns="18288" tIns="18288" bIns="18288" anchor="t">
            <a:spAutoFit/>
          </a:bodyPr>
          <a:lstStyle/>
          <a:p>
            <a:pPr algn="ctr">
              <a:spcAft>
                <a:spcPts val="500"/>
              </a:spcAft>
              <a:defRPr sz="2200" b="1">
                <a:solidFill>
                  <a:srgbClr val="D54646"/>
                </a:solidFill>
                <a:latin typeface="Aptos"/>
              </a:defRPr>
            </a:pPr>
            <a:r>
              <a:t>04</a:t>
            </a:r>
          </a:p>
        </p:txBody>
      </p:sp>
      <p:cxnSp>
        <p:nvCxnSpPr>
          <p:cNvPr id="13" name="Connector 12"/>
          <p:cNvCxnSpPr/>
          <p:nvPr/>
        </p:nvCxnSpPr>
        <p:spPr>
          <a:xfrm>
            <a:off x="8732520" y="1536192"/>
            <a:ext cx="731520" cy="548639"/>
          </a:xfrm>
          <a:prstGeom prst="line">
            <a:avLst/>
          </a:prstGeom>
          <a:ln w="38100">
            <a:solidFill>
              <a:srgbClr val="21B8C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8641080" y="2514600"/>
            <a:ext cx="1097280" cy="548640"/>
          </a:xfrm>
          <a:prstGeom prst="line">
            <a:avLst/>
          </a:prstGeom>
          <a:ln w="38100">
            <a:solidFill>
              <a:srgbClr val="189B9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732520" y="3520440"/>
            <a:ext cx="777240" cy="548640"/>
          </a:xfrm>
          <a:prstGeom prst="line">
            <a:avLst/>
          </a:prstGeom>
          <a:ln w="38100">
            <a:solidFill>
              <a:srgbClr val="F28F2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452360" y="1508760"/>
            <a:ext cx="2286000" cy="320040"/>
          </a:xfrm>
          <a:prstGeom prst="rect">
            <a:avLst/>
          </a:prstGeom>
          <a:noFill/>
        </p:spPr>
        <p:txBody>
          <a:bodyPr wrap="square" lIns="18288" rIns="18288" tIns="18288" bIns="18288" anchor="t">
            <a:spAutoFit/>
          </a:bodyPr>
          <a:lstStyle/>
          <a:p>
            <a:pPr algn="l">
              <a:spcAft>
                <a:spcPts val="500"/>
              </a:spcAft>
              <a:defRPr sz="1100" b="1">
                <a:solidFill>
                  <a:srgbClr val="FFFFFF"/>
                </a:solidFill>
                <a:latin typeface="Aptos"/>
              </a:defRPr>
            </a:pPr>
            <a:r>
              <a:t>PROPOSE</a:t>
            </a:r>
          </a:p>
        </p:txBody>
      </p:sp>
      <p:sp>
        <p:nvSpPr>
          <p:cNvPr id="17" name="TextBox 16"/>
          <p:cNvSpPr txBox="1"/>
          <p:nvPr/>
        </p:nvSpPr>
        <p:spPr>
          <a:xfrm>
            <a:off x="8732520" y="2487168"/>
            <a:ext cx="2286000" cy="320040"/>
          </a:xfrm>
          <a:prstGeom prst="rect">
            <a:avLst/>
          </a:prstGeom>
          <a:noFill/>
        </p:spPr>
        <p:txBody>
          <a:bodyPr wrap="square" lIns="18288" rIns="18288" tIns="18288" bIns="18288" anchor="t">
            <a:spAutoFit/>
          </a:bodyPr>
          <a:lstStyle/>
          <a:p>
            <a:pPr algn="l">
              <a:spcAft>
                <a:spcPts val="500"/>
              </a:spcAft>
              <a:defRPr sz="1100" b="1">
                <a:solidFill>
                  <a:srgbClr val="FFFFFF"/>
                </a:solidFill>
                <a:latin typeface="Aptos"/>
              </a:defRPr>
            </a:pPr>
            <a:r>
              <a:t>DEVELOP</a:t>
            </a:r>
          </a:p>
        </p:txBody>
      </p:sp>
      <p:sp>
        <p:nvSpPr>
          <p:cNvPr id="18" name="TextBox 17"/>
          <p:cNvSpPr txBox="1"/>
          <p:nvPr/>
        </p:nvSpPr>
        <p:spPr>
          <a:xfrm>
            <a:off x="7452360" y="3493008"/>
            <a:ext cx="2286000" cy="320040"/>
          </a:xfrm>
          <a:prstGeom prst="rect">
            <a:avLst/>
          </a:prstGeom>
          <a:noFill/>
        </p:spPr>
        <p:txBody>
          <a:bodyPr wrap="square" lIns="18288" rIns="18288" tIns="18288" bIns="18288" anchor="t">
            <a:spAutoFit/>
          </a:bodyPr>
          <a:lstStyle/>
          <a:p>
            <a:pPr algn="l">
              <a:spcAft>
                <a:spcPts val="500"/>
              </a:spcAft>
              <a:defRPr sz="1100" b="1">
                <a:solidFill>
                  <a:srgbClr val="FFFFFF"/>
                </a:solidFill>
                <a:latin typeface="Aptos"/>
              </a:defRPr>
            </a:pPr>
            <a:r>
              <a:t>TEST</a:t>
            </a:r>
          </a:p>
        </p:txBody>
      </p:sp>
      <p:sp>
        <p:nvSpPr>
          <p:cNvPr id="19" name="TextBox 18"/>
          <p:cNvSpPr txBox="1"/>
          <p:nvPr/>
        </p:nvSpPr>
        <p:spPr>
          <a:xfrm>
            <a:off x="8732520" y="4498848"/>
            <a:ext cx="2286000" cy="320040"/>
          </a:xfrm>
          <a:prstGeom prst="rect">
            <a:avLst/>
          </a:prstGeom>
          <a:noFill/>
        </p:spPr>
        <p:txBody>
          <a:bodyPr wrap="square" lIns="18288" rIns="18288" tIns="18288" bIns="18288" anchor="t">
            <a:spAutoFit/>
          </a:bodyPr>
          <a:lstStyle/>
          <a:p>
            <a:pPr algn="l">
              <a:spcAft>
                <a:spcPts val="500"/>
              </a:spcAft>
              <a:defRPr sz="1100" b="1">
                <a:solidFill>
                  <a:srgbClr val="FFFFFF"/>
                </a:solidFill>
                <a:latin typeface="Aptos"/>
              </a:defRPr>
            </a:pPr>
            <a:r>
              <a:t>EXECUTE</a:t>
            </a:r>
          </a:p>
        </p:txBody>
      </p:sp>
      <p:sp>
        <p:nvSpPr>
          <p:cNvPr id="20" name="TextBox 19"/>
          <p:cNvSpPr txBox="1"/>
          <p:nvPr/>
        </p:nvSpPr>
        <p:spPr>
          <a:xfrm>
            <a:off x="8229600" y="6080760"/>
            <a:ext cx="3017520" cy="228600"/>
          </a:xfrm>
          <a:prstGeom prst="rect">
            <a:avLst/>
          </a:prstGeom>
          <a:noFill/>
        </p:spPr>
        <p:txBody>
          <a:bodyPr wrap="square" lIns="18288" rIns="18288" tIns="18288" bIns="18288" anchor="t">
            <a:spAutoFit/>
          </a:bodyPr>
          <a:lstStyle/>
          <a:p>
            <a:pPr algn="r">
              <a:spcAft>
                <a:spcPts val="500"/>
              </a:spcAft>
              <a:defRPr sz="800" b="1">
                <a:solidFill>
                  <a:srgbClr val="96AABE"/>
                </a:solidFill>
                <a:latin typeface="Aptos"/>
              </a:defRPr>
            </a:pPr>
            <a:r>
              <a:t>2026 • FYP Seminar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0C192D"/>
                </a:solidFill>
                <a:latin typeface="Aptos Display"/>
              </a:defRPr>
            </a:pPr>
            <a:r>
              <a:t>Final Year Project in Computer Engineering</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1A74BE"/>
                </a:solidFill>
                <a:latin typeface="Aptos"/>
              </a:defRPr>
            </a:pPr>
            <a:r>
              <a:t>01 • FYP FOUNDATION</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5C6A78"/>
                </a:solidFill>
                <a:latin typeface="Aptos"/>
              </a:defRPr>
            </a:pPr>
            <a:r>
              <a:t>02</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43000"/>
            <a:ext cx="10789920" cy="411480"/>
          </a:xfrm>
          <a:prstGeom prst="rect">
            <a:avLst/>
          </a:prstGeom>
          <a:noFill/>
        </p:spPr>
        <p:txBody>
          <a:bodyPr wrap="square" lIns="18288" rIns="18288" tIns="18288" bIns="18288" anchor="t">
            <a:spAutoFit/>
          </a:bodyPr>
          <a:lstStyle/>
          <a:p>
            <a:pPr algn="l">
              <a:spcAft>
                <a:spcPts val="500"/>
              </a:spcAft>
              <a:defRPr sz="1800" b="1">
                <a:solidFill>
                  <a:srgbClr val="0C192D"/>
                </a:solidFill>
                <a:latin typeface="Aptos"/>
              </a:defRPr>
            </a:pPr>
            <a:r>
              <a:t>A year-long project that evolves through three written phases.</a:t>
            </a:r>
          </a:p>
        </p:txBody>
      </p:sp>
      <p:sp>
        <p:nvSpPr>
          <p:cNvPr id="8" name="Rounded Rectangle 7"/>
          <p:cNvSpPr/>
          <p:nvPr/>
        </p:nvSpPr>
        <p:spPr>
          <a:xfrm>
            <a:off x="685800" y="1874519"/>
            <a:ext cx="3471672"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874519"/>
            <a:ext cx="64008" cy="1325880"/>
          </a:xfrm>
          <a:prstGeom prst="rect">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039112"/>
            <a:ext cx="3060192" cy="347472"/>
          </a:xfrm>
          <a:prstGeom prst="rect">
            <a:avLst/>
          </a:prstGeom>
          <a:noFill/>
        </p:spPr>
        <p:txBody>
          <a:bodyPr wrap="square" lIns="18288" rIns="18288" tIns="18288" bIns="18288" anchor="t">
            <a:spAutoFit/>
          </a:bodyPr>
          <a:lstStyle/>
          <a:p>
            <a:pPr algn="l">
              <a:spcAft>
                <a:spcPts val="500"/>
              </a:spcAft>
              <a:defRPr sz="1300" b="1">
                <a:solidFill>
                  <a:srgbClr val="0C192D"/>
                </a:solidFill>
                <a:latin typeface="Aptos"/>
              </a:defRPr>
            </a:pPr>
            <a:r>
              <a:t>THE PROPOSAL</a:t>
            </a:r>
          </a:p>
        </p:txBody>
      </p:sp>
      <p:sp>
        <p:nvSpPr>
          <p:cNvPr id="11" name="TextBox 10"/>
          <p:cNvSpPr txBox="1"/>
          <p:nvPr/>
        </p:nvSpPr>
        <p:spPr>
          <a:xfrm>
            <a:off x="914400" y="2441448"/>
            <a:ext cx="3060192" cy="612647"/>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Define the problem, scope, objectives &amp; plan.</a:t>
            </a:r>
          </a:p>
        </p:txBody>
      </p:sp>
      <p:sp>
        <p:nvSpPr>
          <p:cNvPr id="12" name="Chevron 11"/>
          <p:cNvSpPr/>
          <p:nvPr/>
        </p:nvSpPr>
        <p:spPr>
          <a:xfrm>
            <a:off x="4180332" y="2377439"/>
            <a:ext cx="118872" cy="320040"/>
          </a:xfrm>
          <a:prstGeom prst="chevron">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22064" y="1874519"/>
            <a:ext cx="3471672"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2064" y="1874519"/>
            <a:ext cx="64008" cy="1325880"/>
          </a:xfrm>
          <a:prstGeom prst="rect">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0664" y="2039112"/>
            <a:ext cx="3060192" cy="347472"/>
          </a:xfrm>
          <a:prstGeom prst="rect">
            <a:avLst/>
          </a:prstGeom>
          <a:noFill/>
        </p:spPr>
        <p:txBody>
          <a:bodyPr wrap="square" lIns="18288" rIns="18288" tIns="18288" bIns="18288" anchor="t">
            <a:spAutoFit/>
          </a:bodyPr>
          <a:lstStyle/>
          <a:p>
            <a:pPr algn="l">
              <a:spcAft>
                <a:spcPts val="500"/>
              </a:spcAft>
              <a:defRPr sz="1300" b="1">
                <a:solidFill>
                  <a:srgbClr val="0C192D"/>
                </a:solidFill>
                <a:latin typeface="Aptos"/>
              </a:defRPr>
            </a:pPr>
            <a:r>
              <a:t>THE PROGRESS REPORT</a:t>
            </a:r>
          </a:p>
        </p:txBody>
      </p:sp>
      <p:sp>
        <p:nvSpPr>
          <p:cNvPr id="16" name="TextBox 15"/>
          <p:cNvSpPr txBox="1"/>
          <p:nvPr/>
        </p:nvSpPr>
        <p:spPr>
          <a:xfrm>
            <a:off x="4550664" y="2441448"/>
            <a:ext cx="3060192" cy="612647"/>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Build on the proposal; document progress.</a:t>
            </a:r>
          </a:p>
        </p:txBody>
      </p:sp>
      <p:sp>
        <p:nvSpPr>
          <p:cNvPr id="17" name="Chevron 16"/>
          <p:cNvSpPr/>
          <p:nvPr/>
        </p:nvSpPr>
        <p:spPr>
          <a:xfrm>
            <a:off x="7816596" y="2377439"/>
            <a:ext cx="118872" cy="320040"/>
          </a:xfrm>
          <a:prstGeom prst="chevron">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958328" y="1874519"/>
            <a:ext cx="3471672"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58328" y="1874519"/>
            <a:ext cx="64008" cy="1325880"/>
          </a:xfrm>
          <a:prstGeom prst="rect">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86928" y="2039112"/>
            <a:ext cx="3060192" cy="347472"/>
          </a:xfrm>
          <a:prstGeom prst="rect">
            <a:avLst/>
          </a:prstGeom>
          <a:noFill/>
        </p:spPr>
        <p:txBody>
          <a:bodyPr wrap="square" lIns="18288" rIns="18288" tIns="18288" bIns="18288" anchor="t">
            <a:spAutoFit/>
          </a:bodyPr>
          <a:lstStyle/>
          <a:p>
            <a:pPr algn="l">
              <a:spcAft>
                <a:spcPts val="500"/>
              </a:spcAft>
              <a:defRPr sz="1300" b="1">
                <a:solidFill>
                  <a:srgbClr val="0C192D"/>
                </a:solidFill>
                <a:latin typeface="Aptos"/>
              </a:defRPr>
            </a:pPr>
            <a:r>
              <a:t>THE FINAL REPORT</a:t>
            </a:r>
          </a:p>
        </p:txBody>
      </p:sp>
      <p:sp>
        <p:nvSpPr>
          <p:cNvPr id="21" name="TextBox 20"/>
          <p:cNvSpPr txBox="1"/>
          <p:nvPr/>
        </p:nvSpPr>
        <p:spPr>
          <a:xfrm>
            <a:off x="8186928" y="2441448"/>
            <a:ext cx="3060192" cy="612647"/>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Consolidate implementation, results &amp; contribution.</a:t>
            </a:r>
          </a:p>
        </p:txBody>
      </p:sp>
      <p:sp>
        <p:nvSpPr>
          <p:cNvPr id="22" name="TextBox 21"/>
          <p:cNvSpPr txBox="1"/>
          <p:nvPr/>
        </p:nvSpPr>
        <p:spPr>
          <a:xfrm>
            <a:off x="713232" y="3657600"/>
            <a:ext cx="7955279" cy="320040"/>
          </a:xfrm>
          <a:prstGeom prst="rect">
            <a:avLst/>
          </a:prstGeom>
          <a:noFill/>
        </p:spPr>
        <p:txBody>
          <a:bodyPr wrap="square" lIns="18288" rIns="18288" tIns="18288" bIns="18288" anchor="t">
            <a:spAutoFit/>
          </a:bodyPr>
          <a:lstStyle/>
          <a:p>
            <a:pPr algn="l">
              <a:spcAft>
                <a:spcPts val="500"/>
              </a:spcAft>
              <a:defRPr sz="1600" b="1">
                <a:solidFill>
                  <a:srgbClr val="0C192D"/>
                </a:solidFill>
                <a:latin typeface="Aptos"/>
              </a:defRPr>
            </a:pPr>
            <a:r>
              <a:t>During this one year, 4 presentations are conducted by the department</a:t>
            </a:r>
          </a:p>
        </p:txBody>
      </p:sp>
      <p:sp>
        <p:nvSpPr>
          <p:cNvPr id="23" name="Oval 22"/>
          <p:cNvSpPr/>
          <p:nvPr/>
        </p:nvSpPr>
        <p:spPr>
          <a:xfrm>
            <a:off x="731520" y="4315968"/>
            <a:ext cx="566928" cy="566928"/>
          </a:xfrm>
          <a:prstGeom prst="ellipse">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4425696"/>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01</a:t>
            </a:r>
          </a:p>
        </p:txBody>
      </p:sp>
      <p:sp>
        <p:nvSpPr>
          <p:cNvPr id="25" name="TextBox 24"/>
          <p:cNvSpPr txBox="1"/>
          <p:nvPr/>
        </p:nvSpPr>
        <p:spPr>
          <a:xfrm>
            <a:off x="1444752" y="4370832"/>
            <a:ext cx="1828800" cy="548640"/>
          </a:xfrm>
          <a:prstGeom prst="rect">
            <a:avLst/>
          </a:prstGeom>
          <a:noFill/>
        </p:spPr>
        <p:txBody>
          <a:bodyPr wrap="square" lIns="18288" rIns="18288" tIns="18288" bIns="18288" anchor="t">
            <a:spAutoFit/>
          </a:bodyPr>
          <a:lstStyle/>
          <a:p>
            <a:pPr algn="l">
              <a:spcAft>
                <a:spcPts val="500"/>
              </a:spcAft>
              <a:defRPr sz="1100" b="1">
                <a:solidFill>
                  <a:srgbClr val="212B36"/>
                </a:solidFill>
                <a:latin typeface="Aptos"/>
              </a:defRPr>
            </a:pPr>
            <a:r>
              <a:t>Proposal Presentation</a:t>
            </a:r>
          </a:p>
        </p:txBody>
      </p:sp>
      <p:sp>
        <p:nvSpPr>
          <p:cNvPr id="26" name="Oval 25"/>
          <p:cNvSpPr/>
          <p:nvPr/>
        </p:nvSpPr>
        <p:spPr>
          <a:xfrm>
            <a:off x="3474720" y="4315968"/>
            <a:ext cx="566928" cy="566928"/>
          </a:xfrm>
          <a:prstGeom prst="ellipse">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74720" y="4425696"/>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02</a:t>
            </a:r>
          </a:p>
        </p:txBody>
      </p:sp>
      <p:sp>
        <p:nvSpPr>
          <p:cNvPr id="28" name="TextBox 27"/>
          <p:cNvSpPr txBox="1"/>
          <p:nvPr/>
        </p:nvSpPr>
        <p:spPr>
          <a:xfrm>
            <a:off x="4187952" y="4370832"/>
            <a:ext cx="1828800" cy="548640"/>
          </a:xfrm>
          <a:prstGeom prst="rect">
            <a:avLst/>
          </a:prstGeom>
          <a:noFill/>
        </p:spPr>
        <p:txBody>
          <a:bodyPr wrap="square" lIns="18288" rIns="18288" tIns="18288" bIns="18288" anchor="t">
            <a:spAutoFit/>
          </a:bodyPr>
          <a:lstStyle/>
          <a:p>
            <a:pPr algn="l">
              <a:spcAft>
                <a:spcPts val="500"/>
              </a:spcAft>
              <a:defRPr sz="1100" b="1">
                <a:solidFill>
                  <a:srgbClr val="212B36"/>
                </a:solidFill>
                <a:latin typeface="Aptos"/>
              </a:defRPr>
            </a:pPr>
            <a:r>
              <a:t>Progress Presentation FYP 1</a:t>
            </a:r>
          </a:p>
        </p:txBody>
      </p:sp>
      <p:sp>
        <p:nvSpPr>
          <p:cNvPr id="29" name="Oval 28"/>
          <p:cNvSpPr/>
          <p:nvPr/>
        </p:nvSpPr>
        <p:spPr>
          <a:xfrm>
            <a:off x="6217920" y="4315968"/>
            <a:ext cx="566928" cy="566928"/>
          </a:xfrm>
          <a:prstGeom prst="ellipse">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0" y="4425696"/>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03</a:t>
            </a:r>
          </a:p>
        </p:txBody>
      </p:sp>
      <p:sp>
        <p:nvSpPr>
          <p:cNvPr id="31" name="TextBox 30"/>
          <p:cNvSpPr txBox="1"/>
          <p:nvPr/>
        </p:nvSpPr>
        <p:spPr>
          <a:xfrm>
            <a:off x="6931152" y="4370832"/>
            <a:ext cx="1828800" cy="548640"/>
          </a:xfrm>
          <a:prstGeom prst="rect">
            <a:avLst/>
          </a:prstGeom>
          <a:noFill/>
        </p:spPr>
        <p:txBody>
          <a:bodyPr wrap="square" lIns="18288" rIns="18288" tIns="18288" bIns="18288" anchor="t">
            <a:spAutoFit/>
          </a:bodyPr>
          <a:lstStyle/>
          <a:p>
            <a:pPr algn="l">
              <a:spcAft>
                <a:spcPts val="500"/>
              </a:spcAft>
              <a:defRPr sz="1100" b="1">
                <a:solidFill>
                  <a:srgbClr val="212B36"/>
                </a:solidFill>
                <a:latin typeface="Aptos"/>
              </a:defRPr>
            </a:pPr>
            <a:r>
              <a:t>Final Internal Presentation</a:t>
            </a:r>
          </a:p>
        </p:txBody>
      </p:sp>
      <p:sp>
        <p:nvSpPr>
          <p:cNvPr id="32" name="Oval 31"/>
          <p:cNvSpPr/>
          <p:nvPr/>
        </p:nvSpPr>
        <p:spPr>
          <a:xfrm>
            <a:off x="8961120" y="4315968"/>
            <a:ext cx="566928" cy="566928"/>
          </a:xfrm>
          <a:prstGeom prst="ellipse">
            <a:avLst/>
          </a:prstGeom>
          <a:solidFill>
            <a:srgbClr val="D5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61120" y="4425696"/>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04</a:t>
            </a:r>
          </a:p>
        </p:txBody>
      </p:sp>
      <p:sp>
        <p:nvSpPr>
          <p:cNvPr id="34" name="TextBox 33"/>
          <p:cNvSpPr txBox="1"/>
          <p:nvPr/>
        </p:nvSpPr>
        <p:spPr>
          <a:xfrm>
            <a:off x="9674352" y="4370832"/>
            <a:ext cx="1828800" cy="548640"/>
          </a:xfrm>
          <a:prstGeom prst="rect">
            <a:avLst/>
          </a:prstGeom>
          <a:noFill/>
        </p:spPr>
        <p:txBody>
          <a:bodyPr wrap="square" lIns="18288" rIns="18288" tIns="18288" bIns="18288" anchor="t">
            <a:spAutoFit/>
          </a:bodyPr>
          <a:lstStyle/>
          <a:p>
            <a:pPr algn="l">
              <a:spcAft>
                <a:spcPts val="500"/>
              </a:spcAft>
              <a:defRPr sz="1100" b="1">
                <a:solidFill>
                  <a:srgbClr val="212B36"/>
                </a:solidFill>
                <a:latin typeface="Aptos"/>
              </a:defRPr>
            </a:pPr>
            <a:r>
              <a:t>External Visa</a:t>
            </a:r>
          </a:p>
        </p:txBody>
      </p:sp>
      <p:sp>
        <p:nvSpPr>
          <p:cNvPr id="35" name="Rounded Rectangle 34"/>
          <p:cNvSpPr/>
          <p:nvPr/>
        </p:nvSpPr>
        <p:spPr>
          <a:xfrm>
            <a:off x="731520" y="5532120"/>
            <a:ext cx="10561320" cy="685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1520" y="5532120"/>
            <a:ext cx="64008" cy="685800"/>
          </a:xfrm>
          <a:prstGeom prst="rect">
            <a:avLst/>
          </a:prstGeom>
          <a:solidFill>
            <a:srgbClr val="765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0120" y="5696712"/>
            <a:ext cx="10149840" cy="347472"/>
          </a:xfrm>
          <a:prstGeom prst="rect">
            <a:avLst/>
          </a:prstGeom>
          <a:noFill/>
        </p:spPr>
        <p:txBody>
          <a:bodyPr wrap="square" lIns="18288" rIns="18288" tIns="18288" bIns="18288" anchor="t">
            <a:spAutoFit/>
          </a:bodyPr>
          <a:lstStyle/>
          <a:p>
            <a:pPr algn="l">
              <a:spcAft>
                <a:spcPts val="500"/>
              </a:spcAft>
              <a:defRPr sz="1100" b="1">
                <a:solidFill>
                  <a:srgbClr val="0C192D"/>
                </a:solidFill>
                <a:latin typeface="Aptos"/>
              </a:defRPr>
            </a:pPr>
            <a:r>
              <a:t>Stakeholders</a:t>
            </a:r>
          </a:p>
        </p:txBody>
      </p:sp>
      <p:sp>
        <p:nvSpPr>
          <p:cNvPr id="38" name="TextBox 37"/>
          <p:cNvSpPr txBox="1"/>
          <p:nvPr/>
        </p:nvSpPr>
        <p:spPr>
          <a:xfrm>
            <a:off x="960120" y="6099048"/>
            <a:ext cx="10149840" cy="-27432"/>
          </a:xfrm>
          <a:prstGeom prst="rect">
            <a:avLst/>
          </a:prstGeom>
          <a:noFill/>
        </p:spPr>
        <p:txBody>
          <a:bodyPr wrap="square" lIns="18288" rIns="18288" tIns="18288" bIns="18288" anchor="t">
            <a:spAutoFit/>
          </a:bodyPr>
          <a:lstStyle/>
          <a:p>
            <a:pPr algn="l">
              <a:spcAft>
                <a:spcPts val="500"/>
              </a:spcAft>
              <a:defRPr sz="1000" b="0">
                <a:solidFill>
                  <a:srgbClr val="212B36"/>
                </a:solidFill>
                <a:latin typeface="Aptos"/>
              </a:defRPr>
            </a:pPr>
            <a:r>
              <a:t>Student  •  Supervisor/Co-supervisor  •  FYP Committee  •  External</a:t>
            </a:r>
          </a:p>
        </p:txBody>
      </p:sp>
      <p:sp>
        <p:nvSpPr>
          <p:cNvPr id="39" name="TextBox 38"/>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COMSATS University Islamabad • Department of Computer Engineering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0C192D"/>
                </a:solidFill>
                <a:latin typeface="Aptos Display"/>
              </a:defRPr>
            </a:pPr>
            <a:r>
              <a:t>FYP course at a glance</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1A74BE"/>
                </a:solidFill>
                <a:latin typeface="Aptos"/>
              </a:defRPr>
            </a:pPr>
            <a:r>
              <a:t>01 • FYP FOUNDATION</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5C6A78"/>
                </a:solidFill>
                <a:latin typeface="Aptos"/>
              </a:defRPr>
            </a:pPr>
            <a:r>
              <a:t>03</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43000"/>
            <a:ext cx="3154680"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143000"/>
            <a:ext cx="64008" cy="1965960"/>
          </a:xfrm>
          <a:prstGeom prst="rect">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307592"/>
            <a:ext cx="2743200"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Course snapshot</a:t>
            </a:r>
          </a:p>
        </p:txBody>
      </p:sp>
      <p:sp>
        <p:nvSpPr>
          <p:cNvPr id="10" name="TextBox 9"/>
          <p:cNvSpPr txBox="1"/>
          <p:nvPr/>
        </p:nvSpPr>
        <p:spPr>
          <a:xfrm>
            <a:off x="868680" y="1709928"/>
            <a:ext cx="2743200" cy="1252728"/>
          </a:xfrm>
          <a:prstGeom prst="rect">
            <a:avLst/>
          </a:prstGeom>
          <a:noFill/>
        </p:spPr>
        <p:txBody>
          <a:bodyPr wrap="square" lIns="18288" rIns="18288" tIns="18288" bIns="18288" anchor="t">
            <a:spAutoFit/>
          </a:bodyPr>
          <a:lstStyle/>
          <a:p>
            <a:pPr algn="l">
              <a:spcAft>
                <a:spcPts val="500"/>
              </a:spcAft>
              <a:defRPr sz="1100" b="0">
                <a:solidFill>
                  <a:srgbClr val="212B36"/>
                </a:solidFill>
                <a:latin typeface="Aptos"/>
              </a:defRPr>
            </a:pPr>
            <a:r>
              <a:t>Course Title</a:t>
            </a:r>
          </a:p>
          <a:p>
            <a:pPr algn="l">
              <a:spcAft>
                <a:spcPts val="500"/>
              </a:spcAft>
              <a:defRPr sz="1100" b="0">
                <a:solidFill>
                  <a:srgbClr val="212B36"/>
                </a:solidFill>
                <a:latin typeface="Aptos"/>
              </a:defRPr>
            </a:pPr>
            <a:r>
              <a:t>Final Year Project I, &amp; Final Year Project II</a:t>
            </a:r>
          </a:p>
          <a:p>
            <a:pPr algn="l">
              <a:spcAft>
                <a:spcPts val="500"/>
              </a:spcAft>
              <a:defRPr sz="1100" b="0">
                <a:solidFill>
                  <a:srgbClr val="212B36"/>
                </a:solidFill>
                <a:latin typeface="Aptos"/>
              </a:defRPr>
            </a:pPr>
          </a:p>
          <a:p>
            <a:pPr algn="l">
              <a:spcAft>
                <a:spcPts val="500"/>
              </a:spcAft>
              <a:defRPr sz="1100" b="0">
                <a:solidFill>
                  <a:srgbClr val="212B36"/>
                </a:solidFill>
                <a:latin typeface="Aptos"/>
              </a:defRPr>
            </a:pPr>
            <a:r>
              <a:t>Course Code: CPE 490</a:t>
            </a:r>
          </a:p>
          <a:p>
            <a:pPr algn="l">
              <a:spcAft>
                <a:spcPts val="500"/>
              </a:spcAft>
              <a:defRPr sz="1100" b="0">
                <a:solidFill>
                  <a:srgbClr val="212B36"/>
                </a:solidFill>
                <a:latin typeface="Aptos"/>
              </a:defRPr>
            </a:pPr>
            <a:r>
              <a:t>Credit Hours: 6  [FYP I (0,3), FYP II (0,3)]</a:t>
            </a:r>
          </a:p>
        </p:txBody>
      </p:sp>
      <p:sp>
        <p:nvSpPr>
          <p:cNvPr id="11" name="Rounded Rectangle 10"/>
          <p:cNvSpPr/>
          <p:nvPr/>
        </p:nvSpPr>
        <p:spPr>
          <a:xfrm>
            <a:off x="3977639" y="1143000"/>
            <a:ext cx="3154680"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77639" y="1143000"/>
            <a:ext cx="64008" cy="1965960"/>
          </a:xfrm>
          <a:prstGeom prst="rect">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06240" y="1307592"/>
            <a:ext cx="2743200"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Academic placement</a:t>
            </a:r>
          </a:p>
        </p:txBody>
      </p:sp>
      <p:sp>
        <p:nvSpPr>
          <p:cNvPr id="14" name="TextBox 13"/>
          <p:cNvSpPr txBox="1"/>
          <p:nvPr/>
        </p:nvSpPr>
        <p:spPr>
          <a:xfrm>
            <a:off x="4206240" y="1709928"/>
            <a:ext cx="2743200" cy="1252728"/>
          </a:xfrm>
          <a:prstGeom prst="rect">
            <a:avLst/>
          </a:prstGeom>
          <a:noFill/>
        </p:spPr>
        <p:txBody>
          <a:bodyPr wrap="square" lIns="18288" rIns="18288" tIns="18288" bIns="18288" anchor="t">
            <a:spAutoFit/>
          </a:bodyPr>
          <a:lstStyle/>
          <a:p>
            <a:pPr algn="l">
              <a:spcAft>
                <a:spcPts val="500"/>
              </a:spcAft>
              <a:defRPr sz="1100" b="0">
                <a:solidFill>
                  <a:srgbClr val="212B36"/>
                </a:solidFill>
                <a:latin typeface="Aptos"/>
              </a:defRPr>
            </a:pPr>
            <a:r>
              <a:t>Semester</a:t>
            </a:r>
          </a:p>
          <a:p>
            <a:pPr algn="l">
              <a:spcAft>
                <a:spcPts val="500"/>
              </a:spcAft>
              <a:defRPr sz="1100" b="0">
                <a:solidFill>
                  <a:srgbClr val="212B36"/>
                </a:solidFill>
                <a:latin typeface="Aptos"/>
              </a:defRPr>
            </a:pPr>
            <a:r>
              <a:t>7th &amp; 8th</a:t>
            </a:r>
          </a:p>
          <a:p>
            <a:pPr algn="l">
              <a:spcAft>
                <a:spcPts val="500"/>
              </a:spcAft>
              <a:defRPr sz="1100" b="0">
                <a:solidFill>
                  <a:srgbClr val="212B36"/>
                </a:solidFill>
                <a:latin typeface="Aptos"/>
              </a:defRPr>
            </a:pPr>
          </a:p>
          <a:p>
            <a:pPr algn="l">
              <a:spcAft>
                <a:spcPts val="500"/>
              </a:spcAft>
              <a:defRPr sz="1100" b="0">
                <a:solidFill>
                  <a:srgbClr val="212B36"/>
                </a:solidFill>
                <a:latin typeface="Aptos"/>
              </a:defRPr>
            </a:pPr>
            <a:r>
              <a:t>Resource Person</a:t>
            </a:r>
          </a:p>
          <a:p>
            <a:pPr algn="l">
              <a:spcAft>
                <a:spcPts val="500"/>
              </a:spcAft>
              <a:defRPr sz="1100" b="0">
                <a:solidFill>
                  <a:srgbClr val="212B36"/>
                </a:solidFill>
                <a:latin typeface="Aptos"/>
              </a:defRPr>
            </a:pPr>
            <a:r>
              <a:t>Supervisors/Co-Supervisors from ECE Faculty</a:t>
            </a:r>
          </a:p>
        </p:txBody>
      </p:sp>
      <p:sp>
        <p:nvSpPr>
          <p:cNvPr id="15" name="Rounded Rectangle 14"/>
          <p:cNvSpPr/>
          <p:nvPr/>
        </p:nvSpPr>
        <p:spPr>
          <a:xfrm>
            <a:off x="7315200" y="1143000"/>
            <a:ext cx="4160520" cy="1965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0" y="1143000"/>
            <a:ext cx="64008" cy="1965960"/>
          </a:xfrm>
          <a:prstGeom prst="rect">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43800" y="1307592"/>
            <a:ext cx="3749039"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What the FYP connects</a:t>
            </a:r>
          </a:p>
        </p:txBody>
      </p:sp>
      <p:sp>
        <p:nvSpPr>
          <p:cNvPr id="18" name="TextBox 17"/>
          <p:cNvSpPr txBox="1"/>
          <p:nvPr/>
        </p:nvSpPr>
        <p:spPr>
          <a:xfrm>
            <a:off x="7543800" y="1709928"/>
            <a:ext cx="3749039" cy="1252728"/>
          </a:xfrm>
          <a:prstGeom prst="rect">
            <a:avLst/>
          </a:prstGeom>
          <a:noFill/>
        </p:spPr>
        <p:txBody>
          <a:bodyPr wrap="square" lIns="18288" rIns="18288" tIns="18288" bIns="18288" anchor="t">
            <a:spAutoFit/>
          </a:bodyPr>
          <a:lstStyle/>
          <a:p>
            <a:pPr algn="l">
              <a:spcAft>
                <a:spcPts val="500"/>
              </a:spcAft>
              <a:defRPr sz="1200" b="0">
                <a:solidFill>
                  <a:srgbClr val="212B36"/>
                </a:solidFill>
                <a:latin typeface="Aptos"/>
              </a:defRPr>
            </a:pPr>
            <a:r>
              <a:t>Course knowledge → engineering problem → technical solution → communication → sustainable impact</a:t>
            </a:r>
          </a:p>
        </p:txBody>
      </p:sp>
      <p:sp>
        <p:nvSpPr>
          <p:cNvPr id="19" name="TextBox 18"/>
          <p:cNvSpPr txBox="1"/>
          <p:nvPr/>
        </p:nvSpPr>
        <p:spPr>
          <a:xfrm>
            <a:off x="658368" y="3456432"/>
            <a:ext cx="2743200" cy="365760"/>
          </a:xfrm>
          <a:prstGeom prst="rect">
            <a:avLst/>
          </a:prstGeom>
          <a:noFill/>
        </p:spPr>
        <p:txBody>
          <a:bodyPr wrap="square" lIns="18288" rIns="18288" tIns="18288" bIns="18288" anchor="t">
            <a:spAutoFit/>
          </a:bodyPr>
          <a:lstStyle/>
          <a:p>
            <a:pPr algn="l">
              <a:spcAft>
                <a:spcPts val="500"/>
              </a:spcAft>
              <a:defRPr sz="2300" b="1">
                <a:solidFill>
                  <a:srgbClr val="0C192D"/>
                </a:solidFill>
                <a:latin typeface="Aptos"/>
              </a:defRPr>
            </a:pPr>
            <a:r>
              <a:t>Objectives</a:t>
            </a:r>
          </a:p>
        </p:txBody>
      </p:sp>
      <p:sp>
        <p:nvSpPr>
          <p:cNvPr id="20" name="Rounded Rectangle 19"/>
          <p:cNvSpPr/>
          <p:nvPr/>
        </p:nvSpPr>
        <p:spPr>
          <a:xfrm>
            <a:off x="685800" y="3977639"/>
            <a:ext cx="521208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5800" y="3977639"/>
            <a:ext cx="64008" cy="914400"/>
          </a:xfrm>
          <a:prstGeom prst="rect">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142231"/>
            <a:ext cx="4800600" cy="347472"/>
          </a:xfrm>
          <a:prstGeom prst="rect">
            <a:avLst/>
          </a:prstGeom>
          <a:noFill/>
        </p:spPr>
        <p:txBody>
          <a:bodyPr wrap="square" lIns="18288" rIns="18288" tIns="18288" bIns="18288" anchor="t">
            <a:spAutoFit/>
          </a:bodyPr>
          <a:lstStyle/>
          <a:p>
            <a:pPr algn="l">
              <a:spcAft>
                <a:spcPts val="500"/>
              </a:spcAft>
              <a:defRPr sz="1050" b="1">
                <a:solidFill>
                  <a:srgbClr val="0C192D"/>
                </a:solidFill>
                <a:latin typeface="Aptos"/>
              </a:defRPr>
            </a:pPr>
            <a:r>
              <a:t>01</a:t>
            </a:r>
          </a:p>
        </p:txBody>
      </p:sp>
      <p:sp>
        <p:nvSpPr>
          <p:cNvPr id="23" name="TextBox 22"/>
          <p:cNvSpPr txBox="1"/>
          <p:nvPr/>
        </p:nvSpPr>
        <p:spPr>
          <a:xfrm>
            <a:off x="914400" y="4544568"/>
            <a:ext cx="4800600" cy="201167"/>
          </a:xfrm>
          <a:prstGeom prst="rect">
            <a:avLst/>
          </a:prstGeom>
          <a:noFill/>
        </p:spPr>
        <p:txBody>
          <a:bodyPr wrap="square" lIns="18288" rIns="18288" tIns="18288" bIns="18288" anchor="t">
            <a:spAutoFit/>
          </a:bodyPr>
          <a:lstStyle/>
          <a:p>
            <a:pPr algn="l">
              <a:spcAft>
                <a:spcPts val="500"/>
              </a:spcAft>
              <a:defRPr sz="950" b="0">
                <a:solidFill>
                  <a:srgbClr val="212B36"/>
                </a:solidFill>
                <a:latin typeface="Aptos"/>
              </a:defRPr>
            </a:pPr>
            <a:r>
              <a:t>To enable the student to integrate and apply the knowledge and skills acquired in various courses.</a:t>
            </a:r>
          </a:p>
        </p:txBody>
      </p:sp>
      <p:sp>
        <p:nvSpPr>
          <p:cNvPr id="24" name="Rounded Rectangle 23"/>
          <p:cNvSpPr/>
          <p:nvPr/>
        </p:nvSpPr>
        <p:spPr>
          <a:xfrm>
            <a:off x="6217920" y="3977639"/>
            <a:ext cx="521208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3977639"/>
            <a:ext cx="64008" cy="914400"/>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4142231"/>
            <a:ext cx="4800600" cy="347472"/>
          </a:xfrm>
          <a:prstGeom prst="rect">
            <a:avLst/>
          </a:prstGeom>
          <a:noFill/>
        </p:spPr>
        <p:txBody>
          <a:bodyPr wrap="square" lIns="18288" rIns="18288" tIns="18288" bIns="18288" anchor="t">
            <a:spAutoFit/>
          </a:bodyPr>
          <a:lstStyle/>
          <a:p>
            <a:pPr algn="l">
              <a:spcAft>
                <a:spcPts val="500"/>
              </a:spcAft>
              <a:defRPr sz="1050" b="1">
                <a:solidFill>
                  <a:srgbClr val="0C192D"/>
                </a:solidFill>
                <a:latin typeface="Aptos"/>
              </a:defRPr>
            </a:pPr>
            <a:r>
              <a:t>02</a:t>
            </a:r>
          </a:p>
        </p:txBody>
      </p:sp>
      <p:sp>
        <p:nvSpPr>
          <p:cNvPr id="27" name="TextBox 26"/>
          <p:cNvSpPr txBox="1"/>
          <p:nvPr/>
        </p:nvSpPr>
        <p:spPr>
          <a:xfrm>
            <a:off x="6446520" y="4544568"/>
            <a:ext cx="4800600" cy="201167"/>
          </a:xfrm>
          <a:prstGeom prst="rect">
            <a:avLst/>
          </a:prstGeom>
          <a:noFill/>
        </p:spPr>
        <p:txBody>
          <a:bodyPr wrap="square" lIns="18288" rIns="18288" tIns="18288" bIns="18288" anchor="t">
            <a:spAutoFit/>
          </a:bodyPr>
          <a:lstStyle/>
          <a:p>
            <a:pPr algn="l">
              <a:spcAft>
                <a:spcPts val="500"/>
              </a:spcAft>
              <a:defRPr sz="950" b="0">
                <a:solidFill>
                  <a:srgbClr val="212B36"/>
                </a:solidFill>
                <a:latin typeface="Aptos"/>
              </a:defRPr>
            </a:pPr>
            <a:r>
              <a:t>Student should be able to independently acquire requisite knowledge to propose a technical solution to a complex engineering problem in a timely and ethical manner.</a:t>
            </a:r>
          </a:p>
        </p:txBody>
      </p:sp>
      <p:sp>
        <p:nvSpPr>
          <p:cNvPr id="28" name="Rounded Rectangle 27"/>
          <p:cNvSpPr/>
          <p:nvPr/>
        </p:nvSpPr>
        <p:spPr>
          <a:xfrm>
            <a:off x="685800" y="5093207"/>
            <a:ext cx="521208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 y="5093207"/>
            <a:ext cx="64008" cy="914400"/>
          </a:xfrm>
          <a:prstGeom prst="rect">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257799"/>
            <a:ext cx="4800600" cy="347472"/>
          </a:xfrm>
          <a:prstGeom prst="rect">
            <a:avLst/>
          </a:prstGeom>
          <a:noFill/>
        </p:spPr>
        <p:txBody>
          <a:bodyPr wrap="square" lIns="18288" rIns="18288" tIns="18288" bIns="18288" anchor="t">
            <a:spAutoFit/>
          </a:bodyPr>
          <a:lstStyle/>
          <a:p>
            <a:pPr algn="l">
              <a:spcAft>
                <a:spcPts val="500"/>
              </a:spcAft>
              <a:defRPr sz="1050" b="1">
                <a:solidFill>
                  <a:srgbClr val="0C192D"/>
                </a:solidFill>
                <a:latin typeface="Aptos"/>
              </a:defRPr>
            </a:pPr>
            <a:r>
              <a:t>03</a:t>
            </a:r>
          </a:p>
        </p:txBody>
      </p:sp>
      <p:sp>
        <p:nvSpPr>
          <p:cNvPr id="31" name="TextBox 30"/>
          <p:cNvSpPr txBox="1"/>
          <p:nvPr/>
        </p:nvSpPr>
        <p:spPr>
          <a:xfrm>
            <a:off x="914400" y="5660136"/>
            <a:ext cx="4800600" cy="201167"/>
          </a:xfrm>
          <a:prstGeom prst="rect">
            <a:avLst/>
          </a:prstGeom>
          <a:noFill/>
        </p:spPr>
        <p:txBody>
          <a:bodyPr wrap="square" lIns="18288" rIns="18288" tIns="18288" bIns="18288" anchor="t">
            <a:spAutoFit/>
          </a:bodyPr>
          <a:lstStyle/>
          <a:p>
            <a:pPr algn="l">
              <a:spcAft>
                <a:spcPts val="500"/>
              </a:spcAft>
              <a:defRPr sz="950" b="0">
                <a:solidFill>
                  <a:srgbClr val="212B36"/>
                </a:solidFill>
                <a:latin typeface="Aptos"/>
              </a:defRPr>
            </a:pPr>
            <a:r>
              <a:t>Student should be able to work independently or in a team and be able to communicate and justify the proposed solution effectively.</a:t>
            </a:r>
          </a:p>
        </p:txBody>
      </p:sp>
      <p:sp>
        <p:nvSpPr>
          <p:cNvPr id="32" name="Rounded Rectangle 31"/>
          <p:cNvSpPr/>
          <p:nvPr/>
        </p:nvSpPr>
        <p:spPr>
          <a:xfrm>
            <a:off x="6217920" y="5093207"/>
            <a:ext cx="521208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17920" y="5093207"/>
            <a:ext cx="64008" cy="914400"/>
          </a:xfrm>
          <a:prstGeom prst="rect">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5257799"/>
            <a:ext cx="4800600" cy="347472"/>
          </a:xfrm>
          <a:prstGeom prst="rect">
            <a:avLst/>
          </a:prstGeom>
          <a:noFill/>
        </p:spPr>
        <p:txBody>
          <a:bodyPr wrap="square" lIns="18288" rIns="18288" tIns="18288" bIns="18288" anchor="t">
            <a:spAutoFit/>
          </a:bodyPr>
          <a:lstStyle/>
          <a:p>
            <a:pPr algn="l">
              <a:spcAft>
                <a:spcPts val="500"/>
              </a:spcAft>
              <a:defRPr sz="1050" b="1">
                <a:solidFill>
                  <a:srgbClr val="0C192D"/>
                </a:solidFill>
                <a:latin typeface="Aptos"/>
              </a:defRPr>
            </a:pPr>
            <a:r>
              <a:t>04</a:t>
            </a:r>
          </a:p>
        </p:txBody>
      </p:sp>
      <p:sp>
        <p:nvSpPr>
          <p:cNvPr id="35" name="TextBox 34"/>
          <p:cNvSpPr txBox="1"/>
          <p:nvPr/>
        </p:nvSpPr>
        <p:spPr>
          <a:xfrm>
            <a:off x="6446520" y="5660136"/>
            <a:ext cx="4800600" cy="201167"/>
          </a:xfrm>
          <a:prstGeom prst="rect">
            <a:avLst/>
          </a:prstGeom>
          <a:noFill/>
        </p:spPr>
        <p:txBody>
          <a:bodyPr wrap="square" lIns="18288" rIns="18288" tIns="18288" bIns="18288" anchor="t">
            <a:spAutoFit/>
          </a:bodyPr>
          <a:lstStyle/>
          <a:p>
            <a:pPr algn="l">
              <a:spcAft>
                <a:spcPts val="500"/>
              </a:spcAft>
              <a:defRPr sz="950" b="0">
                <a:solidFill>
                  <a:srgbClr val="212B36"/>
                </a:solidFill>
                <a:latin typeface="Aptos"/>
              </a:defRPr>
            </a:pPr>
            <a:r>
              <a:t>Student should be able to demonstrate a broad understanding of the UN SDG global challenges. In addition, the technical solution presented and accomplished in FYP should be mapped to the relevant UN sustainable development goals (SDG) 2015 where applicable.</a:t>
            </a:r>
          </a:p>
        </p:txBody>
      </p:sp>
      <p:sp>
        <p:nvSpPr>
          <p:cNvPr id="36" name="TextBox 35"/>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COMSATS University Islamabad • Department of Computer Engineering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0C192D"/>
                </a:solidFill>
                <a:latin typeface="Aptos Display"/>
              </a:defRPr>
            </a:pPr>
            <a:r>
              <a:t>Eligibility criteria</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1A74BE"/>
                </a:solidFill>
                <a:latin typeface="Aptos"/>
              </a:defRPr>
            </a:pPr>
            <a:r>
              <a:t>01 • FYP FOUNDATION</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5C6A78"/>
                </a:solidFill>
                <a:latin typeface="Aptos"/>
              </a:defRPr>
            </a:pPr>
            <a:r>
              <a:t>04</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234440"/>
            <a:ext cx="4572000" cy="365760"/>
          </a:xfrm>
          <a:prstGeom prst="rect">
            <a:avLst/>
          </a:prstGeom>
          <a:noFill/>
        </p:spPr>
        <p:txBody>
          <a:bodyPr wrap="square" lIns="18288" rIns="18288" tIns="18288" bIns="18288" anchor="t">
            <a:spAutoFit/>
          </a:bodyPr>
          <a:lstStyle/>
          <a:p>
            <a:pPr algn="l">
              <a:spcAft>
                <a:spcPts val="500"/>
              </a:spcAft>
              <a:defRPr sz="2300" b="1">
                <a:solidFill>
                  <a:srgbClr val="0C192D"/>
                </a:solidFill>
                <a:latin typeface="Aptos"/>
              </a:defRPr>
            </a:pPr>
            <a:r>
              <a:t>When can students start?</a:t>
            </a:r>
          </a:p>
        </p:txBody>
      </p:sp>
      <p:sp>
        <p:nvSpPr>
          <p:cNvPr id="8" name="Rounded Rectangle 7"/>
          <p:cNvSpPr/>
          <p:nvPr/>
        </p:nvSpPr>
        <p:spPr>
          <a:xfrm>
            <a:off x="731520" y="1874519"/>
            <a:ext cx="5074920" cy="187451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874519"/>
            <a:ext cx="64008" cy="1874519"/>
          </a:xfrm>
          <a:prstGeom prst="rect">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039112"/>
            <a:ext cx="4663440" cy="347472"/>
          </a:xfrm>
          <a:prstGeom prst="rect">
            <a:avLst/>
          </a:prstGeom>
          <a:noFill/>
        </p:spPr>
        <p:txBody>
          <a:bodyPr wrap="square" lIns="18288" rIns="18288" tIns="18288" bIns="18288" anchor="t">
            <a:spAutoFit/>
          </a:bodyPr>
          <a:lstStyle/>
          <a:p>
            <a:pPr algn="l">
              <a:spcAft>
                <a:spcPts val="500"/>
              </a:spcAft>
              <a:defRPr sz="1500" b="1">
                <a:solidFill>
                  <a:srgbClr val="0C192D"/>
                </a:solidFill>
                <a:latin typeface="Aptos"/>
              </a:defRPr>
            </a:pPr>
            <a:r>
              <a:t>Minimum academic requirement</a:t>
            </a:r>
          </a:p>
        </p:txBody>
      </p:sp>
      <p:sp>
        <p:nvSpPr>
          <p:cNvPr id="11" name="TextBox 10"/>
          <p:cNvSpPr txBox="1"/>
          <p:nvPr/>
        </p:nvSpPr>
        <p:spPr>
          <a:xfrm>
            <a:off x="960120" y="2441448"/>
            <a:ext cx="4663440" cy="1161287"/>
          </a:xfrm>
          <a:prstGeom prst="rect">
            <a:avLst/>
          </a:prstGeom>
          <a:noFill/>
        </p:spPr>
        <p:txBody>
          <a:bodyPr wrap="square" lIns="18288" rIns="18288" tIns="18288" bIns="18288" anchor="t">
            <a:spAutoFit/>
          </a:bodyPr>
          <a:lstStyle/>
          <a:p>
            <a:pPr algn="l">
              <a:spcAft>
                <a:spcPts val="500"/>
              </a:spcAft>
              <a:defRPr sz="1200" b="0">
                <a:solidFill>
                  <a:srgbClr val="212B36"/>
                </a:solidFill>
                <a:latin typeface="Aptos"/>
              </a:defRPr>
            </a:pPr>
            <a:r>
              <a:t>As per CUI policy, the students are eligible to register FYP Part-I at the start of their 7th semester provided they have completed a minimum 80 credit hours.</a:t>
            </a:r>
          </a:p>
        </p:txBody>
      </p:sp>
      <p:sp>
        <p:nvSpPr>
          <p:cNvPr id="12" name="Rounded Rectangle 11"/>
          <p:cNvSpPr/>
          <p:nvPr/>
        </p:nvSpPr>
        <p:spPr>
          <a:xfrm>
            <a:off x="6126480" y="1874519"/>
            <a:ext cx="5303520" cy="187451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1874519"/>
            <a:ext cx="64008" cy="1874519"/>
          </a:xfrm>
          <a:prstGeom prst="rect">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2039112"/>
            <a:ext cx="4892040" cy="347472"/>
          </a:xfrm>
          <a:prstGeom prst="rect">
            <a:avLst/>
          </a:prstGeom>
          <a:noFill/>
        </p:spPr>
        <p:txBody>
          <a:bodyPr wrap="square" lIns="18288" rIns="18288" tIns="18288" bIns="18288" anchor="t">
            <a:spAutoFit/>
          </a:bodyPr>
          <a:lstStyle/>
          <a:p>
            <a:pPr algn="l">
              <a:spcAft>
                <a:spcPts val="500"/>
              </a:spcAft>
              <a:defRPr sz="1500" b="1">
                <a:solidFill>
                  <a:srgbClr val="0C192D"/>
                </a:solidFill>
                <a:latin typeface="Aptos"/>
              </a:defRPr>
            </a:pPr>
            <a:r>
              <a:t>Why departments start earlier</a:t>
            </a:r>
          </a:p>
        </p:txBody>
      </p:sp>
      <p:sp>
        <p:nvSpPr>
          <p:cNvPr id="15" name="TextBox 14"/>
          <p:cNvSpPr txBox="1"/>
          <p:nvPr/>
        </p:nvSpPr>
        <p:spPr>
          <a:xfrm>
            <a:off x="6355080" y="2441448"/>
            <a:ext cx="4892040" cy="1161287"/>
          </a:xfrm>
          <a:prstGeom prst="rect">
            <a:avLst/>
          </a:prstGeom>
          <a:noFill/>
        </p:spPr>
        <p:txBody>
          <a:bodyPr wrap="square" lIns="18288" rIns="18288" tIns="18288" bIns="18288" anchor="t">
            <a:spAutoFit/>
          </a:bodyPr>
          <a:lstStyle/>
          <a:p>
            <a:pPr algn="l">
              <a:spcAft>
                <a:spcPts val="500"/>
              </a:spcAft>
              <a:defRPr sz="1150" b="0">
                <a:solidFill>
                  <a:srgbClr val="212B36"/>
                </a:solidFill>
                <a:latin typeface="Aptos"/>
              </a:defRPr>
            </a:pPr>
            <a:r>
              <a:t>As the right selection of project and finding the supervisor has always been an important step and is time taking, therefore the departments within the Faculty of Engineering (FoE) offers FYP at the beginning of the 6th semester to ensure that students can effectively work on their FYP right after the commencement of the 7th semester.</a:t>
            </a:r>
          </a:p>
        </p:txBody>
      </p:sp>
      <p:sp>
        <p:nvSpPr>
          <p:cNvPr id="16" name="TextBox 15"/>
          <p:cNvSpPr txBox="1"/>
          <p:nvPr/>
        </p:nvSpPr>
        <p:spPr>
          <a:xfrm>
            <a:off x="914400" y="4389120"/>
            <a:ext cx="1828800" cy="274320"/>
          </a:xfrm>
          <a:prstGeom prst="rect">
            <a:avLst/>
          </a:prstGeom>
          <a:noFill/>
        </p:spPr>
        <p:txBody>
          <a:bodyPr wrap="square" lIns="18288" rIns="18288" tIns="18288" bIns="18288" anchor="t">
            <a:spAutoFit/>
          </a:bodyPr>
          <a:lstStyle/>
          <a:p>
            <a:pPr algn="ctr">
              <a:spcAft>
                <a:spcPts val="500"/>
              </a:spcAft>
              <a:defRPr sz="1100" b="1">
                <a:solidFill>
                  <a:srgbClr val="1A74BE"/>
                </a:solidFill>
                <a:latin typeface="Aptos"/>
              </a:defRPr>
            </a:pPr>
            <a:r>
              <a:t>6th semester</a:t>
            </a:r>
          </a:p>
        </p:txBody>
      </p:sp>
      <p:sp>
        <p:nvSpPr>
          <p:cNvPr id="17" name="TextBox 16"/>
          <p:cNvSpPr txBox="1"/>
          <p:nvPr/>
        </p:nvSpPr>
        <p:spPr>
          <a:xfrm>
            <a:off x="5029200" y="4389120"/>
            <a:ext cx="1828800" cy="274320"/>
          </a:xfrm>
          <a:prstGeom prst="rect">
            <a:avLst/>
          </a:prstGeom>
          <a:noFill/>
        </p:spPr>
        <p:txBody>
          <a:bodyPr wrap="square" lIns="18288" rIns="18288" tIns="18288" bIns="18288" anchor="t">
            <a:spAutoFit/>
          </a:bodyPr>
          <a:lstStyle/>
          <a:p>
            <a:pPr algn="ctr">
              <a:spcAft>
                <a:spcPts val="500"/>
              </a:spcAft>
              <a:defRPr sz="1100" b="1">
                <a:solidFill>
                  <a:srgbClr val="189B91"/>
                </a:solidFill>
                <a:latin typeface="Aptos"/>
              </a:defRPr>
            </a:pPr>
            <a:r>
              <a:t>7th semester</a:t>
            </a:r>
          </a:p>
        </p:txBody>
      </p:sp>
      <p:sp>
        <p:nvSpPr>
          <p:cNvPr id="18" name="TextBox 17"/>
          <p:cNvSpPr txBox="1"/>
          <p:nvPr/>
        </p:nvSpPr>
        <p:spPr>
          <a:xfrm>
            <a:off x="9144000" y="4389120"/>
            <a:ext cx="1828800" cy="274320"/>
          </a:xfrm>
          <a:prstGeom prst="rect">
            <a:avLst/>
          </a:prstGeom>
          <a:noFill/>
        </p:spPr>
        <p:txBody>
          <a:bodyPr wrap="square" lIns="18288" rIns="18288" tIns="18288" bIns="18288" anchor="t">
            <a:spAutoFit/>
          </a:bodyPr>
          <a:lstStyle/>
          <a:p>
            <a:pPr algn="ctr">
              <a:spcAft>
                <a:spcPts val="500"/>
              </a:spcAft>
              <a:defRPr sz="1100" b="1">
                <a:solidFill>
                  <a:srgbClr val="F28F2A"/>
                </a:solidFill>
                <a:latin typeface="Aptos"/>
              </a:defRPr>
            </a:pPr>
            <a:r>
              <a:t>8th semester</a:t>
            </a:r>
          </a:p>
        </p:txBody>
      </p:sp>
      <p:cxnSp>
        <p:nvCxnSpPr>
          <p:cNvPr id="19" name="Connector 18"/>
          <p:cNvCxnSpPr/>
          <p:nvPr/>
        </p:nvCxnSpPr>
        <p:spPr>
          <a:xfrm>
            <a:off x="1097280" y="4983480"/>
            <a:ext cx="9875520" cy="0"/>
          </a:xfrm>
          <a:prstGeom prst="line">
            <a:avLst/>
          </a:prstGeom>
          <a:ln w="50800">
            <a:solidFill>
              <a:srgbClr val="E2E8F0"/>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1097280" y="4709160"/>
            <a:ext cx="548640" cy="548640"/>
          </a:xfrm>
          <a:prstGeom prst="ellipse">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212080" y="4709160"/>
            <a:ext cx="548640" cy="548640"/>
          </a:xfrm>
          <a:prstGeom prst="ellipse">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326880" y="4709160"/>
            <a:ext cx="548640" cy="548640"/>
          </a:xfrm>
          <a:prstGeom prst="ellipse">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440680"/>
            <a:ext cx="2926080" cy="457200"/>
          </a:xfrm>
          <a:prstGeom prst="rect">
            <a:avLst/>
          </a:prstGeom>
          <a:noFill/>
        </p:spPr>
        <p:txBody>
          <a:bodyPr wrap="square" lIns="18288" rIns="18288" tIns="18288" bIns="18288" anchor="t">
            <a:spAutoFit/>
          </a:bodyPr>
          <a:lstStyle/>
          <a:p>
            <a:pPr algn="ctr">
              <a:spcAft>
                <a:spcPts val="500"/>
              </a:spcAft>
              <a:defRPr sz="1100" b="1">
                <a:solidFill>
                  <a:srgbClr val="212B36"/>
                </a:solidFill>
                <a:latin typeface="Aptos"/>
              </a:defRPr>
            </a:pPr>
            <a:r>
              <a:t>Project + supervisor selection</a:t>
            </a:r>
          </a:p>
        </p:txBody>
      </p:sp>
      <p:sp>
        <p:nvSpPr>
          <p:cNvPr id="24" name="TextBox 23"/>
          <p:cNvSpPr txBox="1"/>
          <p:nvPr/>
        </p:nvSpPr>
        <p:spPr>
          <a:xfrm>
            <a:off x="4572000" y="5440680"/>
            <a:ext cx="2286000" cy="457200"/>
          </a:xfrm>
          <a:prstGeom prst="rect">
            <a:avLst/>
          </a:prstGeom>
          <a:noFill/>
        </p:spPr>
        <p:txBody>
          <a:bodyPr wrap="square" lIns="18288" rIns="18288" tIns="18288" bIns="18288" anchor="t">
            <a:spAutoFit/>
          </a:bodyPr>
          <a:lstStyle/>
          <a:p>
            <a:pPr algn="ctr">
              <a:spcAft>
                <a:spcPts val="500"/>
              </a:spcAft>
              <a:defRPr sz="1100" b="1">
                <a:solidFill>
                  <a:srgbClr val="212B36"/>
                </a:solidFill>
                <a:latin typeface="Aptos"/>
              </a:defRPr>
            </a:pPr>
            <a:r>
              <a:t>FYP-I</a:t>
            </a:r>
          </a:p>
        </p:txBody>
      </p:sp>
      <p:sp>
        <p:nvSpPr>
          <p:cNvPr id="25" name="TextBox 24"/>
          <p:cNvSpPr txBox="1"/>
          <p:nvPr/>
        </p:nvSpPr>
        <p:spPr>
          <a:xfrm>
            <a:off x="8915400" y="5440680"/>
            <a:ext cx="2286000" cy="457200"/>
          </a:xfrm>
          <a:prstGeom prst="rect">
            <a:avLst/>
          </a:prstGeom>
          <a:noFill/>
        </p:spPr>
        <p:txBody>
          <a:bodyPr wrap="square" lIns="18288" rIns="18288" tIns="18288" bIns="18288" anchor="t">
            <a:spAutoFit/>
          </a:bodyPr>
          <a:lstStyle/>
          <a:p>
            <a:pPr algn="ctr">
              <a:spcAft>
                <a:spcPts val="500"/>
              </a:spcAft>
              <a:defRPr sz="1100" b="1">
                <a:solidFill>
                  <a:srgbClr val="212B36"/>
                </a:solidFill>
                <a:latin typeface="Aptos"/>
              </a:defRPr>
            </a:pPr>
            <a:r>
              <a:t>FYP-II</a:t>
            </a:r>
          </a:p>
        </p:txBody>
      </p:sp>
      <p:sp>
        <p:nvSpPr>
          <p:cNvPr id="26" name="TextBox 25"/>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COMSATS University Islamabad • Department of Computer Engineering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0C192D"/>
                </a:solidFill>
                <a:latin typeface="Aptos Display"/>
              </a:defRPr>
            </a:pPr>
            <a:r>
              <a:t>FYP procedure: from offering to final submission</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1A74BE"/>
                </a:solidFill>
                <a:latin typeface="Aptos"/>
              </a:defRPr>
            </a:pPr>
            <a:r>
              <a:t>02 • ROAD-MAP</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5C6A78"/>
                </a:solidFill>
                <a:latin typeface="Aptos"/>
              </a:defRPr>
            </a:pPr>
            <a:r>
              <a:t>05</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85800" y="1170432"/>
            <a:ext cx="566928" cy="566928"/>
          </a:xfrm>
          <a:prstGeom prst="ellipse">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80160"/>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01</a:t>
            </a:r>
          </a:p>
        </p:txBody>
      </p:sp>
      <p:sp>
        <p:nvSpPr>
          <p:cNvPr id="9" name="TextBox 8"/>
          <p:cNvSpPr txBox="1"/>
          <p:nvPr/>
        </p:nvSpPr>
        <p:spPr>
          <a:xfrm>
            <a:off x="1399032" y="1207008"/>
            <a:ext cx="4572000" cy="640080"/>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FYP offering by faculty members</a:t>
            </a:r>
          </a:p>
        </p:txBody>
      </p:sp>
      <p:sp>
        <p:nvSpPr>
          <p:cNvPr id="10" name="Oval 9"/>
          <p:cNvSpPr/>
          <p:nvPr/>
        </p:nvSpPr>
        <p:spPr>
          <a:xfrm>
            <a:off x="6217920" y="1170432"/>
            <a:ext cx="566928" cy="566928"/>
          </a:xfrm>
          <a:prstGeom prst="ellipse">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280160"/>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02</a:t>
            </a:r>
          </a:p>
        </p:txBody>
      </p:sp>
      <p:sp>
        <p:nvSpPr>
          <p:cNvPr id="12" name="TextBox 11"/>
          <p:cNvSpPr txBox="1"/>
          <p:nvPr/>
        </p:nvSpPr>
        <p:spPr>
          <a:xfrm>
            <a:off x="6931152" y="1207008"/>
            <a:ext cx="4572000" cy="640080"/>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Project enrolment within department in 6th Semester kickoff report (KOR)</a:t>
            </a:r>
          </a:p>
        </p:txBody>
      </p:sp>
      <p:sp>
        <p:nvSpPr>
          <p:cNvPr id="13" name="Oval 12"/>
          <p:cNvSpPr/>
          <p:nvPr/>
        </p:nvSpPr>
        <p:spPr>
          <a:xfrm>
            <a:off x="685800" y="2039112"/>
            <a:ext cx="566928" cy="566928"/>
          </a:xfrm>
          <a:prstGeom prst="ellipse">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48840"/>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03</a:t>
            </a:r>
          </a:p>
        </p:txBody>
      </p:sp>
      <p:sp>
        <p:nvSpPr>
          <p:cNvPr id="15" name="TextBox 14"/>
          <p:cNvSpPr txBox="1"/>
          <p:nvPr/>
        </p:nvSpPr>
        <p:spPr>
          <a:xfrm>
            <a:off x="1399032" y="2075688"/>
            <a:ext cx="4572000" cy="640080"/>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FYP Part-1 Registration (03 Credit Hours) 7th Semester</a:t>
            </a:r>
          </a:p>
        </p:txBody>
      </p:sp>
      <p:sp>
        <p:nvSpPr>
          <p:cNvPr id="16" name="Oval 15"/>
          <p:cNvSpPr/>
          <p:nvPr/>
        </p:nvSpPr>
        <p:spPr>
          <a:xfrm>
            <a:off x="6217920" y="2039112"/>
            <a:ext cx="566928" cy="566928"/>
          </a:xfrm>
          <a:prstGeom prst="ellipse">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0" y="2148840"/>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04</a:t>
            </a:r>
          </a:p>
        </p:txBody>
      </p:sp>
      <p:sp>
        <p:nvSpPr>
          <p:cNvPr id="18" name="TextBox 17"/>
          <p:cNvSpPr txBox="1"/>
          <p:nvPr/>
        </p:nvSpPr>
        <p:spPr>
          <a:xfrm>
            <a:off x="6931152" y="2075688"/>
            <a:ext cx="4572000" cy="640080"/>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Evaluation of Part-1 (end of 7th semester)</a:t>
            </a:r>
          </a:p>
        </p:txBody>
      </p:sp>
      <p:sp>
        <p:nvSpPr>
          <p:cNvPr id="19" name="Oval 18"/>
          <p:cNvSpPr/>
          <p:nvPr/>
        </p:nvSpPr>
        <p:spPr>
          <a:xfrm>
            <a:off x="685800" y="2907791"/>
            <a:ext cx="566928" cy="566928"/>
          </a:xfrm>
          <a:prstGeom prst="ellipse">
            <a:avLst/>
          </a:prstGeom>
          <a:solidFill>
            <a:srgbClr val="D5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017520"/>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05</a:t>
            </a:r>
          </a:p>
        </p:txBody>
      </p:sp>
      <p:sp>
        <p:nvSpPr>
          <p:cNvPr id="21" name="TextBox 20"/>
          <p:cNvSpPr txBox="1"/>
          <p:nvPr/>
        </p:nvSpPr>
        <p:spPr>
          <a:xfrm>
            <a:off x="1399032" y="2944368"/>
            <a:ext cx="4572000" cy="640080"/>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FYP Part-2 Registration (03 Credit Hours) 8th Semester</a:t>
            </a:r>
          </a:p>
        </p:txBody>
      </p:sp>
      <p:sp>
        <p:nvSpPr>
          <p:cNvPr id="22" name="Oval 21"/>
          <p:cNvSpPr/>
          <p:nvPr/>
        </p:nvSpPr>
        <p:spPr>
          <a:xfrm>
            <a:off x="6217920" y="2907791"/>
            <a:ext cx="566928" cy="566928"/>
          </a:xfrm>
          <a:prstGeom prst="ellipse">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0" y="3017520"/>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06</a:t>
            </a:r>
          </a:p>
        </p:txBody>
      </p:sp>
      <p:sp>
        <p:nvSpPr>
          <p:cNvPr id="24" name="TextBox 23"/>
          <p:cNvSpPr txBox="1"/>
          <p:nvPr/>
        </p:nvSpPr>
        <p:spPr>
          <a:xfrm>
            <a:off x="6931152" y="2944368"/>
            <a:ext cx="4572000" cy="640080"/>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Submission of First Draft of Thesis</a:t>
            </a:r>
          </a:p>
        </p:txBody>
      </p:sp>
      <p:sp>
        <p:nvSpPr>
          <p:cNvPr id="25" name="Oval 24"/>
          <p:cNvSpPr/>
          <p:nvPr/>
        </p:nvSpPr>
        <p:spPr>
          <a:xfrm>
            <a:off x="685800" y="3776472"/>
            <a:ext cx="566928" cy="566928"/>
          </a:xfrm>
          <a:prstGeom prst="ellipse">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86200"/>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07</a:t>
            </a:r>
          </a:p>
        </p:txBody>
      </p:sp>
      <p:sp>
        <p:nvSpPr>
          <p:cNvPr id="27" name="TextBox 26"/>
          <p:cNvSpPr txBox="1"/>
          <p:nvPr/>
        </p:nvSpPr>
        <p:spPr>
          <a:xfrm>
            <a:off x="1399032" y="3813048"/>
            <a:ext cx="4572000" cy="640080"/>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Evaluation of FYP Part-2 (8th Semester)</a:t>
            </a:r>
          </a:p>
        </p:txBody>
      </p:sp>
      <p:sp>
        <p:nvSpPr>
          <p:cNvPr id="28" name="Oval 27"/>
          <p:cNvSpPr/>
          <p:nvPr/>
        </p:nvSpPr>
        <p:spPr>
          <a:xfrm>
            <a:off x="6217920" y="3776472"/>
            <a:ext cx="566928" cy="566928"/>
          </a:xfrm>
          <a:prstGeom prst="ellipse">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0" y="3886200"/>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08</a:t>
            </a:r>
          </a:p>
        </p:txBody>
      </p:sp>
      <p:sp>
        <p:nvSpPr>
          <p:cNvPr id="30" name="TextBox 29"/>
          <p:cNvSpPr txBox="1"/>
          <p:nvPr/>
        </p:nvSpPr>
        <p:spPr>
          <a:xfrm>
            <a:off x="6931152" y="3813048"/>
            <a:ext cx="4572000" cy="640080"/>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Internal Presentation</a:t>
            </a:r>
          </a:p>
        </p:txBody>
      </p:sp>
      <p:sp>
        <p:nvSpPr>
          <p:cNvPr id="31" name="Oval 30"/>
          <p:cNvSpPr/>
          <p:nvPr/>
        </p:nvSpPr>
        <p:spPr>
          <a:xfrm>
            <a:off x="685800" y="4645152"/>
            <a:ext cx="566928" cy="566928"/>
          </a:xfrm>
          <a:prstGeom prst="ellipse">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4754880"/>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09</a:t>
            </a:r>
          </a:p>
        </p:txBody>
      </p:sp>
      <p:sp>
        <p:nvSpPr>
          <p:cNvPr id="33" name="TextBox 32"/>
          <p:cNvSpPr txBox="1"/>
          <p:nvPr/>
        </p:nvSpPr>
        <p:spPr>
          <a:xfrm>
            <a:off x="1399032" y="4681728"/>
            <a:ext cx="4572000" cy="640080"/>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External Presentation</a:t>
            </a:r>
          </a:p>
        </p:txBody>
      </p:sp>
      <p:sp>
        <p:nvSpPr>
          <p:cNvPr id="34" name="Oval 33"/>
          <p:cNvSpPr/>
          <p:nvPr/>
        </p:nvSpPr>
        <p:spPr>
          <a:xfrm>
            <a:off x="6217920" y="4645152"/>
            <a:ext cx="566928" cy="566928"/>
          </a:xfrm>
          <a:prstGeom prst="ellipse">
            <a:avLst/>
          </a:prstGeom>
          <a:solidFill>
            <a:srgbClr val="D5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17920" y="4754880"/>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10</a:t>
            </a:r>
          </a:p>
        </p:txBody>
      </p:sp>
      <p:sp>
        <p:nvSpPr>
          <p:cNvPr id="36" name="TextBox 35"/>
          <p:cNvSpPr txBox="1"/>
          <p:nvPr/>
        </p:nvSpPr>
        <p:spPr>
          <a:xfrm>
            <a:off x="6931152" y="4681728"/>
            <a:ext cx="4572000" cy="640080"/>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Results compilation and Submission of final thesis copies to exam department</a:t>
            </a:r>
          </a:p>
        </p:txBody>
      </p:sp>
      <p:sp>
        <p:nvSpPr>
          <p:cNvPr id="37" name="TextBox 36"/>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COMSATS University Islamabad • Department of Computer Engineering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0C192D"/>
                </a:solidFill>
                <a:latin typeface="Aptos Display"/>
              </a:defRPr>
            </a:pPr>
            <a:r>
              <a:t>Flow chart of FYP procedure</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1A74BE"/>
                </a:solidFill>
                <a:latin typeface="Aptos"/>
              </a:defRPr>
            </a:pPr>
            <a:r>
              <a:t>02 • ROAD-MAP</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5C6A78"/>
                </a:solidFill>
                <a:latin typeface="Aptos"/>
              </a:defRPr>
            </a:pPr>
            <a:r>
              <a:t>06</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417320"/>
            <a:ext cx="1600200" cy="960120"/>
          </a:xfrm>
          <a:prstGeom prst="roundRect">
            <a:avLst/>
          </a:prstGeom>
          <a:solidFill>
            <a:srgbClr val="FFFFFF"/>
          </a:solidFill>
          <a:ln w="25400">
            <a:solidFill>
              <a:srgbClr val="1A74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1" y="1627632"/>
            <a:ext cx="1453896" cy="502920"/>
          </a:xfrm>
          <a:prstGeom prst="rect">
            <a:avLst/>
          </a:prstGeom>
          <a:noFill/>
        </p:spPr>
        <p:txBody>
          <a:bodyPr wrap="square" lIns="18288" rIns="18288" tIns="18288" bIns="18288" anchor="ctr">
            <a:spAutoFit/>
          </a:bodyPr>
          <a:lstStyle/>
          <a:p>
            <a:pPr algn="ctr">
              <a:spcAft>
                <a:spcPts val="500"/>
              </a:spcAft>
              <a:defRPr sz="1050" b="1">
                <a:solidFill>
                  <a:srgbClr val="1A74BE"/>
                </a:solidFill>
                <a:latin typeface="Aptos"/>
              </a:defRPr>
            </a:pPr>
            <a:r>
              <a:t>Call for FYP</a:t>
            </a:r>
          </a:p>
          <a:p>
            <a:pPr algn="ctr">
              <a:spcAft>
                <a:spcPts val="500"/>
              </a:spcAft>
              <a:defRPr sz="1050" b="1">
                <a:solidFill>
                  <a:srgbClr val="1A74BE"/>
                </a:solidFill>
                <a:latin typeface="Aptos"/>
              </a:defRPr>
            </a:pPr>
            <a:r>
              <a:t>Projects</a:t>
            </a:r>
          </a:p>
        </p:txBody>
      </p:sp>
      <p:cxnSp>
        <p:nvCxnSpPr>
          <p:cNvPr id="9" name="Connector 8"/>
          <p:cNvCxnSpPr/>
          <p:nvPr/>
        </p:nvCxnSpPr>
        <p:spPr>
          <a:xfrm>
            <a:off x="2240280" y="1892808"/>
            <a:ext cx="594360" cy="0"/>
          </a:xfrm>
          <a:prstGeom prst="line">
            <a:avLst/>
          </a:prstGeom>
          <a:ln w="38100">
            <a:solidFill>
              <a:srgbClr val="E2E8F0"/>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34640" y="1417320"/>
            <a:ext cx="1600200" cy="960120"/>
          </a:xfrm>
          <a:prstGeom prst="roundRect">
            <a:avLst/>
          </a:prstGeom>
          <a:solidFill>
            <a:srgbClr val="FFFFFF"/>
          </a:solidFill>
          <a:ln w="25400">
            <a:solidFill>
              <a:srgbClr val="21B8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07792" y="1627632"/>
            <a:ext cx="1453896" cy="502920"/>
          </a:xfrm>
          <a:prstGeom prst="rect">
            <a:avLst/>
          </a:prstGeom>
          <a:noFill/>
        </p:spPr>
        <p:txBody>
          <a:bodyPr wrap="square" lIns="18288" rIns="18288" tIns="18288" bIns="18288" anchor="ctr">
            <a:spAutoFit/>
          </a:bodyPr>
          <a:lstStyle/>
          <a:p>
            <a:pPr algn="ctr">
              <a:spcAft>
                <a:spcPts val="500"/>
              </a:spcAft>
              <a:defRPr sz="1050" b="1">
                <a:solidFill>
                  <a:srgbClr val="21B8C9"/>
                </a:solidFill>
                <a:latin typeface="Aptos"/>
              </a:defRPr>
            </a:pPr>
            <a:r>
              <a:t>Project</a:t>
            </a:r>
          </a:p>
          <a:p>
            <a:pPr algn="ctr">
              <a:spcAft>
                <a:spcPts val="500"/>
              </a:spcAft>
              <a:defRPr sz="1050" b="1">
                <a:solidFill>
                  <a:srgbClr val="21B8C9"/>
                </a:solidFill>
                <a:latin typeface="Aptos"/>
              </a:defRPr>
            </a:pPr>
            <a:r>
              <a:t>Selection</a:t>
            </a:r>
          </a:p>
        </p:txBody>
      </p:sp>
      <p:cxnSp>
        <p:nvCxnSpPr>
          <p:cNvPr id="12" name="Connector 11"/>
          <p:cNvCxnSpPr/>
          <p:nvPr/>
        </p:nvCxnSpPr>
        <p:spPr>
          <a:xfrm>
            <a:off x="4434840" y="1892808"/>
            <a:ext cx="594360" cy="0"/>
          </a:xfrm>
          <a:prstGeom prst="line">
            <a:avLst/>
          </a:prstGeom>
          <a:ln w="38100">
            <a:solidFill>
              <a:srgbClr val="E2E8F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029200" y="1417320"/>
            <a:ext cx="1600200" cy="960120"/>
          </a:xfrm>
          <a:prstGeom prst="roundRect">
            <a:avLst/>
          </a:prstGeom>
          <a:solidFill>
            <a:srgbClr val="FFFFFF"/>
          </a:solidFill>
          <a:ln w="25400">
            <a:solidFill>
              <a:srgbClr val="189B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02352" y="1627632"/>
            <a:ext cx="1453896" cy="502920"/>
          </a:xfrm>
          <a:prstGeom prst="rect">
            <a:avLst/>
          </a:prstGeom>
          <a:noFill/>
        </p:spPr>
        <p:txBody>
          <a:bodyPr wrap="square" lIns="18288" rIns="18288" tIns="18288" bIns="18288" anchor="ctr">
            <a:spAutoFit/>
          </a:bodyPr>
          <a:lstStyle/>
          <a:p>
            <a:pPr algn="ctr">
              <a:spcAft>
                <a:spcPts val="500"/>
              </a:spcAft>
              <a:defRPr sz="1050" b="1">
                <a:solidFill>
                  <a:srgbClr val="189B91"/>
                </a:solidFill>
                <a:latin typeface="Aptos"/>
              </a:defRPr>
            </a:pPr>
            <a:r>
              <a:t>FYP-I</a:t>
            </a:r>
          </a:p>
          <a:p>
            <a:pPr algn="ctr">
              <a:spcAft>
                <a:spcPts val="500"/>
              </a:spcAft>
              <a:defRPr sz="1050" b="1">
                <a:solidFill>
                  <a:srgbClr val="189B91"/>
                </a:solidFill>
                <a:latin typeface="Aptos"/>
              </a:defRPr>
            </a:pPr>
            <a:r>
              <a:t>Registration</a:t>
            </a:r>
          </a:p>
        </p:txBody>
      </p:sp>
      <p:cxnSp>
        <p:nvCxnSpPr>
          <p:cNvPr id="15" name="Connector 14"/>
          <p:cNvCxnSpPr/>
          <p:nvPr/>
        </p:nvCxnSpPr>
        <p:spPr>
          <a:xfrm>
            <a:off x="6629400" y="1892808"/>
            <a:ext cx="594360" cy="0"/>
          </a:xfrm>
          <a:prstGeom prst="line">
            <a:avLst/>
          </a:prstGeom>
          <a:ln w="38100">
            <a:solidFill>
              <a:srgbClr val="E2E8F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223760" y="1417320"/>
            <a:ext cx="1600200" cy="960120"/>
          </a:xfrm>
          <a:prstGeom prst="roundRect">
            <a:avLst/>
          </a:prstGeom>
          <a:solidFill>
            <a:srgbClr val="FFFFFF"/>
          </a:solidFill>
          <a:ln w="25400">
            <a:solidFill>
              <a:srgbClr val="189B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96912" y="1627632"/>
            <a:ext cx="1453896" cy="502920"/>
          </a:xfrm>
          <a:prstGeom prst="rect">
            <a:avLst/>
          </a:prstGeom>
          <a:noFill/>
        </p:spPr>
        <p:txBody>
          <a:bodyPr wrap="square" lIns="18288" rIns="18288" tIns="18288" bIns="18288" anchor="ctr">
            <a:spAutoFit/>
          </a:bodyPr>
          <a:lstStyle/>
          <a:p>
            <a:pPr algn="ctr">
              <a:spcAft>
                <a:spcPts val="500"/>
              </a:spcAft>
              <a:defRPr sz="1050" b="1">
                <a:solidFill>
                  <a:srgbClr val="189B91"/>
                </a:solidFill>
                <a:latin typeface="Aptos"/>
              </a:defRPr>
            </a:pPr>
            <a:r>
              <a:t>FYP-I</a:t>
            </a:r>
          </a:p>
          <a:p>
            <a:pPr algn="ctr">
              <a:spcAft>
                <a:spcPts val="500"/>
              </a:spcAft>
              <a:defRPr sz="1050" b="1">
                <a:solidFill>
                  <a:srgbClr val="189B91"/>
                </a:solidFill>
                <a:latin typeface="Aptos"/>
              </a:defRPr>
            </a:pPr>
            <a:r>
              <a:t>Evaluation</a:t>
            </a:r>
          </a:p>
        </p:txBody>
      </p:sp>
      <p:cxnSp>
        <p:nvCxnSpPr>
          <p:cNvPr id="18" name="Connector 17"/>
          <p:cNvCxnSpPr/>
          <p:nvPr/>
        </p:nvCxnSpPr>
        <p:spPr>
          <a:xfrm>
            <a:off x="8823960" y="1892808"/>
            <a:ext cx="594360" cy="0"/>
          </a:xfrm>
          <a:prstGeom prst="line">
            <a:avLst/>
          </a:prstGeom>
          <a:ln w="38100">
            <a:solidFill>
              <a:srgbClr val="E2E8F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418320" y="1417320"/>
            <a:ext cx="1600200" cy="960120"/>
          </a:xfrm>
          <a:prstGeom prst="roundRect">
            <a:avLst/>
          </a:prstGeom>
          <a:solidFill>
            <a:srgbClr val="FFFFFF"/>
          </a:solidFill>
          <a:ln w="25400">
            <a:solidFill>
              <a:srgbClr val="F28F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91472" y="1627632"/>
            <a:ext cx="1453896" cy="502920"/>
          </a:xfrm>
          <a:prstGeom prst="rect">
            <a:avLst/>
          </a:prstGeom>
          <a:noFill/>
        </p:spPr>
        <p:txBody>
          <a:bodyPr wrap="square" lIns="18288" rIns="18288" tIns="18288" bIns="18288" anchor="ctr">
            <a:spAutoFit/>
          </a:bodyPr>
          <a:lstStyle/>
          <a:p>
            <a:pPr algn="ctr">
              <a:spcAft>
                <a:spcPts val="500"/>
              </a:spcAft>
              <a:defRPr sz="1050" b="1">
                <a:solidFill>
                  <a:srgbClr val="F28F2A"/>
                </a:solidFill>
                <a:latin typeface="Aptos"/>
              </a:defRPr>
            </a:pPr>
            <a:r>
              <a:t>FYP-II</a:t>
            </a:r>
          </a:p>
          <a:p>
            <a:pPr algn="ctr">
              <a:spcAft>
                <a:spcPts val="500"/>
              </a:spcAft>
              <a:defRPr sz="1050" b="1">
                <a:solidFill>
                  <a:srgbClr val="F28F2A"/>
                </a:solidFill>
                <a:latin typeface="Aptos"/>
              </a:defRPr>
            </a:pPr>
            <a:r>
              <a:t>Registration</a:t>
            </a:r>
          </a:p>
        </p:txBody>
      </p:sp>
      <p:cxnSp>
        <p:nvCxnSpPr>
          <p:cNvPr id="21" name="Connector 20"/>
          <p:cNvCxnSpPr/>
          <p:nvPr/>
        </p:nvCxnSpPr>
        <p:spPr>
          <a:xfrm>
            <a:off x="9418320" y="1892808"/>
            <a:ext cx="1600200" cy="1920240"/>
          </a:xfrm>
          <a:prstGeom prst="line">
            <a:avLst/>
          </a:prstGeom>
          <a:ln w="38100">
            <a:solidFill>
              <a:srgbClr val="E2E8F0"/>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418320" y="3337560"/>
            <a:ext cx="1600200" cy="960120"/>
          </a:xfrm>
          <a:prstGeom prst="roundRect">
            <a:avLst/>
          </a:prstGeom>
          <a:solidFill>
            <a:srgbClr val="FFFFFF"/>
          </a:solidFill>
          <a:ln w="25400">
            <a:solidFill>
              <a:srgbClr val="F28F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91472" y="3547872"/>
            <a:ext cx="1453896" cy="502920"/>
          </a:xfrm>
          <a:prstGeom prst="rect">
            <a:avLst/>
          </a:prstGeom>
          <a:noFill/>
        </p:spPr>
        <p:txBody>
          <a:bodyPr wrap="square" lIns="18288" rIns="18288" tIns="18288" bIns="18288" anchor="ctr">
            <a:spAutoFit/>
          </a:bodyPr>
          <a:lstStyle/>
          <a:p>
            <a:pPr algn="ctr">
              <a:spcAft>
                <a:spcPts val="500"/>
              </a:spcAft>
              <a:defRPr sz="1050" b="1">
                <a:solidFill>
                  <a:srgbClr val="F28F2A"/>
                </a:solidFill>
                <a:latin typeface="Aptos"/>
              </a:defRPr>
            </a:pPr>
            <a:r>
              <a:t>First Draft</a:t>
            </a:r>
          </a:p>
          <a:p>
            <a:pPr algn="ctr">
              <a:spcAft>
                <a:spcPts val="500"/>
              </a:spcAft>
              <a:defRPr sz="1050" b="1">
                <a:solidFill>
                  <a:srgbClr val="F28F2A"/>
                </a:solidFill>
                <a:latin typeface="Aptos"/>
              </a:defRPr>
            </a:pPr>
            <a:r>
              <a:t>of Thesis</a:t>
            </a:r>
          </a:p>
        </p:txBody>
      </p:sp>
      <p:cxnSp>
        <p:nvCxnSpPr>
          <p:cNvPr id="24" name="Connector 23"/>
          <p:cNvCxnSpPr/>
          <p:nvPr/>
        </p:nvCxnSpPr>
        <p:spPr>
          <a:xfrm flipH="1">
            <a:off x="8823960" y="3813048"/>
            <a:ext cx="594360" cy="0"/>
          </a:xfrm>
          <a:prstGeom prst="line">
            <a:avLst/>
          </a:prstGeom>
          <a:ln w="38100">
            <a:solidFill>
              <a:srgbClr val="E2E8F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223760" y="3337560"/>
            <a:ext cx="1600200" cy="960120"/>
          </a:xfrm>
          <a:prstGeom prst="roundRect">
            <a:avLst/>
          </a:prstGeom>
          <a:solidFill>
            <a:srgbClr val="FFFFFF"/>
          </a:solidFill>
          <a:ln w="25400">
            <a:solidFill>
              <a:srgbClr val="D5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96912" y="3547872"/>
            <a:ext cx="1453896" cy="502920"/>
          </a:xfrm>
          <a:prstGeom prst="rect">
            <a:avLst/>
          </a:prstGeom>
          <a:noFill/>
        </p:spPr>
        <p:txBody>
          <a:bodyPr wrap="square" lIns="18288" rIns="18288" tIns="18288" bIns="18288" anchor="ctr">
            <a:spAutoFit/>
          </a:bodyPr>
          <a:lstStyle/>
          <a:p>
            <a:pPr algn="ctr">
              <a:spcAft>
                <a:spcPts val="500"/>
              </a:spcAft>
              <a:defRPr sz="1050" b="1">
                <a:solidFill>
                  <a:srgbClr val="D54646"/>
                </a:solidFill>
                <a:latin typeface="Aptos"/>
              </a:defRPr>
            </a:pPr>
            <a:r>
              <a:t>FYP-II</a:t>
            </a:r>
          </a:p>
          <a:p>
            <a:pPr algn="ctr">
              <a:spcAft>
                <a:spcPts val="500"/>
              </a:spcAft>
              <a:defRPr sz="1050" b="1">
                <a:solidFill>
                  <a:srgbClr val="D54646"/>
                </a:solidFill>
                <a:latin typeface="Aptos"/>
              </a:defRPr>
            </a:pPr>
            <a:r>
              <a:t>Evaluation</a:t>
            </a:r>
          </a:p>
        </p:txBody>
      </p:sp>
      <p:cxnSp>
        <p:nvCxnSpPr>
          <p:cNvPr id="27" name="Connector 26"/>
          <p:cNvCxnSpPr/>
          <p:nvPr/>
        </p:nvCxnSpPr>
        <p:spPr>
          <a:xfrm flipH="1">
            <a:off x="6629400" y="3813048"/>
            <a:ext cx="594360" cy="0"/>
          </a:xfrm>
          <a:prstGeom prst="line">
            <a:avLst/>
          </a:prstGeom>
          <a:ln w="38100">
            <a:solidFill>
              <a:srgbClr val="E2E8F0"/>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029200" y="3337560"/>
            <a:ext cx="1600200" cy="960120"/>
          </a:xfrm>
          <a:prstGeom prst="roundRect">
            <a:avLst/>
          </a:prstGeom>
          <a:solidFill>
            <a:srgbClr val="FFFFFF"/>
          </a:solidFill>
          <a:ln w="25400">
            <a:solidFill>
              <a:srgbClr val="D5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02352" y="3547872"/>
            <a:ext cx="1453896" cy="502920"/>
          </a:xfrm>
          <a:prstGeom prst="rect">
            <a:avLst/>
          </a:prstGeom>
          <a:noFill/>
        </p:spPr>
        <p:txBody>
          <a:bodyPr wrap="square" lIns="18288" rIns="18288" tIns="18288" bIns="18288" anchor="ctr">
            <a:spAutoFit/>
          </a:bodyPr>
          <a:lstStyle/>
          <a:p>
            <a:pPr algn="ctr">
              <a:spcAft>
                <a:spcPts val="500"/>
              </a:spcAft>
              <a:defRPr sz="1050" b="1">
                <a:solidFill>
                  <a:srgbClr val="D54646"/>
                </a:solidFill>
                <a:latin typeface="Aptos"/>
              </a:defRPr>
            </a:pPr>
            <a:r>
              <a:t>Internal</a:t>
            </a:r>
          </a:p>
          <a:p>
            <a:pPr algn="ctr">
              <a:spcAft>
                <a:spcPts val="500"/>
              </a:spcAft>
              <a:defRPr sz="1050" b="1">
                <a:solidFill>
                  <a:srgbClr val="D54646"/>
                </a:solidFill>
                <a:latin typeface="Aptos"/>
              </a:defRPr>
            </a:pPr>
            <a:r>
              <a:t>Presentation</a:t>
            </a:r>
          </a:p>
        </p:txBody>
      </p:sp>
      <p:cxnSp>
        <p:nvCxnSpPr>
          <p:cNvPr id="30" name="Connector 29"/>
          <p:cNvCxnSpPr/>
          <p:nvPr/>
        </p:nvCxnSpPr>
        <p:spPr>
          <a:xfrm flipH="1">
            <a:off x="4434840" y="3813048"/>
            <a:ext cx="594360" cy="0"/>
          </a:xfrm>
          <a:prstGeom prst="line">
            <a:avLst/>
          </a:prstGeom>
          <a:ln w="38100">
            <a:solidFill>
              <a:srgbClr val="E2E8F0"/>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2834640" y="3337560"/>
            <a:ext cx="1600200" cy="960120"/>
          </a:xfrm>
          <a:prstGeom prst="roundRect">
            <a:avLst/>
          </a:prstGeom>
          <a:solidFill>
            <a:srgbClr val="FFFFFF"/>
          </a:solidFill>
          <a:ln w="25400">
            <a:solidFill>
              <a:srgbClr val="765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907792" y="3547872"/>
            <a:ext cx="1453896" cy="502920"/>
          </a:xfrm>
          <a:prstGeom prst="rect">
            <a:avLst/>
          </a:prstGeom>
          <a:noFill/>
        </p:spPr>
        <p:txBody>
          <a:bodyPr wrap="square" lIns="18288" rIns="18288" tIns="18288" bIns="18288" anchor="ctr">
            <a:spAutoFit/>
          </a:bodyPr>
          <a:lstStyle/>
          <a:p>
            <a:pPr algn="ctr">
              <a:spcAft>
                <a:spcPts val="500"/>
              </a:spcAft>
              <a:defRPr sz="1050" b="1">
                <a:solidFill>
                  <a:srgbClr val="7658AA"/>
                </a:solidFill>
                <a:latin typeface="Aptos"/>
              </a:defRPr>
            </a:pPr>
            <a:r>
              <a:t>External</a:t>
            </a:r>
          </a:p>
          <a:p>
            <a:pPr algn="ctr">
              <a:spcAft>
                <a:spcPts val="500"/>
              </a:spcAft>
              <a:defRPr sz="1050" b="1">
                <a:solidFill>
                  <a:srgbClr val="7658AA"/>
                </a:solidFill>
                <a:latin typeface="Aptos"/>
              </a:defRPr>
            </a:pPr>
            <a:r>
              <a:t>Presentation</a:t>
            </a:r>
          </a:p>
        </p:txBody>
      </p:sp>
      <p:cxnSp>
        <p:nvCxnSpPr>
          <p:cNvPr id="33" name="Connector 32"/>
          <p:cNvCxnSpPr/>
          <p:nvPr/>
        </p:nvCxnSpPr>
        <p:spPr>
          <a:xfrm flipH="1">
            <a:off x="2240280" y="3813048"/>
            <a:ext cx="594360" cy="0"/>
          </a:xfrm>
          <a:prstGeom prst="line">
            <a:avLst/>
          </a:prstGeom>
          <a:ln w="38100">
            <a:solidFill>
              <a:srgbClr val="E2E8F0"/>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40080" y="3337560"/>
            <a:ext cx="1600200" cy="960120"/>
          </a:xfrm>
          <a:prstGeom prst="roundRect">
            <a:avLst/>
          </a:prstGeom>
          <a:solidFill>
            <a:srgbClr val="FFFFFF"/>
          </a:solidFill>
          <a:ln w="25400">
            <a:solidFill>
              <a:srgbClr val="765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3231" y="3547872"/>
            <a:ext cx="1453896" cy="502920"/>
          </a:xfrm>
          <a:prstGeom prst="rect">
            <a:avLst/>
          </a:prstGeom>
          <a:noFill/>
        </p:spPr>
        <p:txBody>
          <a:bodyPr wrap="square" lIns="18288" rIns="18288" tIns="18288" bIns="18288" anchor="ctr">
            <a:spAutoFit/>
          </a:bodyPr>
          <a:lstStyle/>
          <a:p>
            <a:pPr algn="ctr">
              <a:spcAft>
                <a:spcPts val="500"/>
              </a:spcAft>
              <a:defRPr sz="1050" b="1">
                <a:solidFill>
                  <a:srgbClr val="7658AA"/>
                </a:solidFill>
                <a:latin typeface="Aptos"/>
              </a:defRPr>
            </a:pPr>
            <a:r>
              <a:t>Final Thesis</a:t>
            </a:r>
          </a:p>
          <a:p>
            <a:pPr algn="ctr">
              <a:spcAft>
                <a:spcPts val="500"/>
              </a:spcAft>
              <a:defRPr sz="1050" b="1">
                <a:solidFill>
                  <a:srgbClr val="7658AA"/>
                </a:solidFill>
                <a:latin typeface="Aptos"/>
              </a:defRPr>
            </a:pPr>
            <a:r>
              <a:t>Submission</a:t>
            </a:r>
          </a:p>
        </p:txBody>
      </p:sp>
      <p:sp>
        <p:nvSpPr>
          <p:cNvPr id="36" name="Rounded Rectangle 35"/>
          <p:cNvSpPr/>
          <p:nvPr/>
        </p:nvSpPr>
        <p:spPr>
          <a:xfrm>
            <a:off x="2926080" y="5074920"/>
            <a:ext cx="6309360" cy="310896"/>
          </a:xfrm>
          <a:prstGeom prst="roundRect">
            <a:avLst/>
          </a:prstGeom>
          <a:solidFill>
            <a:srgbClr val="EB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971800" y="5111496"/>
            <a:ext cx="6217920" cy="210312"/>
          </a:xfrm>
          <a:prstGeom prst="rect">
            <a:avLst/>
          </a:prstGeom>
          <a:noFill/>
        </p:spPr>
        <p:txBody>
          <a:bodyPr wrap="square" lIns="18288" rIns="18288" tIns="18288" bIns="18288" anchor="ctr">
            <a:spAutoFit/>
          </a:bodyPr>
          <a:lstStyle/>
          <a:p>
            <a:pPr algn="ctr">
              <a:spcAft>
                <a:spcPts val="500"/>
              </a:spcAft>
              <a:defRPr sz="850" b="1">
                <a:solidFill>
                  <a:srgbClr val="0C192D"/>
                </a:solidFill>
                <a:latin typeface="Aptos"/>
              </a:defRPr>
            </a:pPr>
            <a:r>
              <a:t>The process is sequential — each stage produces the evidence needed for the next.</a:t>
            </a:r>
          </a:p>
        </p:txBody>
      </p:sp>
      <p:sp>
        <p:nvSpPr>
          <p:cNvPr id="38" name="TextBox 37"/>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COMSATS University Islamabad • Department of Computer Engineering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0C192D"/>
                </a:solidFill>
                <a:latin typeface="Aptos Display"/>
              </a:defRPr>
            </a:pPr>
            <a:r>
              <a:t>What students should demonstrate after FYP</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1A74BE"/>
                </a:solidFill>
                <a:latin typeface="Aptos"/>
              </a:defRPr>
            </a:pPr>
            <a:r>
              <a:t>03 • OUTCOMES</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5C6A78"/>
                </a:solidFill>
                <a:latin typeface="Aptos"/>
              </a:defRPr>
            </a:pPr>
            <a:r>
              <a:t>07</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170432"/>
            <a:ext cx="5321808"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170432"/>
            <a:ext cx="64008" cy="804672"/>
          </a:xfrm>
          <a:prstGeom prst="rect">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1335024"/>
            <a:ext cx="4910328" cy="347472"/>
          </a:xfrm>
          <a:prstGeom prst="rect">
            <a:avLst/>
          </a:prstGeom>
          <a:noFill/>
        </p:spPr>
        <p:txBody>
          <a:bodyPr wrap="square" lIns="18288" rIns="18288" tIns="18288" bIns="18288" anchor="t">
            <a:spAutoFit/>
          </a:bodyPr>
          <a:lstStyle/>
          <a:p>
            <a:pPr algn="l">
              <a:spcAft>
                <a:spcPts val="500"/>
              </a:spcAft>
              <a:defRPr sz="950" b="1">
                <a:solidFill>
                  <a:srgbClr val="0C192D"/>
                </a:solidFill>
                <a:latin typeface="Aptos"/>
              </a:defRPr>
            </a:pPr>
            <a:r>
              <a:t>C01</a:t>
            </a:r>
          </a:p>
        </p:txBody>
      </p:sp>
      <p:sp>
        <p:nvSpPr>
          <p:cNvPr id="10" name="TextBox 9"/>
          <p:cNvSpPr txBox="1"/>
          <p:nvPr/>
        </p:nvSpPr>
        <p:spPr>
          <a:xfrm>
            <a:off x="886968" y="1737360"/>
            <a:ext cx="4910328" cy="91439"/>
          </a:xfrm>
          <a:prstGeom prst="rect">
            <a:avLst/>
          </a:prstGeom>
          <a:noFill/>
        </p:spPr>
        <p:txBody>
          <a:bodyPr wrap="square" lIns="18288" rIns="18288" tIns="18288" bIns="18288" anchor="t">
            <a:spAutoFit/>
          </a:bodyPr>
          <a:lstStyle/>
          <a:p>
            <a:pPr algn="l">
              <a:spcAft>
                <a:spcPts val="500"/>
              </a:spcAft>
              <a:defRPr sz="860" b="0">
                <a:solidFill>
                  <a:srgbClr val="212B36"/>
                </a:solidFill>
                <a:latin typeface="Aptos"/>
              </a:defRPr>
            </a:pPr>
            <a:r>
              <a:t>Utilize fundamental knowledge of science and engineering to identify a complex engineering problem and propose a viable solution. (C3‐PLO1)</a:t>
            </a:r>
          </a:p>
        </p:txBody>
      </p:sp>
      <p:sp>
        <p:nvSpPr>
          <p:cNvPr id="11" name="Rounded Rectangle 10"/>
          <p:cNvSpPr/>
          <p:nvPr/>
        </p:nvSpPr>
        <p:spPr>
          <a:xfrm>
            <a:off x="6254496" y="1170432"/>
            <a:ext cx="5321808"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54496" y="1170432"/>
            <a:ext cx="64008" cy="804672"/>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83096" y="1335024"/>
            <a:ext cx="4910328" cy="347472"/>
          </a:xfrm>
          <a:prstGeom prst="rect">
            <a:avLst/>
          </a:prstGeom>
          <a:noFill/>
        </p:spPr>
        <p:txBody>
          <a:bodyPr wrap="square" lIns="18288" rIns="18288" tIns="18288" bIns="18288" anchor="t">
            <a:spAutoFit/>
          </a:bodyPr>
          <a:lstStyle/>
          <a:p>
            <a:pPr algn="l">
              <a:spcAft>
                <a:spcPts val="500"/>
              </a:spcAft>
              <a:defRPr sz="950" b="1">
                <a:solidFill>
                  <a:srgbClr val="0C192D"/>
                </a:solidFill>
                <a:latin typeface="Aptos"/>
              </a:defRPr>
            </a:pPr>
            <a:r>
              <a:t>C02</a:t>
            </a:r>
          </a:p>
        </p:txBody>
      </p:sp>
      <p:sp>
        <p:nvSpPr>
          <p:cNvPr id="14" name="TextBox 13"/>
          <p:cNvSpPr txBox="1"/>
          <p:nvPr/>
        </p:nvSpPr>
        <p:spPr>
          <a:xfrm>
            <a:off x="6483096" y="1737360"/>
            <a:ext cx="4910328" cy="91439"/>
          </a:xfrm>
          <a:prstGeom prst="rect">
            <a:avLst/>
          </a:prstGeom>
          <a:noFill/>
        </p:spPr>
        <p:txBody>
          <a:bodyPr wrap="square" lIns="18288" rIns="18288" tIns="18288" bIns="18288" anchor="t">
            <a:spAutoFit/>
          </a:bodyPr>
          <a:lstStyle/>
          <a:p>
            <a:pPr algn="l">
              <a:spcAft>
                <a:spcPts val="500"/>
              </a:spcAft>
              <a:defRPr sz="860" b="0">
                <a:solidFill>
                  <a:srgbClr val="212B36"/>
                </a:solidFill>
                <a:latin typeface="Aptos"/>
              </a:defRPr>
            </a:pPr>
            <a:r>
              <a:t>Provide a critical review of previous work in the field, and a theoretical foundation for the approach taken in the project. (C4‐PLO2)</a:t>
            </a:r>
          </a:p>
        </p:txBody>
      </p:sp>
      <p:sp>
        <p:nvSpPr>
          <p:cNvPr id="15" name="Rounded Rectangle 14"/>
          <p:cNvSpPr/>
          <p:nvPr/>
        </p:nvSpPr>
        <p:spPr>
          <a:xfrm>
            <a:off x="658368" y="2103120"/>
            <a:ext cx="5321808"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2103120"/>
            <a:ext cx="64008" cy="804672"/>
          </a:xfrm>
          <a:prstGeom prst="rect">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2267712"/>
            <a:ext cx="4910328" cy="347472"/>
          </a:xfrm>
          <a:prstGeom prst="rect">
            <a:avLst/>
          </a:prstGeom>
          <a:noFill/>
        </p:spPr>
        <p:txBody>
          <a:bodyPr wrap="square" lIns="18288" rIns="18288" tIns="18288" bIns="18288" anchor="t">
            <a:spAutoFit/>
          </a:bodyPr>
          <a:lstStyle/>
          <a:p>
            <a:pPr algn="l">
              <a:spcAft>
                <a:spcPts val="500"/>
              </a:spcAft>
              <a:defRPr sz="950" b="1">
                <a:solidFill>
                  <a:srgbClr val="0C192D"/>
                </a:solidFill>
                <a:latin typeface="Aptos"/>
              </a:defRPr>
            </a:pPr>
            <a:r>
              <a:t>C03</a:t>
            </a:r>
          </a:p>
        </p:txBody>
      </p:sp>
      <p:sp>
        <p:nvSpPr>
          <p:cNvPr id="18" name="TextBox 17"/>
          <p:cNvSpPr txBox="1"/>
          <p:nvPr/>
        </p:nvSpPr>
        <p:spPr>
          <a:xfrm>
            <a:off x="886968" y="2670048"/>
            <a:ext cx="4910328" cy="91439"/>
          </a:xfrm>
          <a:prstGeom prst="rect">
            <a:avLst/>
          </a:prstGeom>
          <a:noFill/>
        </p:spPr>
        <p:txBody>
          <a:bodyPr wrap="square" lIns="18288" rIns="18288" tIns="18288" bIns="18288" anchor="t">
            <a:spAutoFit/>
          </a:bodyPr>
          <a:lstStyle/>
          <a:p>
            <a:pPr algn="l">
              <a:spcAft>
                <a:spcPts val="500"/>
              </a:spcAft>
              <a:defRPr sz="860" b="0">
                <a:solidFill>
                  <a:srgbClr val="212B36"/>
                </a:solidFill>
                <a:latin typeface="Aptos"/>
              </a:defRPr>
            </a:pPr>
            <a:r>
              <a:t>Design a system, component, or process that provides a feasible solution to a complex engineering problem which subsequently leads in achieving UN sustainable development goals. (C5‐PLO3)</a:t>
            </a:r>
          </a:p>
        </p:txBody>
      </p:sp>
      <p:sp>
        <p:nvSpPr>
          <p:cNvPr id="19" name="Rounded Rectangle 18"/>
          <p:cNvSpPr/>
          <p:nvPr/>
        </p:nvSpPr>
        <p:spPr>
          <a:xfrm>
            <a:off x="6254496" y="2103120"/>
            <a:ext cx="5321808"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2103120"/>
            <a:ext cx="64008" cy="804672"/>
          </a:xfrm>
          <a:prstGeom prst="rect">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83096" y="2267712"/>
            <a:ext cx="4910328" cy="347472"/>
          </a:xfrm>
          <a:prstGeom prst="rect">
            <a:avLst/>
          </a:prstGeom>
          <a:noFill/>
        </p:spPr>
        <p:txBody>
          <a:bodyPr wrap="square" lIns="18288" rIns="18288" tIns="18288" bIns="18288" anchor="t">
            <a:spAutoFit/>
          </a:bodyPr>
          <a:lstStyle/>
          <a:p>
            <a:pPr algn="l">
              <a:spcAft>
                <a:spcPts val="500"/>
              </a:spcAft>
              <a:defRPr sz="950" b="1">
                <a:solidFill>
                  <a:srgbClr val="0C192D"/>
                </a:solidFill>
                <a:latin typeface="Aptos"/>
              </a:defRPr>
            </a:pPr>
            <a:r>
              <a:t>C04</a:t>
            </a:r>
          </a:p>
        </p:txBody>
      </p:sp>
      <p:sp>
        <p:nvSpPr>
          <p:cNvPr id="22" name="TextBox 21"/>
          <p:cNvSpPr txBox="1"/>
          <p:nvPr/>
        </p:nvSpPr>
        <p:spPr>
          <a:xfrm>
            <a:off x="6483096" y="2670048"/>
            <a:ext cx="4910328" cy="91439"/>
          </a:xfrm>
          <a:prstGeom prst="rect">
            <a:avLst/>
          </a:prstGeom>
          <a:noFill/>
        </p:spPr>
        <p:txBody>
          <a:bodyPr wrap="square" lIns="18288" rIns="18288" tIns="18288" bIns="18288" anchor="t">
            <a:spAutoFit/>
          </a:bodyPr>
          <a:lstStyle/>
          <a:p>
            <a:pPr algn="l">
              <a:spcAft>
                <a:spcPts val="500"/>
              </a:spcAft>
              <a:defRPr sz="860" b="0">
                <a:solidFill>
                  <a:srgbClr val="212B36"/>
                </a:solidFill>
                <a:latin typeface="Aptos"/>
              </a:defRPr>
            </a:pPr>
            <a:r>
              <a:t>Investigate the solution in a methodical way including but not limited to necessary literature survey, experiment design and synthesis of information. (C6‐PLO4)</a:t>
            </a:r>
          </a:p>
        </p:txBody>
      </p:sp>
      <p:sp>
        <p:nvSpPr>
          <p:cNvPr id="23" name="Rounded Rectangle 22"/>
          <p:cNvSpPr/>
          <p:nvPr/>
        </p:nvSpPr>
        <p:spPr>
          <a:xfrm>
            <a:off x="658368" y="3035808"/>
            <a:ext cx="5321808"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8368" y="3035808"/>
            <a:ext cx="64008" cy="804672"/>
          </a:xfrm>
          <a:prstGeom prst="rect">
            <a:avLst/>
          </a:prstGeom>
          <a:solidFill>
            <a:srgbClr val="D5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6968" y="3200400"/>
            <a:ext cx="4910328" cy="347472"/>
          </a:xfrm>
          <a:prstGeom prst="rect">
            <a:avLst/>
          </a:prstGeom>
          <a:noFill/>
        </p:spPr>
        <p:txBody>
          <a:bodyPr wrap="square" lIns="18288" rIns="18288" tIns="18288" bIns="18288" anchor="t">
            <a:spAutoFit/>
          </a:bodyPr>
          <a:lstStyle/>
          <a:p>
            <a:pPr algn="l">
              <a:spcAft>
                <a:spcPts val="500"/>
              </a:spcAft>
              <a:defRPr sz="950" b="1">
                <a:solidFill>
                  <a:srgbClr val="0C192D"/>
                </a:solidFill>
                <a:latin typeface="Aptos"/>
              </a:defRPr>
            </a:pPr>
            <a:r>
              <a:t>C05</a:t>
            </a:r>
          </a:p>
        </p:txBody>
      </p:sp>
      <p:sp>
        <p:nvSpPr>
          <p:cNvPr id="26" name="TextBox 25"/>
          <p:cNvSpPr txBox="1"/>
          <p:nvPr/>
        </p:nvSpPr>
        <p:spPr>
          <a:xfrm>
            <a:off x="886968" y="3602736"/>
            <a:ext cx="4910328" cy="91439"/>
          </a:xfrm>
          <a:prstGeom prst="rect">
            <a:avLst/>
          </a:prstGeom>
          <a:noFill/>
        </p:spPr>
        <p:txBody>
          <a:bodyPr wrap="square" lIns="18288" rIns="18288" tIns="18288" bIns="18288" anchor="t">
            <a:spAutoFit/>
          </a:bodyPr>
          <a:lstStyle/>
          <a:p>
            <a:pPr algn="l">
              <a:spcAft>
                <a:spcPts val="500"/>
              </a:spcAft>
              <a:defRPr sz="860" b="0">
                <a:solidFill>
                  <a:srgbClr val="212B36"/>
                </a:solidFill>
                <a:latin typeface="Aptos"/>
              </a:defRPr>
            </a:pPr>
            <a:r>
              <a:t>Describe the proposed solution’s societal implications such as its health and safety aspects in accordance with UN sustainable development goals. (A3-PLO6)</a:t>
            </a:r>
          </a:p>
        </p:txBody>
      </p:sp>
      <p:sp>
        <p:nvSpPr>
          <p:cNvPr id="27" name="Rounded Rectangle 26"/>
          <p:cNvSpPr/>
          <p:nvPr/>
        </p:nvSpPr>
        <p:spPr>
          <a:xfrm>
            <a:off x="6254496" y="3035808"/>
            <a:ext cx="5321808"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54496" y="3035808"/>
            <a:ext cx="64008" cy="804672"/>
          </a:xfrm>
          <a:prstGeom prst="rect">
            <a:avLst/>
          </a:prstGeom>
          <a:solidFill>
            <a:srgbClr val="765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83096" y="3200400"/>
            <a:ext cx="4910328" cy="347472"/>
          </a:xfrm>
          <a:prstGeom prst="rect">
            <a:avLst/>
          </a:prstGeom>
          <a:noFill/>
        </p:spPr>
        <p:txBody>
          <a:bodyPr wrap="square" lIns="18288" rIns="18288" tIns="18288" bIns="18288" anchor="t">
            <a:spAutoFit/>
          </a:bodyPr>
          <a:lstStyle/>
          <a:p>
            <a:pPr algn="l">
              <a:spcAft>
                <a:spcPts val="500"/>
              </a:spcAft>
              <a:defRPr sz="950" b="1">
                <a:solidFill>
                  <a:srgbClr val="0C192D"/>
                </a:solidFill>
                <a:latin typeface="Aptos"/>
              </a:defRPr>
            </a:pPr>
            <a:r>
              <a:t>C06</a:t>
            </a:r>
          </a:p>
        </p:txBody>
      </p:sp>
      <p:sp>
        <p:nvSpPr>
          <p:cNvPr id="30" name="TextBox 29"/>
          <p:cNvSpPr txBox="1"/>
          <p:nvPr/>
        </p:nvSpPr>
        <p:spPr>
          <a:xfrm>
            <a:off x="6483096" y="3602736"/>
            <a:ext cx="4910328" cy="91439"/>
          </a:xfrm>
          <a:prstGeom prst="rect">
            <a:avLst/>
          </a:prstGeom>
          <a:noFill/>
        </p:spPr>
        <p:txBody>
          <a:bodyPr wrap="square" lIns="18288" rIns="18288" tIns="18288" bIns="18288" anchor="t">
            <a:spAutoFit/>
          </a:bodyPr>
          <a:lstStyle/>
          <a:p>
            <a:pPr algn="l">
              <a:spcAft>
                <a:spcPts val="500"/>
              </a:spcAft>
              <a:defRPr sz="860" b="0">
                <a:solidFill>
                  <a:srgbClr val="212B36"/>
                </a:solidFill>
                <a:latin typeface="Aptos"/>
              </a:defRPr>
            </a:pPr>
            <a:r>
              <a:t>Describe the proposed solution’s sustainable development considerations keeping in view the criteria given in UN sustainable development goals. (A3-PLO7)</a:t>
            </a:r>
          </a:p>
        </p:txBody>
      </p:sp>
      <p:sp>
        <p:nvSpPr>
          <p:cNvPr id="31" name="Rounded Rectangle 30"/>
          <p:cNvSpPr/>
          <p:nvPr/>
        </p:nvSpPr>
        <p:spPr>
          <a:xfrm>
            <a:off x="658368" y="3968496"/>
            <a:ext cx="5321808"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8368" y="3968496"/>
            <a:ext cx="64008" cy="804672"/>
          </a:xfrm>
          <a:prstGeom prst="rect">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86968" y="4133087"/>
            <a:ext cx="4910328" cy="347472"/>
          </a:xfrm>
          <a:prstGeom prst="rect">
            <a:avLst/>
          </a:prstGeom>
          <a:noFill/>
        </p:spPr>
        <p:txBody>
          <a:bodyPr wrap="square" lIns="18288" rIns="18288" tIns="18288" bIns="18288" anchor="t">
            <a:spAutoFit/>
          </a:bodyPr>
          <a:lstStyle/>
          <a:p>
            <a:pPr algn="l">
              <a:spcAft>
                <a:spcPts val="500"/>
              </a:spcAft>
              <a:defRPr sz="950" b="1">
                <a:solidFill>
                  <a:srgbClr val="0C192D"/>
                </a:solidFill>
                <a:latin typeface="Aptos"/>
              </a:defRPr>
            </a:pPr>
            <a:r>
              <a:t>C07</a:t>
            </a:r>
          </a:p>
        </p:txBody>
      </p:sp>
      <p:sp>
        <p:nvSpPr>
          <p:cNvPr id="34" name="TextBox 33"/>
          <p:cNvSpPr txBox="1"/>
          <p:nvPr/>
        </p:nvSpPr>
        <p:spPr>
          <a:xfrm>
            <a:off x="886968" y="4535424"/>
            <a:ext cx="4910328" cy="91439"/>
          </a:xfrm>
          <a:prstGeom prst="rect">
            <a:avLst/>
          </a:prstGeom>
          <a:noFill/>
        </p:spPr>
        <p:txBody>
          <a:bodyPr wrap="square" lIns="18288" rIns="18288" tIns="18288" bIns="18288" anchor="t">
            <a:spAutoFit/>
          </a:bodyPr>
          <a:lstStyle/>
          <a:p>
            <a:pPr algn="l">
              <a:spcAft>
                <a:spcPts val="500"/>
              </a:spcAft>
              <a:defRPr sz="860" b="0">
                <a:solidFill>
                  <a:srgbClr val="212B36"/>
                </a:solidFill>
                <a:latin typeface="Aptos"/>
              </a:defRPr>
            </a:pPr>
            <a:r>
              <a:t>Develop a solution in accordance with the norms of engineering practice and professional ethics also proposed in UN sustainable development goal targeting responsible consumption and production. (A3‐ PLO8)</a:t>
            </a:r>
          </a:p>
        </p:txBody>
      </p:sp>
      <p:sp>
        <p:nvSpPr>
          <p:cNvPr id="35" name="Rounded Rectangle 34"/>
          <p:cNvSpPr/>
          <p:nvPr/>
        </p:nvSpPr>
        <p:spPr>
          <a:xfrm>
            <a:off x="6254496" y="3968496"/>
            <a:ext cx="5321808"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54496" y="3968496"/>
            <a:ext cx="64008" cy="804672"/>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83096" y="4133087"/>
            <a:ext cx="4910328" cy="347472"/>
          </a:xfrm>
          <a:prstGeom prst="rect">
            <a:avLst/>
          </a:prstGeom>
          <a:noFill/>
        </p:spPr>
        <p:txBody>
          <a:bodyPr wrap="square" lIns="18288" rIns="18288" tIns="18288" bIns="18288" anchor="t">
            <a:spAutoFit/>
          </a:bodyPr>
          <a:lstStyle/>
          <a:p>
            <a:pPr algn="l">
              <a:spcAft>
                <a:spcPts val="500"/>
              </a:spcAft>
              <a:defRPr sz="950" b="1">
                <a:solidFill>
                  <a:srgbClr val="0C192D"/>
                </a:solidFill>
                <a:latin typeface="Aptos"/>
              </a:defRPr>
            </a:pPr>
            <a:r>
              <a:t>C08</a:t>
            </a:r>
          </a:p>
        </p:txBody>
      </p:sp>
      <p:sp>
        <p:nvSpPr>
          <p:cNvPr id="38" name="TextBox 37"/>
          <p:cNvSpPr txBox="1"/>
          <p:nvPr/>
        </p:nvSpPr>
        <p:spPr>
          <a:xfrm>
            <a:off x="6483096" y="4535424"/>
            <a:ext cx="4910328" cy="91439"/>
          </a:xfrm>
          <a:prstGeom prst="rect">
            <a:avLst/>
          </a:prstGeom>
          <a:noFill/>
        </p:spPr>
        <p:txBody>
          <a:bodyPr wrap="square" lIns="18288" rIns="18288" tIns="18288" bIns="18288" anchor="t">
            <a:spAutoFit/>
          </a:bodyPr>
          <a:lstStyle/>
          <a:p>
            <a:pPr algn="l">
              <a:spcAft>
                <a:spcPts val="500"/>
              </a:spcAft>
              <a:defRPr sz="860" b="0">
                <a:solidFill>
                  <a:srgbClr val="212B36"/>
                </a:solidFill>
                <a:latin typeface="Aptos"/>
              </a:defRPr>
            </a:pPr>
            <a:r>
              <a:t>Contribute to the project goals both as an individual and a team player. (A3‐PLO9)</a:t>
            </a:r>
          </a:p>
        </p:txBody>
      </p:sp>
      <p:sp>
        <p:nvSpPr>
          <p:cNvPr id="39" name="Rounded Rectangle 38"/>
          <p:cNvSpPr/>
          <p:nvPr/>
        </p:nvSpPr>
        <p:spPr>
          <a:xfrm>
            <a:off x="658368" y="4901184"/>
            <a:ext cx="5321808"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58368" y="4901184"/>
            <a:ext cx="64008" cy="804672"/>
          </a:xfrm>
          <a:prstGeom prst="rect">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86968" y="5065776"/>
            <a:ext cx="4910328" cy="347472"/>
          </a:xfrm>
          <a:prstGeom prst="rect">
            <a:avLst/>
          </a:prstGeom>
          <a:noFill/>
        </p:spPr>
        <p:txBody>
          <a:bodyPr wrap="square" lIns="18288" rIns="18288" tIns="18288" bIns="18288" anchor="t">
            <a:spAutoFit/>
          </a:bodyPr>
          <a:lstStyle/>
          <a:p>
            <a:pPr algn="l">
              <a:spcAft>
                <a:spcPts val="500"/>
              </a:spcAft>
              <a:defRPr sz="950" b="1">
                <a:solidFill>
                  <a:srgbClr val="0C192D"/>
                </a:solidFill>
                <a:latin typeface="Aptos"/>
              </a:defRPr>
            </a:pPr>
            <a:r>
              <a:t>C09</a:t>
            </a:r>
          </a:p>
        </p:txBody>
      </p:sp>
      <p:sp>
        <p:nvSpPr>
          <p:cNvPr id="42" name="TextBox 41"/>
          <p:cNvSpPr txBox="1"/>
          <p:nvPr/>
        </p:nvSpPr>
        <p:spPr>
          <a:xfrm>
            <a:off x="886968" y="5468112"/>
            <a:ext cx="4910328" cy="91439"/>
          </a:xfrm>
          <a:prstGeom prst="rect">
            <a:avLst/>
          </a:prstGeom>
          <a:noFill/>
        </p:spPr>
        <p:txBody>
          <a:bodyPr wrap="square" lIns="18288" rIns="18288" tIns="18288" bIns="18288" anchor="t">
            <a:spAutoFit/>
          </a:bodyPr>
          <a:lstStyle/>
          <a:p>
            <a:pPr algn="l">
              <a:spcAft>
                <a:spcPts val="500"/>
              </a:spcAft>
              <a:defRPr sz="860" b="0">
                <a:solidFill>
                  <a:srgbClr val="212B36"/>
                </a:solidFill>
                <a:latin typeface="Aptos"/>
              </a:defRPr>
            </a:pPr>
            <a:r>
              <a:t>Effectively communicate and justify the developed solution and be able to demonstrate the project to any general audience. (A2‐PLO10)</a:t>
            </a:r>
          </a:p>
        </p:txBody>
      </p:sp>
      <p:sp>
        <p:nvSpPr>
          <p:cNvPr id="43" name="Rounded Rectangle 42"/>
          <p:cNvSpPr/>
          <p:nvPr/>
        </p:nvSpPr>
        <p:spPr>
          <a:xfrm>
            <a:off x="6254496" y="4901184"/>
            <a:ext cx="5321808"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254496" y="4901184"/>
            <a:ext cx="64008" cy="804672"/>
          </a:xfrm>
          <a:prstGeom prst="rect">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3096" y="5065776"/>
            <a:ext cx="4910328" cy="347472"/>
          </a:xfrm>
          <a:prstGeom prst="rect">
            <a:avLst/>
          </a:prstGeom>
          <a:noFill/>
        </p:spPr>
        <p:txBody>
          <a:bodyPr wrap="square" lIns="18288" rIns="18288" tIns="18288" bIns="18288" anchor="t">
            <a:spAutoFit/>
          </a:bodyPr>
          <a:lstStyle/>
          <a:p>
            <a:pPr algn="l">
              <a:spcAft>
                <a:spcPts val="500"/>
              </a:spcAft>
              <a:defRPr sz="950" b="1">
                <a:solidFill>
                  <a:srgbClr val="0C192D"/>
                </a:solidFill>
                <a:latin typeface="Aptos"/>
              </a:defRPr>
            </a:pPr>
            <a:r>
              <a:t>C10</a:t>
            </a:r>
          </a:p>
        </p:txBody>
      </p:sp>
      <p:sp>
        <p:nvSpPr>
          <p:cNvPr id="46" name="TextBox 45"/>
          <p:cNvSpPr txBox="1"/>
          <p:nvPr/>
        </p:nvSpPr>
        <p:spPr>
          <a:xfrm>
            <a:off x="6483096" y="5468112"/>
            <a:ext cx="4910328" cy="91439"/>
          </a:xfrm>
          <a:prstGeom prst="rect">
            <a:avLst/>
          </a:prstGeom>
          <a:noFill/>
        </p:spPr>
        <p:txBody>
          <a:bodyPr wrap="square" lIns="18288" rIns="18288" tIns="18288" bIns="18288" anchor="t">
            <a:spAutoFit/>
          </a:bodyPr>
          <a:lstStyle/>
          <a:p>
            <a:pPr algn="l">
              <a:spcAft>
                <a:spcPts val="500"/>
              </a:spcAft>
              <a:defRPr sz="860" b="0">
                <a:solidFill>
                  <a:srgbClr val="212B36"/>
                </a:solidFill>
                <a:latin typeface="Aptos"/>
              </a:defRPr>
            </a:pPr>
            <a:r>
              <a:t>Demonstrate management skills to achieve project goals in a timely manner. (A3‐PLO11)</a:t>
            </a:r>
          </a:p>
        </p:txBody>
      </p:sp>
      <p:sp>
        <p:nvSpPr>
          <p:cNvPr id="47" name="Rounded Rectangle 46"/>
          <p:cNvSpPr/>
          <p:nvPr/>
        </p:nvSpPr>
        <p:spPr>
          <a:xfrm>
            <a:off x="658368" y="5833872"/>
            <a:ext cx="5321808"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58368" y="5833872"/>
            <a:ext cx="64008" cy="804672"/>
          </a:xfrm>
          <a:prstGeom prst="rect">
            <a:avLst/>
          </a:prstGeom>
          <a:solidFill>
            <a:srgbClr val="D5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86968" y="5998464"/>
            <a:ext cx="4910328" cy="347472"/>
          </a:xfrm>
          <a:prstGeom prst="rect">
            <a:avLst/>
          </a:prstGeom>
          <a:noFill/>
        </p:spPr>
        <p:txBody>
          <a:bodyPr wrap="square" lIns="18288" rIns="18288" tIns="18288" bIns="18288" anchor="t">
            <a:spAutoFit/>
          </a:bodyPr>
          <a:lstStyle/>
          <a:p>
            <a:pPr algn="l">
              <a:spcAft>
                <a:spcPts val="500"/>
              </a:spcAft>
              <a:defRPr sz="950" b="1">
                <a:solidFill>
                  <a:srgbClr val="0C192D"/>
                </a:solidFill>
                <a:latin typeface="Aptos"/>
              </a:defRPr>
            </a:pPr>
            <a:r>
              <a:t>C11</a:t>
            </a:r>
          </a:p>
        </p:txBody>
      </p:sp>
      <p:sp>
        <p:nvSpPr>
          <p:cNvPr id="50" name="TextBox 49"/>
          <p:cNvSpPr txBox="1"/>
          <p:nvPr/>
        </p:nvSpPr>
        <p:spPr>
          <a:xfrm>
            <a:off x="886968" y="6400800"/>
            <a:ext cx="4910328" cy="91439"/>
          </a:xfrm>
          <a:prstGeom prst="rect">
            <a:avLst/>
          </a:prstGeom>
          <a:noFill/>
        </p:spPr>
        <p:txBody>
          <a:bodyPr wrap="square" lIns="18288" rIns="18288" tIns="18288" bIns="18288" anchor="t">
            <a:spAutoFit/>
          </a:bodyPr>
          <a:lstStyle/>
          <a:p>
            <a:pPr algn="l">
              <a:spcAft>
                <a:spcPts val="500"/>
              </a:spcAft>
              <a:defRPr sz="860" b="0">
                <a:solidFill>
                  <a:srgbClr val="212B36"/>
                </a:solidFill>
                <a:latin typeface="Aptos"/>
              </a:defRPr>
            </a:pPr>
            <a:r>
              <a:t>Demonstrate an ability to independently seek and acquire knowledge required for successful project completion. (A3‐PLO12)</a:t>
            </a:r>
          </a:p>
        </p:txBody>
      </p:sp>
      <p:sp>
        <p:nvSpPr>
          <p:cNvPr id="51" name="TextBox 50"/>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COMSATS University Islamabad • Department of Computer Engineering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0C192D"/>
                </a:solidFill>
                <a:latin typeface="Aptos Display"/>
              </a:defRPr>
            </a:pPr>
            <a:r>
              <a:t>Important: prior write-up is your foundation</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1A74BE"/>
                </a:solidFill>
                <a:latin typeface="Aptos"/>
              </a:defRPr>
            </a:pPr>
            <a:r>
              <a:t>03 • OUTCOMES</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5C6A78"/>
                </a:solidFill>
                <a:latin typeface="Aptos"/>
              </a:defRPr>
            </a:pPr>
            <a:r>
              <a:t>08</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115568"/>
            <a:ext cx="8961120" cy="384048"/>
          </a:xfrm>
          <a:prstGeom prst="rect">
            <a:avLst/>
          </a:prstGeom>
          <a:noFill/>
        </p:spPr>
        <p:txBody>
          <a:bodyPr wrap="square" lIns="18288" rIns="18288" tIns="18288" bIns="18288" anchor="t">
            <a:spAutoFit/>
          </a:bodyPr>
          <a:lstStyle/>
          <a:p>
            <a:pPr algn="l">
              <a:spcAft>
                <a:spcPts val="500"/>
              </a:spcAft>
              <a:defRPr sz="1800" b="1">
                <a:solidFill>
                  <a:srgbClr val="0C192D"/>
                </a:solidFill>
                <a:latin typeface="Aptos"/>
              </a:defRPr>
            </a:pPr>
            <a:r>
              <a:t>The three written phases are derived from the phase before them.</a:t>
            </a:r>
          </a:p>
        </p:txBody>
      </p:sp>
      <p:sp>
        <p:nvSpPr>
          <p:cNvPr id="8" name="Rounded Rectangle 7"/>
          <p:cNvSpPr/>
          <p:nvPr/>
        </p:nvSpPr>
        <p:spPr>
          <a:xfrm>
            <a:off x="685800" y="1874519"/>
            <a:ext cx="3456432"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874519"/>
            <a:ext cx="64008" cy="1325880"/>
          </a:xfrm>
          <a:prstGeom prst="rect">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039112"/>
            <a:ext cx="3044951" cy="347472"/>
          </a:xfrm>
          <a:prstGeom prst="rect">
            <a:avLst/>
          </a:prstGeom>
          <a:noFill/>
        </p:spPr>
        <p:txBody>
          <a:bodyPr wrap="square" lIns="18288" rIns="18288" tIns="18288" bIns="18288" anchor="t">
            <a:spAutoFit/>
          </a:bodyPr>
          <a:lstStyle/>
          <a:p>
            <a:pPr algn="l">
              <a:spcAft>
                <a:spcPts val="500"/>
              </a:spcAft>
              <a:defRPr sz="1300" b="1">
                <a:solidFill>
                  <a:srgbClr val="0C192D"/>
                </a:solidFill>
                <a:latin typeface="Aptos"/>
              </a:defRPr>
            </a:pPr>
            <a:r>
              <a:t>PROPOSAL</a:t>
            </a:r>
          </a:p>
        </p:txBody>
      </p:sp>
      <p:sp>
        <p:nvSpPr>
          <p:cNvPr id="11" name="TextBox 10"/>
          <p:cNvSpPr txBox="1"/>
          <p:nvPr/>
        </p:nvSpPr>
        <p:spPr>
          <a:xfrm>
            <a:off x="914400" y="2441448"/>
            <a:ext cx="3044951" cy="612647"/>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Think deeply, read widely, plan the study.</a:t>
            </a:r>
          </a:p>
        </p:txBody>
      </p:sp>
      <p:sp>
        <p:nvSpPr>
          <p:cNvPr id="12" name="Chevron 11"/>
          <p:cNvSpPr/>
          <p:nvPr/>
        </p:nvSpPr>
        <p:spPr>
          <a:xfrm>
            <a:off x="4165091" y="2377439"/>
            <a:ext cx="118872" cy="320040"/>
          </a:xfrm>
          <a:prstGeom prst="chevron">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06824" y="1874519"/>
            <a:ext cx="3456432"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6824" y="1874519"/>
            <a:ext cx="64008" cy="1325880"/>
          </a:xfrm>
          <a:prstGeom prst="rect">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2039112"/>
            <a:ext cx="3044951" cy="347472"/>
          </a:xfrm>
          <a:prstGeom prst="rect">
            <a:avLst/>
          </a:prstGeom>
          <a:noFill/>
        </p:spPr>
        <p:txBody>
          <a:bodyPr wrap="square" lIns="18288" rIns="18288" tIns="18288" bIns="18288" anchor="t">
            <a:spAutoFit/>
          </a:bodyPr>
          <a:lstStyle/>
          <a:p>
            <a:pPr algn="l">
              <a:spcAft>
                <a:spcPts val="500"/>
              </a:spcAft>
              <a:defRPr sz="1300" b="1">
                <a:solidFill>
                  <a:srgbClr val="0C192D"/>
                </a:solidFill>
                <a:latin typeface="Aptos"/>
              </a:defRPr>
            </a:pPr>
            <a:r>
              <a:t>PROGRESS REPORT</a:t>
            </a:r>
          </a:p>
        </p:txBody>
      </p:sp>
      <p:sp>
        <p:nvSpPr>
          <p:cNvPr id="16" name="TextBox 15"/>
          <p:cNvSpPr txBox="1"/>
          <p:nvPr/>
        </p:nvSpPr>
        <p:spPr>
          <a:xfrm>
            <a:off x="4535424" y="2441448"/>
            <a:ext cx="3044951" cy="612647"/>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Evolve from the proposal — do not reinvent it.</a:t>
            </a:r>
          </a:p>
        </p:txBody>
      </p:sp>
      <p:sp>
        <p:nvSpPr>
          <p:cNvPr id="17" name="Chevron 16"/>
          <p:cNvSpPr/>
          <p:nvPr/>
        </p:nvSpPr>
        <p:spPr>
          <a:xfrm>
            <a:off x="7786116" y="2377439"/>
            <a:ext cx="118872" cy="320040"/>
          </a:xfrm>
          <a:prstGeom prst="chevron">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927848" y="1874519"/>
            <a:ext cx="3456432"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27848" y="1874519"/>
            <a:ext cx="64008" cy="1325880"/>
          </a:xfrm>
          <a:prstGeom prst="rect">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56448" y="2039112"/>
            <a:ext cx="3044951" cy="347472"/>
          </a:xfrm>
          <a:prstGeom prst="rect">
            <a:avLst/>
          </a:prstGeom>
          <a:noFill/>
        </p:spPr>
        <p:txBody>
          <a:bodyPr wrap="square" lIns="18288" rIns="18288" tIns="18288" bIns="18288" anchor="t">
            <a:spAutoFit/>
          </a:bodyPr>
          <a:lstStyle/>
          <a:p>
            <a:pPr algn="l">
              <a:spcAft>
                <a:spcPts val="500"/>
              </a:spcAft>
              <a:defRPr sz="1300" b="1">
                <a:solidFill>
                  <a:srgbClr val="0C192D"/>
                </a:solidFill>
                <a:latin typeface="Aptos"/>
              </a:defRPr>
            </a:pPr>
            <a:r>
              <a:t>FINAL FYP</a:t>
            </a:r>
          </a:p>
        </p:txBody>
      </p:sp>
      <p:sp>
        <p:nvSpPr>
          <p:cNvPr id="21" name="TextBox 20"/>
          <p:cNvSpPr txBox="1"/>
          <p:nvPr/>
        </p:nvSpPr>
        <p:spPr>
          <a:xfrm>
            <a:off x="8156448" y="2441448"/>
            <a:ext cx="3044951" cy="612647"/>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Consolidate the work, results and contribution.</a:t>
            </a:r>
          </a:p>
        </p:txBody>
      </p:sp>
      <p:sp>
        <p:nvSpPr>
          <p:cNvPr id="22" name="Rounded Rectangle 21"/>
          <p:cNvSpPr/>
          <p:nvPr/>
        </p:nvSpPr>
        <p:spPr>
          <a:xfrm>
            <a:off x="731520" y="3703320"/>
            <a:ext cx="3429000"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0" y="3703320"/>
            <a:ext cx="64008" cy="1417320"/>
          </a:xfrm>
          <a:prstGeom prst="rect">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3867911"/>
            <a:ext cx="3017520" cy="347472"/>
          </a:xfrm>
          <a:prstGeom prst="rect">
            <a:avLst/>
          </a:prstGeom>
          <a:noFill/>
        </p:spPr>
        <p:txBody>
          <a:bodyPr wrap="square" lIns="18288" rIns="18288" tIns="18288" bIns="18288" anchor="t">
            <a:spAutoFit/>
          </a:bodyPr>
          <a:lstStyle/>
          <a:p>
            <a:pPr algn="l">
              <a:spcAft>
                <a:spcPts val="500"/>
              </a:spcAft>
              <a:defRPr sz="1300" b="1">
                <a:solidFill>
                  <a:srgbClr val="0C192D"/>
                </a:solidFill>
                <a:latin typeface="Aptos"/>
              </a:defRPr>
            </a:pPr>
            <a:r>
              <a:t>Work smart</a:t>
            </a:r>
          </a:p>
        </p:txBody>
      </p:sp>
      <p:sp>
        <p:nvSpPr>
          <p:cNvPr id="25" name="TextBox 24"/>
          <p:cNvSpPr txBox="1"/>
          <p:nvPr/>
        </p:nvSpPr>
        <p:spPr>
          <a:xfrm>
            <a:off x="960120" y="4270248"/>
            <a:ext cx="3017520" cy="704088"/>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Put time and effort into thinking and reading about your topic at the Proposal phase.</a:t>
            </a:r>
          </a:p>
        </p:txBody>
      </p:sp>
      <p:sp>
        <p:nvSpPr>
          <p:cNvPr id="26" name="Rounded Rectangle 25"/>
          <p:cNvSpPr/>
          <p:nvPr/>
        </p:nvSpPr>
        <p:spPr>
          <a:xfrm>
            <a:off x="4370832" y="3703320"/>
            <a:ext cx="3429000"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70832" y="3703320"/>
            <a:ext cx="64008" cy="1417320"/>
          </a:xfrm>
          <a:prstGeom prst="rect">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9432" y="3867911"/>
            <a:ext cx="3017520" cy="347472"/>
          </a:xfrm>
          <a:prstGeom prst="rect">
            <a:avLst/>
          </a:prstGeom>
          <a:noFill/>
        </p:spPr>
        <p:txBody>
          <a:bodyPr wrap="square" lIns="18288" rIns="18288" tIns="18288" bIns="18288" anchor="t">
            <a:spAutoFit/>
          </a:bodyPr>
          <a:lstStyle/>
          <a:p>
            <a:pPr algn="l">
              <a:spcAft>
                <a:spcPts val="500"/>
              </a:spcAft>
              <a:defRPr sz="1300" b="1">
                <a:solidFill>
                  <a:srgbClr val="0C192D"/>
                </a:solidFill>
                <a:latin typeface="Aptos"/>
              </a:defRPr>
            </a:pPr>
            <a:r>
              <a:t>Use future tense</a:t>
            </a:r>
          </a:p>
        </p:txBody>
      </p:sp>
      <p:sp>
        <p:nvSpPr>
          <p:cNvPr id="29" name="TextBox 28"/>
          <p:cNvSpPr txBox="1"/>
          <p:nvPr/>
        </p:nvSpPr>
        <p:spPr>
          <a:xfrm>
            <a:off x="4599432" y="4270248"/>
            <a:ext cx="3017520" cy="704088"/>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FYP proposal is an outline of proposed research to be undertaken in future. Example: “A survey method will be employed…”</a:t>
            </a:r>
          </a:p>
        </p:txBody>
      </p:sp>
      <p:sp>
        <p:nvSpPr>
          <p:cNvPr id="30" name="Rounded Rectangle 29"/>
          <p:cNvSpPr/>
          <p:nvPr/>
        </p:nvSpPr>
        <p:spPr>
          <a:xfrm>
            <a:off x="8010144" y="3703320"/>
            <a:ext cx="3429000"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10144" y="3703320"/>
            <a:ext cx="64008" cy="1417320"/>
          </a:xfrm>
          <a:prstGeom prst="rect">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38744" y="3867911"/>
            <a:ext cx="3017520" cy="347472"/>
          </a:xfrm>
          <a:prstGeom prst="rect">
            <a:avLst/>
          </a:prstGeom>
          <a:noFill/>
        </p:spPr>
        <p:txBody>
          <a:bodyPr wrap="square" lIns="18288" rIns="18288" tIns="18288" bIns="18288" anchor="t">
            <a:spAutoFit/>
          </a:bodyPr>
          <a:lstStyle/>
          <a:p>
            <a:pPr algn="l">
              <a:spcAft>
                <a:spcPts val="500"/>
              </a:spcAft>
              <a:defRPr sz="1300" b="1">
                <a:solidFill>
                  <a:srgbClr val="0C192D"/>
                </a:solidFill>
                <a:latin typeface="Aptos"/>
              </a:defRPr>
            </a:pPr>
            <a:r>
              <a:t>Keep scope aligned</a:t>
            </a:r>
          </a:p>
        </p:txBody>
      </p:sp>
      <p:sp>
        <p:nvSpPr>
          <p:cNvPr id="33" name="TextBox 32"/>
          <p:cNvSpPr txBox="1"/>
          <p:nvPr/>
        </p:nvSpPr>
        <p:spPr>
          <a:xfrm>
            <a:off x="8238744" y="4270248"/>
            <a:ext cx="3017520" cy="704088"/>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FYP Scope should map on Sustainable Development Goals (SDGs) as per PEC requirement.</a:t>
            </a:r>
          </a:p>
        </p:txBody>
      </p:sp>
      <p:sp>
        <p:nvSpPr>
          <p:cNvPr id="34" name="Rounded Rectangle 33"/>
          <p:cNvSpPr/>
          <p:nvPr/>
        </p:nvSpPr>
        <p:spPr>
          <a:xfrm>
            <a:off x="2834640" y="5486400"/>
            <a:ext cx="6400800" cy="310896"/>
          </a:xfrm>
          <a:prstGeom prst="roundRect">
            <a:avLst/>
          </a:prstGeom>
          <a:solidFill>
            <a:srgbClr val="FF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880360" y="5522976"/>
            <a:ext cx="6309360" cy="210312"/>
          </a:xfrm>
          <a:prstGeom prst="rect">
            <a:avLst/>
          </a:prstGeom>
          <a:noFill/>
        </p:spPr>
        <p:txBody>
          <a:bodyPr wrap="square" lIns="18288" rIns="18288" tIns="18288" bIns="18288" anchor="ctr">
            <a:spAutoFit/>
          </a:bodyPr>
          <a:lstStyle/>
          <a:p>
            <a:pPr algn="ctr">
              <a:spcAft>
                <a:spcPts val="500"/>
              </a:spcAft>
              <a:defRPr sz="850" b="1">
                <a:solidFill>
                  <a:srgbClr val="F28F2A"/>
                </a:solidFill>
                <a:latin typeface="Aptos"/>
              </a:defRPr>
            </a:pPr>
            <a:r>
              <a:t>Strictly follow the format provided by the department i.e., font sizes etc.</a:t>
            </a:r>
          </a:p>
        </p:txBody>
      </p:sp>
      <p:sp>
        <p:nvSpPr>
          <p:cNvPr id="36" name="TextBox 35"/>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COMSATS University Islamabad • Department of Computer Engineering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C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FFFFFF"/>
                </a:solidFill>
                <a:latin typeface="Aptos Display"/>
              </a:defRPr>
            </a:pPr>
            <a:r>
              <a:t>Sustainable Development Goals (SDGs)</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21B8C9"/>
                </a:solidFill>
                <a:latin typeface="Aptos"/>
              </a:defRPr>
            </a:pPr>
            <a:r>
              <a:t>03 • OUTCOMES</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B9C8D7"/>
                </a:solidFill>
                <a:latin typeface="Aptos"/>
              </a:defRPr>
            </a:pPr>
            <a:r>
              <a:t>09</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09.jpg"/>
          <p:cNvPicPr>
            <a:picLocks noChangeAspect="1"/>
          </p:cNvPicPr>
          <p:nvPr/>
        </p:nvPicPr>
        <p:blipFill>
          <a:blip r:embed="rId2"/>
          <a:stretch>
            <a:fillRect/>
          </a:stretch>
        </p:blipFill>
        <p:spPr>
          <a:xfrm>
            <a:off x="1143000" y="1234440"/>
            <a:ext cx="6400800" cy="4297680"/>
          </a:xfrm>
          <a:prstGeom prst="rect">
            <a:avLst/>
          </a:prstGeom>
        </p:spPr>
      </p:pic>
      <p:sp>
        <p:nvSpPr>
          <p:cNvPr id="8" name="TextBox 7"/>
          <p:cNvSpPr txBox="1"/>
          <p:nvPr/>
        </p:nvSpPr>
        <p:spPr>
          <a:xfrm>
            <a:off x="7818120" y="1325880"/>
            <a:ext cx="3383280" cy="457200"/>
          </a:xfrm>
          <a:prstGeom prst="rect">
            <a:avLst/>
          </a:prstGeom>
          <a:noFill/>
        </p:spPr>
        <p:txBody>
          <a:bodyPr wrap="square" lIns="18288" rIns="18288" tIns="18288" bIns="18288" anchor="t">
            <a:spAutoFit/>
          </a:bodyPr>
          <a:lstStyle/>
          <a:p>
            <a:pPr algn="l">
              <a:spcAft>
                <a:spcPts val="500"/>
              </a:spcAft>
              <a:defRPr sz="1700" b="1">
                <a:solidFill>
                  <a:srgbClr val="FFFFFF"/>
                </a:solidFill>
                <a:latin typeface="Aptos"/>
              </a:defRPr>
            </a:pPr>
            <a:r>
              <a:t>by United Nations 2030 Agenda</a:t>
            </a:r>
          </a:p>
        </p:txBody>
      </p:sp>
      <p:sp>
        <p:nvSpPr>
          <p:cNvPr id="9" name="TextBox 8"/>
          <p:cNvSpPr txBox="1"/>
          <p:nvPr/>
        </p:nvSpPr>
        <p:spPr>
          <a:xfrm>
            <a:off x="7818120" y="2011680"/>
            <a:ext cx="3246120" cy="2148840"/>
          </a:xfrm>
          <a:prstGeom prst="rect">
            <a:avLst/>
          </a:prstGeom>
          <a:noFill/>
        </p:spPr>
        <p:txBody>
          <a:bodyPr wrap="square" lIns="18288" rIns="18288" tIns="18288" bIns="18288" anchor="t">
            <a:spAutoFit/>
          </a:bodyPr>
          <a:lstStyle/>
          <a:p>
            <a:pPr algn="l">
              <a:spcAft>
                <a:spcPts val="500"/>
              </a:spcAft>
              <a:defRPr sz="1300" b="0">
                <a:solidFill>
                  <a:srgbClr val="CDDCEB"/>
                </a:solidFill>
                <a:latin typeface="Aptos"/>
              </a:defRPr>
            </a:pPr>
            <a:r>
              <a:t>This will be accomplished by bringing together their respective governments, businesses, media, institutions of higher education, and local NGOs to improve the lives of the people in their country by the year 2030.</a:t>
            </a:r>
          </a:p>
        </p:txBody>
      </p:sp>
      <p:sp>
        <p:nvSpPr>
          <p:cNvPr id="10" name="Rounded Rectangle 9"/>
          <p:cNvSpPr/>
          <p:nvPr/>
        </p:nvSpPr>
        <p:spPr>
          <a:xfrm>
            <a:off x="7818120" y="4617720"/>
            <a:ext cx="3246120" cy="310896"/>
          </a:xfrm>
          <a:prstGeom prst="roundRect">
            <a:avLst/>
          </a:prstGeom>
          <a:solidFill>
            <a:srgbClr val="1F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4654296"/>
            <a:ext cx="3154679" cy="210312"/>
          </a:xfrm>
          <a:prstGeom prst="rect">
            <a:avLst/>
          </a:prstGeom>
          <a:noFill/>
        </p:spPr>
        <p:txBody>
          <a:bodyPr wrap="square" lIns="18288" rIns="18288" tIns="18288" bIns="18288" anchor="ctr">
            <a:spAutoFit/>
          </a:bodyPr>
          <a:lstStyle/>
          <a:p>
            <a:pPr algn="ctr">
              <a:spcAft>
                <a:spcPts val="500"/>
              </a:spcAft>
              <a:defRPr sz="850" b="1">
                <a:solidFill>
                  <a:srgbClr val="21B8C9"/>
                </a:solidFill>
                <a:latin typeface="Aptos"/>
              </a:defRPr>
            </a:pPr>
            <a:r>
              <a:t>MAP YOUR FYP TO THE RELEVANT SDG(S)</a:t>
            </a:r>
          </a:p>
        </p:txBody>
      </p:sp>
      <p:sp>
        <p:nvSpPr>
          <p:cNvPr id="12" name="TextBox 11"/>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UN 2030 Agenda • FYP scope and sustainability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0C192D"/>
                </a:solidFill>
                <a:latin typeface="Aptos Display"/>
              </a:defRPr>
            </a:pPr>
            <a:r>
              <a:t>Structure of FYP proposal</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1A74BE"/>
                </a:solidFill>
                <a:latin typeface="Aptos"/>
              </a:defRPr>
            </a:pPr>
            <a:r>
              <a:t>04 • PROPOSAL WRITING</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5C6A78"/>
                </a:solidFill>
                <a:latin typeface="Aptos"/>
              </a:defRPr>
            </a:pPr>
            <a:r>
              <a:t>10</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188720"/>
            <a:ext cx="566928" cy="566928"/>
          </a:xfrm>
          <a:prstGeom prst="ellipse">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298448"/>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01</a:t>
            </a:r>
          </a:p>
        </p:txBody>
      </p:sp>
      <p:sp>
        <p:nvSpPr>
          <p:cNvPr id="9" name="TextBox 8"/>
          <p:cNvSpPr txBox="1"/>
          <p:nvPr/>
        </p:nvSpPr>
        <p:spPr>
          <a:xfrm>
            <a:off x="1444752" y="1298448"/>
            <a:ext cx="4480560"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Title Page</a:t>
            </a:r>
          </a:p>
        </p:txBody>
      </p:sp>
      <p:sp>
        <p:nvSpPr>
          <p:cNvPr id="10" name="Oval 9"/>
          <p:cNvSpPr/>
          <p:nvPr/>
        </p:nvSpPr>
        <p:spPr>
          <a:xfrm>
            <a:off x="6217920" y="1188720"/>
            <a:ext cx="566928" cy="566928"/>
          </a:xfrm>
          <a:prstGeom prst="ellipse">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298448"/>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02</a:t>
            </a:r>
          </a:p>
        </p:txBody>
      </p:sp>
      <p:sp>
        <p:nvSpPr>
          <p:cNvPr id="12" name="TextBox 11"/>
          <p:cNvSpPr txBox="1"/>
          <p:nvPr/>
        </p:nvSpPr>
        <p:spPr>
          <a:xfrm>
            <a:off x="6931152" y="1298448"/>
            <a:ext cx="4480560"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Table of Contents</a:t>
            </a:r>
          </a:p>
        </p:txBody>
      </p:sp>
      <p:sp>
        <p:nvSpPr>
          <p:cNvPr id="13" name="Oval 12"/>
          <p:cNvSpPr/>
          <p:nvPr/>
        </p:nvSpPr>
        <p:spPr>
          <a:xfrm>
            <a:off x="731520" y="2267712"/>
            <a:ext cx="566928" cy="566928"/>
          </a:xfrm>
          <a:prstGeom prst="ellipse">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377440"/>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03</a:t>
            </a:r>
          </a:p>
        </p:txBody>
      </p:sp>
      <p:sp>
        <p:nvSpPr>
          <p:cNvPr id="15" name="TextBox 14"/>
          <p:cNvSpPr txBox="1"/>
          <p:nvPr/>
        </p:nvSpPr>
        <p:spPr>
          <a:xfrm>
            <a:off x="1444752" y="2377440"/>
            <a:ext cx="4480560"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Abstract</a:t>
            </a:r>
          </a:p>
        </p:txBody>
      </p:sp>
      <p:sp>
        <p:nvSpPr>
          <p:cNvPr id="16" name="Oval 15"/>
          <p:cNvSpPr/>
          <p:nvPr/>
        </p:nvSpPr>
        <p:spPr>
          <a:xfrm>
            <a:off x="6217920" y="2267712"/>
            <a:ext cx="566928" cy="566928"/>
          </a:xfrm>
          <a:prstGeom prst="ellipse">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0" y="2377440"/>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04</a:t>
            </a:r>
          </a:p>
        </p:txBody>
      </p:sp>
      <p:sp>
        <p:nvSpPr>
          <p:cNvPr id="18" name="TextBox 17"/>
          <p:cNvSpPr txBox="1"/>
          <p:nvPr/>
        </p:nvSpPr>
        <p:spPr>
          <a:xfrm>
            <a:off x="6931152" y="2377440"/>
            <a:ext cx="4480560"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Introduction</a:t>
            </a:r>
          </a:p>
        </p:txBody>
      </p:sp>
      <p:sp>
        <p:nvSpPr>
          <p:cNvPr id="19" name="Oval 18"/>
          <p:cNvSpPr/>
          <p:nvPr/>
        </p:nvSpPr>
        <p:spPr>
          <a:xfrm>
            <a:off x="731520" y="3346704"/>
            <a:ext cx="566928" cy="566928"/>
          </a:xfrm>
          <a:prstGeom prst="ellipse">
            <a:avLst/>
          </a:prstGeom>
          <a:solidFill>
            <a:srgbClr val="D5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456432"/>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05</a:t>
            </a:r>
          </a:p>
        </p:txBody>
      </p:sp>
      <p:sp>
        <p:nvSpPr>
          <p:cNvPr id="21" name="TextBox 20"/>
          <p:cNvSpPr txBox="1"/>
          <p:nvPr/>
        </p:nvSpPr>
        <p:spPr>
          <a:xfrm>
            <a:off x="1444752" y="3456432"/>
            <a:ext cx="4480560"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Methodology</a:t>
            </a:r>
          </a:p>
        </p:txBody>
      </p:sp>
      <p:sp>
        <p:nvSpPr>
          <p:cNvPr id="22" name="Oval 21"/>
          <p:cNvSpPr/>
          <p:nvPr/>
        </p:nvSpPr>
        <p:spPr>
          <a:xfrm>
            <a:off x="6217920" y="3346704"/>
            <a:ext cx="566928" cy="566928"/>
          </a:xfrm>
          <a:prstGeom prst="ellipse">
            <a:avLst/>
          </a:prstGeom>
          <a:solidFill>
            <a:srgbClr val="765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0" y="3456432"/>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05.1</a:t>
            </a:r>
          </a:p>
        </p:txBody>
      </p:sp>
      <p:sp>
        <p:nvSpPr>
          <p:cNvPr id="24" name="TextBox 23"/>
          <p:cNvSpPr txBox="1"/>
          <p:nvPr/>
        </p:nvSpPr>
        <p:spPr>
          <a:xfrm>
            <a:off x="6931152" y="3456432"/>
            <a:ext cx="4480560"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Hardware and Software</a:t>
            </a:r>
          </a:p>
        </p:txBody>
      </p:sp>
      <p:sp>
        <p:nvSpPr>
          <p:cNvPr id="25" name="Oval 24"/>
          <p:cNvSpPr/>
          <p:nvPr/>
        </p:nvSpPr>
        <p:spPr>
          <a:xfrm>
            <a:off x="731520" y="4425696"/>
            <a:ext cx="566928" cy="566928"/>
          </a:xfrm>
          <a:prstGeom prst="ellipse">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535424"/>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05.2</a:t>
            </a:r>
          </a:p>
        </p:txBody>
      </p:sp>
      <p:sp>
        <p:nvSpPr>
          <p:cNvPr id="27" name="TextBox 26"/>
          <p:cNvSpPr txBox="1"/>
          <p:nvPr/>
        </p:nvSpPr>
        <p:spPr>
          <a:xfrm>
            <a:off x="1444752" y="4535424"/>
            <a:ext cx="4480560"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Project Planning and Time Line</a:t>
            </a:r>
          </a:p>
        </p:txBody>
      </p:sp>
      <p:sp>
        <p:nvSpPr>
          <p:cNvPr id="28" name="Oval 27"/>
          <p:cNvSpPr/>
          <p:nvPr/>
        </p:nvSpPr>
        <p:spPr>
          <a:xfrm>
            <a:off x="6217920" y="4425696"/>
            <a:ext cx="566928" cy="566928"/>
          </a:xfrm>
          <a:prstGeom prst="ellipse">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0" y="4535424"/>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06</a:t>
            </a:r>
          </a:p>
        </p:txBody>
      </p:sp>
      <p:sp>
        <p:nvSpPr>
          <p:cNvPr id="30" name="TextBox 29"/>
          <p:cNvSpPr txBox="1"/>
          <p:nvPr/>
        </p:nvSpPr>
        <p:spPr>
          <a:xfrm>
            <a:off x="6931152" y="4535424"/>
            <a:ext cx="4480560"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References</a:t>
            </a:r>
          </a:p>
        </p:txBody>
      </p:sp>
      <p:sp>
        <p:nvSpPr>
          <p:cNvPr id="31" name="Rounded Rectangle 30"/>
          <p:cNvSpPr/>
          <p:nvPr/>
        </p:nvSpPr>
        <p:spPr>
          <a:xfrm>
            <a:off x="731520" y="5623560"/>
            <a:ext cx="10561320" cy="640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1520" y="5623560"/>
            <a:ext cx="64008" cy="640080"/>
          </a:xfrm>
          <a:prstGeom prst="rect">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0120" y="5788152"/>
            <a:ext cx="10149840" cy="347472"/>
          </a:xfrm>
          <a:prstGeom prst="rect">
            <a:avLst/>
          </a:prstGeom>
          <a:noFill/>
        </p:spPr>
        <p:txBody>
          <a:bodyPr wrap="square" lIns="18288" rIns="18288" tIns="18288" bIns="18288" anchor="t">
            <a:spAutoFit/>
          </a:bodyPr>
          <a:lstStyle/>
          <a:p>
            <a:pPr algn="l">
              <a:spcAft>
                <a:spcPts val="500"/>
              </a:spcAft>
              <a:defRPr sz="1100" b="1">
                <a:solidFill>
                  <a:srgbClr val="0C192D"/>
                </a:solidFill>
                <a:latin typeface="Aptos"/>
              </a:defRPr>
            </a:pPr>
            <a:r>
              <a:t>Writing principle</a:t>
            </a:r>
          </a:p>
        </p:txBody>
      </p:sp>
      <p:sp>
        <p:nvSpPr>
          <p:cNvPr id="34" name="TextBox 33"/>
          <p:cNvSpPr txBox="1"/>
          <p:nvPr/>
        </p:nvSpPr>
        <p:spPr>
          <a:xfrm>
            <a:off x="960120" y="6190488"/>
            <a:ext cx="10149840" cy="-73152"/>
          </a:xfrm>
          <a:prstGeom prst="rect">
            <a:avLst/>
          </a:prstGeom>
          <a:noFill/>
        </p:spPr>
        <p:txBody>
          <a:bodyPr wrap="square" lIns="18288" rIns="18288" tIns="18288" bIns="18288" anchor="t">
            <a:spAutoFit/>
          </a:bodyPr>
          <a:lstStyle/>
          <a:p>
            <a:pPr algn="l">
              <a:spcAft>
                <a:spcPts val="500"/>
              </a:spcAft>
              <a:defRPr sz="950" b="0">
                <a:solidFill>
                  <a:srgbClr val="212B36"/>
                </a:solidFill>
                <a:latin typeface="Aptos"/>
              </a:defRPr>
            </a:pPr>
            <a:r>
              <a:t>Each section should answer a clear question: What is the problem? What is known? What will you do? How will you plan it? What sources support it?</a:t>
            </a:r>
          </a:p>
        </p:txBody>
      </p:sp>
      <p:sp>
        <p:nvSpPr>
          <p:cNvPr id="35" name="TextBox 34"/>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COMSATS University Islamabad • Department of Computer Engineering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0C192D"/>
                </a:solidFill>
                <a:latin typeface="Aptos Display"/>
              </a:defRPr>
            </a:pPr>
            <a:r>
              <a:t>Title page: format example</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1A74BE"/>
                </a:solidFill>
                <a:latin typeface="Aptos"/>
              </a:defRPr>
            </a:pPr>
            <a:r>
              <a:t>04 • PROPOSAL WRITING</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5C6A78"/>
                </a:solidFill>
                <a:latin typeface="Aptos"/>
              </a:defRPr>
            </a:pPr>
            <a:r>
              <a:t>11</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11.jpg"/>
          <p:cNvPicPr>
            <a:picLocks noChangeAspect="1"/>
          </p:cNvPicPr>
          <p:nvPr/>
        </p:nvPicPr>
        <p:blipFill>
          <a:blip r:embed="rId2"/>
          <a:stretch>
            <a:fillRect/>
          </a:stretch>
        </p:blipFill>
        <p:spPr>
          <a:xfrm>
            <a:off x="2011680" y="1234440"/>
            <a:ext cx="8138160" cy="4892040"/>
          </a:xfrm>
          <a:prstGeom prst="rect">
            <a:avLst/>
          </a:prstGeom>
        </p:spPr>
      </p:pic>
      <p:sp>
        <p:nvSpPr>
          <p:cNvPr id="8" name="Rounded Rectangle 7"/>
          <p:cNvSpPr/>
          <p:nvPr/>
        </p:nvSpPr>
        <p:spPr>
          <a:xfrm>
            <a:off x="2743200" y="6172200"/>
            <a:ext cx="6675120" cy="310896"/>
          </a:xfrm>
          <a:prstGeom prst="roundRect">
            <a:avLst/>
          </a:prstGeom>
          <a:solidFill>
            <a:srgbClr val="EB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88920" y="6208776"/>
            <a:ext cx="6583680" cy="210312"/>
          </a:xfrm>
          <a:prstGeom prst="rect">
            <a:avLst/>
          </a:prstGeom>
          <a:noFill/>
        </p:spPr>
        <p:txBody>
          <a:bodyPr wrap="square" lIns="18288" rIns="18288" tIns="18288" bIns="18288" anchor="ctr">
            <a:spAutoFit/>
          </a:bodyPr>
          <a:lstStyle/>
          <a:p>
            <a:pPr algn="ctr">
              <a:spcAft>
                <a:spcPts val="500"/>
              </a:spcAft>
              <a:defRPr sz="850" b="1">
                <a:solidFill>
                  <a:srgbClr val="1A74BE"/>
                </a:solidFill>
                <a:latin typeface="Aptos"/>
              </a:defRPr>
            </a:pPr>
            <a:r>
              <a:t>Use the department-provided format; preserve required font sizes and structure.</a:t>
            </a:r>
          </a:p>
        </p:txBody>
      </p:sp>
      <p:sp>
        <p:nvSpPr>
          <p:cNvPr id="10" name="TextBox 9"/>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COMSATS University Islamabad • Department of Computer Engineering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0C192D"/>
                </a:solidFill>
                <a:latin typeface="Aptos Display"/>
              </a:defRPr>
            </a:pPr>
            <a:r>
              <a:t>Table of contents: format example</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1A74BE"/>
                </a:solidFill>
                <a:latin typeface="Aptos"/>
              </a:defRPr>
            </a:pPr>
            <a:r>
              <a:t>04 • PROPOSAL WRITING</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5C6A78"/>
                </a:solidFill>
                <a:latin typeface="Aptos"/>
              </a:defRPr>
            </a:pPr>
            <a:r>
              <a:t>12</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12.jpg"/>
          <p:cNvPicPr>
            <a:picLocks noChangeAspect="1"/>
          </p:cNvPicPr>
          <p:nvPr/>
        </p:nvPicPr>
        <p:blipFill>
          <a:blip r:embed="rId2"/>
          <a:stretch>
            <a:fillRect/>
          </a:stretch>
        </p:blipFill>
        <p:spPr>
          <a:xfrm>
            <a:off x="2011680" y="1234440"/>
            <a:ext cx="8138160" cy="4892040"/>
          </a:xfrm>
          <a:prstGeom prst="rect">
            <a:avLst/>
          </a:prstGeom>
        </p:spPr>
      </p:pic>
      <p:sp>
        <p:nvSpPr>
          <p:cNvPr id="8" name="Rounded Rectangle 7"/>
          <p:cNvSpPr/>
          <p:nvPr/>
        </p:nvSpPr>
        <p:spPr>
          <a:xfrm>
            <a:off x="2743200" y="6172200"/>
            <a:ext cx="6675120" cy="310896"/>
          </a:xfrm>
          <a:prstGeom prst="roundRect">
            <a:avLst/>
          </a:prstGeom>
          <a:solidFill>
            <a:srgbClr val="EB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88920" y="6208776"/>
            <a:ext cx="6583680" cy="210312"/>
          </a:xfrm>
          <a:prstGeom prst="rect">
            <a:avLst/>
          </a:prstGeom>
          <a:noFill/>
        </p:spPr>
        <p:txBody>
          <a:bodyPr wrap="square" lIns="18288" rIns="18288" tIns="18288" bIns="18288" anchor="ctr">
            <a:spAutoFit/>
          </a:bodyPr>
          <a:lstStyle/>
          <a:p>
            <a:pPr algn="ctr">
              <a:spcAft>
                <a:spcPts val="500"/>
              </a:spcAft>
              <a:defRPr sz="850" b="1">
                <a:solidFill>
                  <a:srgbClr val="1A74BE"/>
                </a:solidFill>
                <a:latin typeface="Aptos"/>
              </a:defRPr>
            </a:pPr>
            <a:r>
              <a:t>Use the department-provided format; preserve required font sizes and structure.</a:t>
            </a:r>
          </a:p>
        </p:txBody>
      </p:sp>
      <p:sp>
        <p:nvSpPr>
          <p:cNvPr id="10" name="TextBox 9"/>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COMSATS University Islamabad • Department of Computer Engineering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0C192D"/>
                </a:solidFill>
                <a:latin typeface="Aptos Display"/>
              </a:defRPr>
            </a:pPr>
            <a:r>
              <a:t>Abstract: tell the complete story in 200–300 words</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1A74BE"/>
                </a:solidFill>
                <a:latin typeface="Aptos"/>
              </a:defRPr>
            </a:pPr>
            <a:r>
              <a:t>04 • PROPOSAL WRITING</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5C6A78"/>
                </a:solidFill>
                <a:latin typeface="Aptos"/>
              </a:defRPr>
            </a:pPr>
            <a:r>
              <a:t>13</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097280"/>
            <a:ext cx="10515600" cy="502920"/>
          </a:xfrm>
          <a:prstGeom prst="rect">
            <a:avLst/>
          </a:prstGeom>
          <a:noFill/>
        </p:spPr>
        <p:txBody>
          <a:bodyPr wrap="square" lIns="18288" rIns="18288" tIns="18288" bIns="18288" anchor="t">
            <a:spAutoFit/>
          </a:bodyPr>
          <a:lstStyle/>
          <a:p>
            <a:pPr algn="l">
              <a:spcAft>
                <a:spcPts val="500"/>
              </a:spcAft>
              <a:defRPr sz="1600" b="1">
                <a:solidFill>
                  <a:srgbClr val="0C192D"/>
                </a:solidFill>
                <a:latin typeface="Aptos"/>
              </a:defRPr>
            </a:pPr>
            <a:r>
              <a:t>A concise abstract should allow a non-specialist to understand why the project matters and what it aims to accomplish.</a:t>
            </a:r>
          </a:p>
        </p:txBody>
      </p:sp>
      <p:sp>
        <p:nvSpPr>
          <p:cNvPr id="8" name="Rounded Rectangle 7"/>
          <p:cNvSpPr/>
          <p:nvPr/>
        </p:nvSpPr>
        <p:spPr>
          <a:xfrm>
            <a:off x="713232" y="1874519"/>
            <a:ext cx="5257800" cy="841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13232" y="1874519"/>
            <a:ext cx="64008" cy="841248"/>
          </a:xfrm>
          <a:prstGeom prst="rect">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039112"/>
            <a:ext cx="4846320" cy="347472"/>
          </a:xfrm>
          <a:prstGeom prst="rect">
            <a:avLst/>
          </a:prstGeom>
          <a:noFill/>
        </p:spPr>
        <p:txBody>
          <a:bodyPr wrap="square" lIns="18288" rIns="18288" tIns="18288" bIns="18288" anchor="t">
            <a:spAutoFit/>
          </a:bodyPr>
          <a:lstStyle/>
          <a:p>
            <a:pPr algn="l">
              <a:spcAft>
                <a:spcPts val="500"/>
              </a:spcAft>
              <a:defRPr sz="1100" b="1">
                <a:solidFill>
                  <a:srgbClr val="0C192D"/>
                </a:solidFill>
                <a:latin typeface="Aptos"/>
              </a:defRPr>
            </a:pPr>
            <a:r>
              <a:t>Summary</a:t>
            </a:r>
          </a:p>
        </p:txBody>
      </p:sp>
      <p:sp>
        <p:nvSpPr>
          <p:cNvPr id="11" name="TextBox 10"/>
          <p:cNvSpPr txBox="1"/>
          <p:nvPr/>
        </p:nvSpPr>
        <p:spPr>
          <a:xfrm>
            <a:off x="941832" y="2441448"/>
            <a:ext cx="4846320" cy="128016"/>
          </a:xfrm>
          <a:prstGeom prst="rect">
            <a:avLst/>
          </a:prstGeom>
          <a:noFill/>
        </p:spPr>
        <p:txBody>
          <a:bodyPr wrap="square" lIns="18288" rIns="18288" tIns="18288" bIns="18288" anchor="t">
            <a:spAutoFit/>
          </a:bodyPr>
          <a:lstStyle/>
          <a:p>
            <a:pPr algn="l">
              <a:spcAft>
                <a:spcPts val="500"/>
              </a:spcAft>
              <a:defRPr sz="950" b="0">
                <a:solidFill>
                  <a:srgbClr val="212B36"/>
                </a:solidFill>
                <a:latin typeface="Aptos"/>
              </a:defRPr>
            </a:pPr>
            <a:r>
              <a:t>A summary of 200-300 words</a:t>
            </a:r>
          </a:p>
        </p:txBody>
      </p:sp>
      <p:sp>
        <p:nvSpPr>
          <p:cNvPr id="12" name="Rounded Rectangle 11"/>
          <p:cNvSpPr/>
          <p:nvPr/>
        </p:nvSpPr>
        <p:spPr>
          <a:xfrm>
            <a:off x="6245352" y="1874519"/>
            <a:ext cx="5257800" cy="841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5352" y="1874519"/>
            <a:ext cx="64008" cy="8412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2039112"/>
            <a:ext cx="4846320" cy="347472"/>
          </a:xfrm>
          <a:prstGeom prst="rect">
            <a:avLst/>
          </a:prstGeom>
          <a:noFill/>
        </p:spPr>
        <p:txBody>
          <a:bodyPr wrap="square" lIns="18288" rIns="18288" tIns="18288" bIns="18288" anchor="t">
            <a:spAutoFit/>
          </a:bodyPr>
          <a:lstStyle/>
          <a:p>
            <a:pPr algn="l">
              <a:spcAft>
                <a:spcPts val="500"/>
              </a:spcAft>
              <a:defRPr sz="1100" b="1">
                <a:solidFill>
                  <a:srgbClr val="0C192D"/>
                </a:solidFill>
                <a:latin typeface="Aptos"/>
              </a:defRPr>
            </a:pPr>
            <a:r>
              <a:t>Objectives</a:t>
            </a:r>
          </a:p>
        </p:txBody>
      </p:sp>
      <p:sp>
        <p:nvSpPr>
          <p:cNvPr id="15" name="TextBox 14"/>
          <p:cNvSpPr txBox="1"/>
          <p:nvPr/>
        </p:nvSpPr>
        <p:spPr>
          <a:xfrm>
            <a:off x="6473952" y="2441448"/>
            <a:ext cx="4846320" cy="128016"/>
          </a:xfrm>
          <a:prstGeom prst="rect">
            <a:avLst/>
          </a:prstGeom>
          <a:noFill/>
        </p:spPr>
        <p:txBody>
          <a:bodyPr wrap="square" lIns="18288" rIns="18288" tIns="18288" bIns="18288" anchor="t">
            <a:spAutoFit/>
          </a:bodyPr>
          <a:lstStyle/>
          <a:p>
            <a:pPr algn="l">
              <a:spcAft>
                <a:spcPts val="500"/>
              </a:spcAft>
              <a:defRPr sz="950" b="0">
                <a:solidFill>
                  <a:srgbClr val="212B36"/>
                </a:solidFill>
                <a:latin typeface="Aptos"/>
              </a:defRPr>
            </a:pPr>
            <a:r>
              <a:t>Concisely and Clearly provide objectives</a:t>
            </a:r>
          </a:p>
        </p:txBody>
      </p:sp>
      <p:sp>
        <p:nvSpPr>
          <p:cNvPr id="16" name="Rounded Rectangle 15"/>
          <p:cNvSpPr/>
          <p:nvPr/>
        </p:nvSpPr>
        <p:spPr>
          <a:xfrm>
            <a:off x="713232" y="2926079"/>
            <a:ext cx="5257800" cy="841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13232" y="2926079"/>
            <a:ext cx="64008" cy="841248"/>
          </a:xfrm>
          <a:prstGeom prst="rect">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 y="3090672"/>
            <a:ext cx="4846320" cy="347472"/>
          </a:xfrm>
          <a:prstGeom prst="rect">
            <a:avLst/>
          </a:prstGeom>
          <a:noFill/>
        </p:spPr>
        <p:txBody>
          <a:bodyPr wrap="square" lIns="18288" rIns="18288" tIns="18288" bIns="18288" anchor="t">
            <a:spAutoFit/>
          </a:bodyPr>
          <a:lstStyle/>
          <a:p>
            <a:pPr algn="l">
              <a:spcAft>
                <a:spcPts val="500"/>
              </a:spcAft>
              <a:defRPr sz="1100" b="1">
                <a:solidFill>
                  <a:srgbClr val="0C192D"/>
                </a:solidFill>
                <a:latin typeface="Aptos"/>
              </a:defRPr>
            </a:pPr>
            <a:r>
              <a:t>Story</a:t>
            </a:r>
          </a:p>
        </p:txBody>
      </p:sp>
      <p:sp>
        <p:nvSpPr>
          <p:cNvPr id="19" name="TextBox 18"/>
          <p:cNvSpPr txBox="1"/>
          <p:nvPr/>
        </p:nvSpPr>
        <p:spPr>
          <a:xfrm>
            <a:off x="941832" y="3493008"/>
            <a:ext cx="4846320" cy="128016"/>
          </a:xfrm>
          <a:prstGeom prst="rect">
            <a:avLst/>
          </a:prstGeom>
          <a:noFill/>
        </p:spPr>
        <p:txBody>
          <a:bodyPr wrap="square" lIns="18288" rIns="18288" tIns="18288" bIns="18288" anchor="t">
            <a:spAutoFit/>
          </a:bodyPr>
          <a:lstStyle/>
          <a:p>
            <a:pPr algn="l">
              <a:spcAft>
                <a:spcPts val="500"/>
              </a:spcAft>
              <a:defRPr sz="950" b="0">
                <a:solidFill>
                  <a:srgbClr val="212B36"/>
                </a:solidFill>
                <a:latin typeface="Aptos"/>
              </a:defRPr>
            </a:pPr>
            <a:r>
              <a:t>Must Narrate a complete story of your work</a:t>
            </a:r>
          </a:p>
        </p:txBody>
      </p:sp>
      <p:sp>
        <p:nvSpPr>
          <p:cNvPr id="20" name="Rounded Rectangle 19"/>
          <p:cNvSpPr/>
          <p:nvPr/>
        </p:nvSpPr>
        <p:spPr>
          <a:xfrm>
            <a:off x="6245352" y="2926079"/>
            <a:ext cx="5257800" cy="841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5352" y="2926079"/>
            <a:ext cx="64008" cy="841248"/>
          </a:xfrm>
          <a:prstGeom prst="rect">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952" y="3090672"/>
            <a:ext cx="4846320" cy="347472"/>
          </a:xfrm>
          <a:prstGeom prst="rect">
            <a:avLst/>
          </a:prstGeom>
          <a:noFill/>
        </p:spPr>
        <p:txBody>
          <a:bodyPr wrap="square" lIns="18288" rIns="18288" tIns="18288" bIns="18288" anchor="t">
            <a:spAutoFit/>
          </a:bodyPr>
          <a:lstStyle/>
          <a:p>
            <a:pPr algn="l">
              <a:spcAft>
                <a:spcPts val="500"/>
              </a:spcAft>
              <a:defRPr sz="1100" b="1">
                <a:solidFill>
                  <a:srgbClr val="0C192D"/>
                </a:solidFill>
                <a:latin typeface="Aptos"/>
              </a:defRPr>
            </a:pPr>
            <a:r>
              <a:t>Importance</a:t>
            </a:r>
          </a:p>
        </p:txBody>
      </p:sp>
      <p:sp>
        <p:nvSpPr>
          <p:cNvPr id="23" name="TextBox 22"/>
          <p:cNvSpPr txBox="1"/>
          <p:nvPr/>
        </p:nvSpPr>
        <p:spPr>
          <a:xfrm>
            <a:off x="6473952" y="3493008"/>
            <a:ext cx="4846320" cy="128016"/>
          </a:xfrm>
          <a:prstGeom prst="rect">
            <a:avLst/>
          </a:prstGeom>
          <a:noFill/>
        </p:spPr>
        <p:txBody>
          <a:bodyPr wrap="square" lIns="18288" rIns="18288" tIns="18288" bIns="18288" anchor="t">
            <a:spAutoFit/>
          </a:bodyPr>
          <a:lstStyle/>
          <a:p>
            <a:pPr algn="l">
              <a:spcAft>
                <a:spcPts val="500"/>
              </a:spcAft>
              <a:defRPr sz="950" b="0">
                <a:solidFill>
                  <a:srgbClr val="212B36"/>
                </a:solidFill>
                <a:latin typeface="Aptos"/>
              </a:defRPr>
            </a:pPr>
            <a:r>
              <a:t>Explains why the project is important</a:t>
            </a:r>
          </a:p>
        </p:txBody>
      </p:sp>
      <p:sp>
        <p:nvSpPr>
          <p:cNvPr id="24" name="Rounded Rectangle 23"/>
          <p:cNvSpPr/>
          <p:nvPr/>
        </p:nvSpPr>
        <p:spPr>
          <a:xfrm>
            <a:off x="713232" y="3977639"/>
            <a:ext cx="5257800" cy="841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13232" y="3977639"/>
            <a:ext cx="64008" cy="841248"/>
          </a:xfrm>
          <a:prstGeom prst="rect">
            <a:avLst/>
          </a:prstGeom>
          <a:solidFill>
            <a:srgbClr val="D5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1832" y="4142231"/>
            <a:ext cx="4846320" cy="347472"/>
          </a:xfrm>
          <a:prstGeom prst="rect">
            <a:avLst/>
          </a:prstGeom>
          <a:noFill/>
        </p:spPr>
        <p:txBody>
          <a:bodyPr wrap="square" lIns="18288" rIns="18288" tIns="18288" bIns="18288" anchor="t">
            <a:spAutoFit/>
          </a:bodyPr>
          <a:lstStyle/>
          <a:p>
            <a:pPr algn="l">
              <a:spcAft>
                <a:spcPts val="500"/>
              </a:spcAft>
              <a:defRPr sz="1100" b="1">
                <a:solidFill>
                  <a:srgbClr val="0C192D"/>
                </a:solidFill>
                <a:latin typeface="Aptos"/>
              </a:defRPr>
            </a:pPr>
            <a:r>
              <a:t>Aim &amp; how</a:t>
            </a:r>
          </a:p>
        </p:txBody>
      </p:sp>
      <p:sp>
        <p:nvSpPr>
          <p:cNvPr id="27" name="TextBox 26"/>
          <p:cNvSpPr txBox="1"/>
          <p:nvPr/>
        </p:nvSpPr>
        <p:spPr>
          <a:xfrm>
            <a:off x="941832" y="4544568"/>
            <a:ext cx="4846320" cy="128016"/>
          </a:xfrm>
          <a:prstGeom prst="rect">
            <a:avLst/>
          </a:prstGeom>
          <a:noFill/>
        </p:spPr>
        <p:txBody>
          <a:bodyPr wrap="square" lIns="18288" rIns="18288" tIns="18288" bIns="18288" anchor="t">
            <a:spAutoFit/>
          </a:bodyPr>
          <a:lstStyle/>
          <a:p>
            <a:pPr algn="l">
              <a:spcAft>
                <a:spcPts val="500"/>
              </a:spcAft>
              <a:defRPr sz="950" b="0">
                <a:solidFill>
                  <a:srgbClr val="212B36"/>
                </a:solidFill>
                <a:latin typeface="Aptos"/>
              </a:defRPr>
            </a:pPr>
            <a:r>
              <a:t>States what the FYP aims to accomplish and how</a:t>
            </a:r>
          </a:p>
        </p:txBody>
      </p:sp>
      <p:sp>
        <p:nvSpPr>
          <p:cNvPr id="28" name="Rounded Rectangle 27"/>
          <p:cNvSpPr/>
          <p:nvPr/>
        </p:nvSpPr>
        <p:spPr>
          <a:xfrm>
            <a:off x="6245352" y="3977639"/>
            <a:ext cx="5257800" cy="841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45352" y="3977639"/>
            <a:ext cx="64008" cy="841248"/>
          </a:xfrm>
          <a:prstGeom prst="rect">
            <a:avLst/>
          </a:prstGeom>
          <a:solidFill>
            <a:srgbClr val="765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73952" y="4142231"/>
            <a:ext cx="4846320" cy="347472"/>
          </a:xfrm>
          <a:prstGeom prst="rect">
            <a:avLst/>
          </a:prstGeom>
          <a:noFill/>
        </p:spPr>
        <p:txBody>
          <a:bodyPr wrap="square" lIns="18288" rIns="18288" tIns="18288" bIns="18288" anchor="t">
            <a:spAutoFit/>
          </a:bodyPr>
          <a:lstStyle/>
          <a:p>
            <a:pPr algn="l">
              <a:spcAft>
                <a:spcPts val="500"/>
              </a:spcAft>
              <a:defRPr sz="1100" b="1">
                <a:solidFill>
                  <a:srgbClr val="0C192D"/>
                </a:solidFill>
                <a:latin typeface="Aptos"/>
              </a:defRPr>
            </a:pPr>
            <a:r>
              <a:t>Risks</a:t>
            </a:r>
          </a:p>
        </p:txBody>
      </p:sp>
      <p:sp>
        <p:nvSpPr>
          <p:cNvPr id="31" name="TextBox 30"/>
          <p:cNvSpPr txBox="1"/>
          <p:nvPr/>
        </p:nvSpPr>
        <p:spPr>
          <a:xfrm>
            <a:off x="6473952" y="4544568"/>
            <a:ext cx="4846320" cy="128016"/>
          </a:xfrm>
          <a:prstGeom prst="rect">
            <a:avLst/>
          </a:prstGeom>
          <a:noFill/>
        </p:spPr>
        <p:txBody>
          <a:bodyPr wrap="square" lIns="18288" rIns="18288" tIns="18288" bIns="18288" anchor="t">
            <a:spAutoFit/>
          </a:bodyPr>
          <a:lstStyle/>
          <a:p>
            <a:pPr algn="l">
              <a:spcAft>
                <a:spcPts val="500"/>
              </a:spcAft>
              <a:defRPr sz="950" b="0">
                <a:solidFill>
                  <a:srgbClr val="212B36"/>
                </a:solidFill>
                <a:latin typeface="Aptos"/>
              </a:defRPr>
            </a:pPr>
            <a:r>
              <a:t>identifies possible problems or complications</a:t>
            </a:r>
          </a:p>
        </p:txBody>
      </p:sp>
      <p:sp>
        <p:nvSpPr>
          <p:cNvPr id="32" name="Rounded Rectangle 31"/>
          <p:cNvSpPr/>
          <p:nvPr/>
        </p:nvSpPr>
        <p:spPr>
          <a:xfrm>
            <a:off x="713232" y="5029200"/>
            <a:ext cx="5257800" cy="841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13232" y="5029200"/>
            <a:ext cx="64008" cy="841248"/>
          </a:xfrm>
          <a:prstGeom prst="rect">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1832" y="5193792"/>
            <a:ext cx="4846320" cy="347472"/>
          </a:xfrm>
          <a:prstGeom prst="rect">
            <a:avLst/>
          </a:prstGeom>
          <a:noFill/>
        </p:spPr>
        <p:txBody>
          <a:bodyPr wrap="square" lIns="18288" rIns="18288" tIns="18288" bIns="18288" anchor="t">
            <a:spAutoFit/>
          </a:bodyPr>
          <a:lstStyle/>
          <a:p>
            <a:pPr algn="l">
              <a:spcAft>
                <a:spcPts val="500"/>
              </a:spcAft>
              <a:defRPr sz="1100" b="1">
                <a:solidFill>
                  <a:srgbClr val="0C192D"/>
                </a:solidFill>
                <a:latin typeface="Aptos"/>
              </a:defRPr>
            </a:pPr>
            <a:r>
              <a:t>Audience</a:t>
            </a:r>
          </a:p>
        </p:txBody>
      </p:sp>
      <p:sp>
        <p:nvSpPr>
          <p:cNvPr id="35" name="TextBox 34"/>
          <p:cNvSpPr txBox="1"/>
          <p:nvPr/>
        </p:nvSpPr>
        <p:spPr>
          <a:xfrm>
            <a:off x="941832" y="5596128"/>
            <a:ext cx="4846320" cy="128016"/>
          </a:xfrm>
          <a:prstGeom prst="rect">
            <a:avLst/>
          </a:prstGeom>
          <a:noFill/>
        </p:spPr>
        <p:txBody>
          <a:bodyPr wrap="square" lIns="18288" rIns="18288" tIns="18288" bIns="18288" anchor="t">
            <a:spAutoFit/>
          </a:bodyPr>
          <a:lstStyle/>
          <a:p>
            <a:pPr algn="l">
              <a:spcAft>
                <a:spcPts val="500"/>
              </a:spcAft>
              <a:defRPr sz="950" b="0">
                <a:solidFill>
                  <a:srgbClr val="212B36"/>
                </a:solidFill>
                <a:latin typeface="Aptos"/>
              </a:defRPr>
            </a:pPr>
            <a:r>
              <a:t>is written for a non-specialist</a:t>
            </a:r>
          </a:p>
        </p:txBody>
      </p:sp>
      <p:sp>
        <p:nvSpPr>
          <p:cNvPr id="36" name="TextBox 35"/>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COMSATS University Islamabad • Department of Computer Engineering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0C192D"/>
                </a:solidFill>
                <a:latin typeface="Aptos Display"/>
              </a:defRPr>
            </a:pPr>
            <a:r>
              <a:t>Content of an abstract</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1A74BE"/>
                </a:solidFill>
                <a:latin typeface="Aptos"/>
              </a:defRPr>
            </a:pPr>
            <a:r>
              <a:t>04 • PROPOSAL WRITING</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5C6A78"/>
                </a:solidFill>
                <a:latin typeface="Aptos"/>
              </a:defRPr>
            </a:pPr>
            <a:r>
              <a:t>14</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417320"/>
            <a:ext cx="338328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417320"/>
            <a:ext cx="64008" cy="1508760"/>
          </a:xfrm>
          <a:prstGeom prst="rect">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581912"/>
            <a:ext cx="2971800"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Aims &amp; Objectives</a:t>
            </a:r>
          </a:p>
        </p:txBody>
      </p:sp>
      <p:sp>
        <p:nvSpPr>
          <p:cNvPr id="10" name="TextBox 9"/>
          <p:cNvSpPr txBox="1"/>
          <p:nvPr/>
        </p:nvSpPr>
        <p:spPr>
          <a:xfrm>
            <a:off x="960120" y="1984248"/>
            <a:ext cx="2971800" cy="795527"/>
          </a:xfrm>
          <a:prstGeom prst="rect">
            <a:avLst/>
          </a:prstGeom>
          <a:noFill/>
        </p:spPr>
        <p:txBody>
          <a:bodyPr wrap="square" lIns="18288" rIns="18288" tIns="18288" bIns="18288" anchor="t">
            <a:spAutoFit/>
          </a:bodyPr>
          <a:lstStyle/>
          <a:p>
            <a:pPr algn="l">
              <a:spcAft>
                <a:spcPts val="500"/>
              </a:spcAft>
              <a:defRPr sz="1200" b="0">
                <a:solidFill>
                  <a:srgbClr val="212B36"/>
                </a:solidFill>
                <a:latin typeface="Aptos"/>
              </a:defRPr>
            </a:pPr>
            <a:r>
              <a:t>2–3 Sentences</a:t>
            </a:r>
          </a:p>
        </p:txBody>
      </p:sp>
      <p:sp>
        <p:nvSpPr>
          <p:cNvPr id="11" name="Oval 10"/>
          <p:cNvSpPr/>
          <p:nvPr/>
        </p:nvSpPr>
        <p:spPr>
          <a:xfrm>
            <a:off x="960120" y="2377440"/>
            <a:ext cx="566928" cy="566928"/>
          </a:xfrm>
          <a:prstGeom prst="ellipse">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487168"/>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01</a:t>
            </a:r>
          </a:p>
        </p:txBody>
      </p:sp>
      <p:sp>
        <p:nvSpPr>
          <p:cNvPr id="13" name="Rounded Rectangle 12"/>
          <p:cNvSpPr/>
          <p:nvPr/>
        </p:nvSpPr>
        <p:spPr>
          <a:xfrm>
            <a:off x="4434840" y="1417320"/>
            <a:ext cx="338328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34840" y="1417320"/>
            <a:ext cx="64008" cy="1508760"/>
          </a:xfrm>
          <a:prstGeom prst="rect">
            <a:avLst/>
          </a:prstGeom>
          <a:solidFill>
            <a:srgbClr val="D5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1581912"/>
            <a:ext cx="2971800"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Problem Statement / Complications</a:t>
            </a:r>
          </a:p>
        </p:txBody>
      </p:sp>
      <p:sp>
        <p:nvSpPr>
          <p:cNvPr id="16" name="TextBox 15"/>
          <p:cNvSpPr txBox="1"/>
          <p:nvPr/>
        </p:nvSpPr>
        <p:spPr>
          <a:xfrm>
            <a:off x="4663440" y="1984248"/>
            <a:ext cx="2971800" cy="795527"/>
          </a:xfrm>
          <a:prstGeom prst="rect">
            <a:avLst/>
          </a:prstGeom>
          <a:noFill/>
        </p:spPr>
        <p:txBody>
          <a:bodyPr wrap="square" lIns="18288" rIns="18288" tIns="18288" bIns="18288" anchor="t">
            <a:spAutoFit/>
          </a:bodyPr>
          <a:lstStyle/>
          <a:p>
            <a:pPr algn="l">
              <a:spcAft>
                <a:spcPts val="500"/>
              </a:spcAft>
              <a:defRPr sz="1200" b="0">
                <a:solidFill>
                  <a:srgbClr val="212B36"/>
                </a:solidFill>
                <a:latin typeface="Aptos"/>
              </a:defRPr>
            </a:pPr>
            <a:r>
              <a:t>1–2 Sentences</a:t>
            </a:r>
          </a:p>
        </p:txBody>
      </p:sp>
      <p:sp>
        <p:nvSpPr>
          <p:cNvPr id="17" name="Oval 16"/>
          <p:cNvSpPr/>
          <p:nvPr/>
        </p:nvSpPr>
        <p:spPr>
          <a:xfrm>
            <a:off x="4663440" y="2377440"/>
            <a:ext cx="566928" cy="566928"/>
          </a:xfrm>
          <a:prstGeom prst="ellipse">
            <a:avLst/>
          </a:prstGeom>
          <a:solidFill>
            <a:srgbClr val="D5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2487168"/>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02</a:t>
            </a:r>
          </a:p>
        </p:txBody>
      </p:sp>
      <p:sp>
        <p:nvSpPr>
          <p:cNvPr id="19" name="Rounded Rectangle 18"/>
          <p:cNvSpPr/>
          <p:nvPr/>
        </p:nvSpPr>
        <p:spPr>
          <a:xfrm>
            <a:off x="8138160" y="1417320"/>
            <a:ext cx="338328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38160" y="1417320"/>
            <a:ext cx="64008" cy="1508760"/>
          </a:xfrm>
          <a:prstGeom prst="rect">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1581912"/>
            <a:ext cx="2971800"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Methodology</a:t>
            </a:r>
          </a:p>
        </p:txBody>
      </p:sp>
      <p:sp>
        <p:nvSpPr>
          <p:cNvPr id="22" name="TextBox 21"/>
          <p:cNvSpPr txBox="1"/>
          <p:nvPr/>
        </p:nvSpPr>
        <p:spPr>
          <a:xfrm>
            <a:off x="8366760" y="1984248"/>
            <a:ext cx="2971800" cy="795527"/>
          </a:xfrm>
          <a:prstGeom prst="rect">
            <a:avLst/>
          </a:prstGeom>
          <a:noFill/>
        </p:spPr>
        <p:txBody>
          <a:bodyPr wrap="square" lIns="18288" rIns="18288" tIns="18288" bIns="18288" anchor="t">
            <a:spAutoFit/>
          </a:bodyPr>
          <a:lstStyle/>
          <a:p>
            <a:pPr algn="l">
              <a:spcAft>
                <a:spcPts val="500"/>
              </a:spcAft>
              <a:defRPr sz="1200" b="0">
                <a:solidFill>
                  <a:srgbClr val="212B36"/>
                </a:solidFill>
                <a:latin typeface="Aptos"/>
              </a:defRPr>
            </a:pPr>
            <a:r>
              <a:t>3–4 Sentences</a:t>
            </a:r>
          </a:p>
        </p:txBody>
      </p:sp>
      <p:sp>
        <p:nvSpPr>
          <p:cNvPr id="23" name="Oval 22"/>
          <p:cNvSpPr/>
          <p:nvPr/>
        </p:nvSpPr>
        <p:spPr>
          <a:xfrm>
            <a:off x="8366760" y="2377440"/>
            <a:ext cx="566928" cy="566928"/>
          </a:xfrm>
          <a:prstGeom prst="ellipse">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66760" y="2487168"/>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03</a:t>
            </a:r>
          </a:p>
        </p:txBody>
      </p:sp>
      <p:sp>
        <p:nvSpPr>
          <p:cNvPr id="25" name="Rounded Rectangle 24"/>
          <p:cNvSpPr/>
          <p:nvPr/>
        </p:nvSpPr>
        <p:spPr>
          <a:xfrm>
            <a:off x="731520" y="3429000"/>
            <a:ext cx="338328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1520" y="3429000"/>
            <a:ext cx="64008" cy="1508760"/>
          </a:xfrm>
          <a:prstGeom prst="rect">
            <a:avLst/>
          </a:prstGeom>
          <a:solidFill>
            <a:srgbClr val="765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3593592"/>
            <a:ext cx="2971800"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Novelty</a:t>
            </a:r>
          </a:p>
        </p:txBody>
      </p:sp>
      <p:sp>
        <p:nvSpPr>
          <p:cNvPr id="28" name="TextBox 27"/>
          <p:cNvSpPr txBox="1"/>
          <p:nvPr/>
        </p:nvSpPr>
        <p:spPr>
          <a:xfrm>
            <a:off x="960120" y="3995928"/>
            <a:ext cx="2971800" cy="795527"/>
          </a:xfrm>
          <a:prstGeom prst="rect">
            <a:avLst/>
          </a:prstGeom>
          <a:noFill/>
        </p:spPr>
        <p:txBody>
          <a:bodyPr wrap="square" lIns="18288" rIns="18288" tIns="18288" bIns="18288" anchor="t">
            <a:spAutoFit/>
          </a:bodyPr>
          <a:lstStyle/>
          <a:p>
            <a:pPr algn="l">
              <a:spcAft>
                <a:spcPts val="500"/>
              </a:spcAft>
              <a:defRPr sz="1200" b="0">
                <a:solidFill>
                  <a:srgbClr val="212B36"/>
                </a:solidFill>
                <a:latin typeface="Aptos"/>
              </a:defRPr>
            </a:pPr>
            <a:r>
              <a:t>1–2 Sentences</a:t>
            </a:r>
          </a:p>
        </p:txBody>
      </p:sp>
      <p:sp>
        <p:nvSpPr>
          <p:cNvPr id="29" name="Oval 28"/>
          <p:cNvSpPr/>
          <p:nvPr/>
        </p:nvSpPr>
        <p:spPr>
          <a:xfrm>
            <a:off x="960120" y="4389120"/>
            <a:ext cx="566928" cy="566928"/>
          </a:xfrm>
          <a:prstGeom prst="ellipse">
            <a:avLst/>
          </a:prstGeom>
          <a:solidFill>
            <a:srgbClr val="765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4498848"/>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04</a:t>
            </a:r>
          </a:p>
        </p:txBody>
      </p:sp>
      <p:sp>
        <p:nvSpPr>
          <p:cNvPr id="31" name="Rounded Rectangle 30"/>
          <p:cNvSpPr/>
          <p:nvPr/>
        </p:nvSpPr>
        <p:spPr>
          <a:xfrm>
            <a:off x="4434840" y="3429000"/>
            <a:ext cx="338328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434840" y="3429000"/>
            <a:ext cx="64008" cy="1508760"/>
          </a:xfrm>
          <a:prstGeom prst="rect">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63440" y="3593592"/>
            <a:ext cx="2971800"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Findings / Contribution / Results</a:t>
            </a:r>
          </a:p>
        </p:txBody>
      </p:sp>
      <p:sp>
        <p:nvSpPr>
          <p:cNvPr id="34" name="TextBox 33"/>
          <p:cNvSpPr txBox="1"/>
          <p:nvPr/>
        </p:nvSpPr>
        <p:spPr>
          <a:xfrm>
            <a:off x="4663440" y="3995928"/>
            <a:ext cx="2971800" cy="795527"/>
          </a:xfrm>
          <a:prstGeom prst="rect">
            <a:avLst/>
          </a:prstGeom>
          <a:noFill/>
        </p:spPr>
        <p:txBody>
          <a:bodyPr wrap="square" lIns="18288" rIns="18288" tIns="18288" bIns="18288" anchor="t">
            <a:spAutoFit/>
          </a:bodyPr>
          <a:lstStyle/>
          <a:p>
            <a:pPr algn="l">
              <a:spcAft>
                <a:spcPts val="500"/>
              </a:spcAft>
              <a:defRPr sz="1200" b="0">
                <a:solidFill>
                  <a:srgbClr val="212B36"/>
                </a:solidFill>
                <a:latin typeface="Aptos"/>
              </a:defRPr>
            </a:pPr>
            <a:r>
              <a:t>2–3 Sentences</a:t>
            </a:r>
          </a:p>
        </p:txBody>
      </p:sp>
      <p:sp>
        <p:nvSpPr>
          <p:cNvPr id="35" name="Oval 34"/>
          <p:cNvSpPr/>
          <p:nvPr/>
        </p:nvSpPr>
        <p:spPr>
          <a:xfrm>
            <a:off x="4663440" y="4389120"/>
            <a:ext cx="566928" cy="566928"/>
          </a:xfrm>
          <a:prstGeom prst="ellipse">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63440" y="4498848"/>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05</a:t>
            </a:r>
          </a:p>
        </p:txBody>
      </p:sp>
      <p:sp>
        <p:nvSpPr>
          <p:cNvPr id="37" name="Rounded Rectangle 36"/>
          <p:cNvSpPr/>
          <p:nvPr/>
        </p:nvSpPr>
        <p:spPr>
          <a:xfrm>
            <a:off x="8138160" y="3429000"/>
            <a:ext cx="338328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138160" y="3429000"/>
            <a:ext cx="64008" cy="1508760"/>
          </a:xfrm>
          <a:prstGeom prst="rect">
            <a:avLst/>
          </a:prstGeom>
          <a:solidFill>
            <a:srgbClr val="40A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66760" y="3593592"/>
            <a:ext cx="2971800"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Application as per SDGs</a:t>
            </a:r>
          </a:p>
        </p:txBody>
      </p:sp>
      <p:sp>
        <p:nvSpPr>
          <p:cNvPr id="40" name="TextBox 39"/>
          <p:cNvSpPr txBox="1"/>
          <p:nvPr/>
        </p:nvSpPr>
        <p:spPr>
          <a:xfrm>
            <a:off x="8366760" y="3995928"/>
            <a:ext cx="2971800" cy="795527"/>
          </a:xfrm>
          <a:prstGeom prst="rect">
            <a:avLst/>
          </a:prstGeom>
          <a:noFill/>
        </p:spPr>
        <p:txBody>
          <a:bodyPr wrap="square" lIns="18288" rIns="18288" tIns="18288" bIns="18288" anchor="t">
            <a:spAutoFit/>
          </a:bodyPr>
          <a:lstStyle/>
          <a:p>
            <a:pPr algn="l">
              <a:spcAft>
                <a:spcPts val="500"/>
              </a:spcAft>
              <a:defRPr sz="1200" b="0">
                <a:solidFill>
                  <a:srgbClr val="212B36"/>
                </a:solidFill>
                <a:latin typeface="Aptos"/>
              </a:defRPr>
            </a:pPr>
            <a:r>
              <a:t>2–3 Sentences</a:t>
            </a:r>
          </a:p>
        </p:txBody>
      </p:sp>
      <p:sp>
        <p:nvSpPr>
          <p:cNvPr id="41" name="Oval 40"/>
          <p:cNvSpPr/>
          <p:nvPr/>
        </p:nvSpPr>
        <p:spPr>
          <a:xfrm>
            <a:off x="8366760" y="4389120"/>
            <a:ext cx="566928" cy="566928"/>
          </a:xfrm>
          <a:prstGeom prst="ellipse">
            <a:avLst/>
          </a:prstGeom>
          <a:solidFill>
            <a:srgbClr val="40A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66760" y="4498848"/>
            <a:ext cx="566928" cy="256032"/>
          </a:xfrm>
          <a:prstGeom prst="rect">
            <a:avLst/>
          </a:prstGeom>
          <a:noFill/>
        </p:spPr>
        <p:txBody>
          <a:bodyPr wrap="square" lIns="18288" rIns="18288" tIns="18288" bIns="18288" anchor="ctr">
            <a:spAutoFit/>
          </a:bodyPr>
          <a:lstStyle/>
          <a:p>
            <a:pPr algn="ctr">
              <a:spcAft>
                <a:spcPts val="500"/>
              </a:spcAft>
              <a:defRPr sz="1200" b="1">
                <a:solidFill>
                  <a:srgbClr val="FFFFFF"/>
                </a:solidFill>
                <a:latin typeface="Aptos"/>
              </a:defRPr>
            </a:pPr>
            <a:r>
              <a:t>06</a:t>
            </a:r>
          </a:p>
        </p:txBody>
      </p:sp>
      <p:sp>
        <p:nvSpPr>
          <p:cNvPr id="43" name="Rounded Rectangle 42"/>
          <p:cNvSpPr/>
          <p:nvPr/>
        </p:nvSpPr>
        <p:spPr>
          <a:xfrm>
            <a:off x="3886200" y="5532120"/>
            <a:ext cx="4389120" cy="310896"/>
          </a:xfrm>
          <a:prstGeom prst="roundRect">
            <a:avLst/>
          </a:prstGeom>
          <a:solidFill>
            <a:srgbClr val="EB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31920" y="5568696"/>
            <a:ext cx="4297680" cy="210312"/>
          </a:xfrm>
          <a:prstGeom prst="rect">
            <a:avLst/>
          </a:prstGeom>
          <a:noFill/>
        </p:spPr>
        <p:txBody>
          <a:bodyPr wrap="square" lIns="18288" rIns="18288" tIns="18288" bIns="18288" anchor="ctr">
            <a:spAutoFit/>
          </a:bodyPr>
          <a:lstStyle/>
          <a:p>
            <a:pPr algn="ctr">
              <a:spcAft>
                <a:spcPts val="500"/>
              </a:spcAft>
              <a:defRPr sz="850" b="1">
                <a:solidFill>
                  <a:srgbClr val="0C192D"/>
                </a:solidFill>
                <a:latin typeface="Aptos"/>
              </a:defRPr>
            </a:pPr>
            <a:r>
              <a:t>Rule of thumb: concise • coherent • complete</a:t>
            </a:r>
          </a:p>
        </p:txBody>
      </p:sp>
      <p:sp>
        <p:nvSpPr>
          <p:cNvPr id="45" name="TextBox 44"/>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COMSATS University Islamabad • Department of Computer Engineering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0C192D"/>
                </a:solidFill>
                <a:latin typeface="Aptos Display"/>
              </a:defRPr>
            </a:pPr>
            <a:r>
              <a:t>Introduction: frame the problem before the solution</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1A74BE"/>
                </a:solidFill>
                <a:latin typeface="Aptos"/>
              </a:defRPr>
            </a:pPr>
            <a:r>
              <a:t>04 • PROPOSAL WRITING</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5C6A78"/>
                </a:solidFill>
                <a:latin typeface="Aptos"/>
              </a:defRPr>
            </a:pPr>
            <a:r>
              <a:t>15</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34440"/>
            <a:ext cx="521208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234440"/>
            <a:ext cx="64008" cy="1508760"/>
          </a:xfrm>
          <a:prstGeom prst="rect">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399032"/>
            <a:ext cx="4800600"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1 • Define the purpose</a:t>
            </a:r>
          </a:p>
        </p:txBody>
      </p:sp>
      <p:sp>
        <p:nvSpPr>
          <p:cNvPr id="10" name="TextBox 9"/>
          <p:cNvSpPr txBox="1"/>
          <p:nvPr/>
        </p:nvSpPr>
        <p:spPr>
          <a:xfrm>
            <a:off x="960120" y="1801368"/>
            <a:ext cx="4800600" cy="795527"/>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Start by clearly defining the purpose of your research. What practical or theoretical problem does the research respond to, or what research question did you aim to answer?</a:t>
            </a:r>
          </a:p>
        </p:txBody>
      </p:sp>
      <p:sp>
        <p:nvSpPr>
          <p:cNvPr id="11" name="Rounded Rectangle 10"/>
          <p:cNvSpPr/>
          <p:nvPr/>
        </p:nvSpPr>
        <p:spPr>
          <a:xfrm>
            <a:off x="6172200" y="1234440"/>
            <a:ext cx="521208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234440"/>
            <a:ext cx="64008" cy="1508760"/>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399032"/>
            <a:ext cx="4800600"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2 • Give only the needed context</a:t>
            </a:r>
          </a:p>
        </p:txBody>
      </p:sp>
      <p:sp>
        <p:nvSpPr>
          <p:cNvPr id="14" name="TextBox 13"/>
          <p:cNvSpPr txBox="1"/>
          <p:nvPr/>
        </p:nvSpPr>
        <p:spPr>
          <a:xfrm>
            <a:off x="6400800" y="1801368"/>
            <a:ext cx="4800600" cy="795527"/>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You can include brief context on the social or academic relevance of your topic, but don’t go into detailed background information. Define specialized terms concisely.</a:t>
            </a:r>
          </a:p>
        </p:txBody>
      </p:sp>
      <p:sp>
        <p:nvSpPr>
          <p:cNvPr id="15" name="Rounded Rectangle 14"/>
          <p:cNvSpPr/>
          <p:nvPr/>
        </p:nvSpPr>
        <p:spPr>
          <a:xfrm>
            <a:off x="731520" y="3063240"/>
            <a:ext cx="521208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3063240"/>
            <a:ext cx="64008" cy="1508760"/>
          </a:xfrm>
          <a:prstGeom prst="rect">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3227832"/>
            <a:ext cx="4800600"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3 • State the objective</a:t>
            </a:r>
          </a:p>
        </p:txBody>
      </p:sp>
      <p:sp>
        <p:nvSpPr>
          <p:cNvPr id="18" name="TextBox 17"/>
          <p:cNvSpPr txBox="1"/>
          <p:nvPr/>
        </p:nvSpPr>
        <p:spPr>
          <a:xfrm>
            <a:off x="960120" y="3630168"/>
            <a:ext cx="4800600" cy="795527"/>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After identifying the problem, state the objective of your research. Use verbs like “investigate,” “test,” “analyze,” or “evaluate” to describe exactly what you set out to do.</a:t>
            </a:r>
          </a:p>
        </p:txBody>
      </p:sp>
      <p:sp>
        <p:nvSpPr>
          <p:cNvPr id="19" name="Rounded Rectangle 18"/>
          <p:cNvSpPr/>
          <p:nvPr/>
        </p:nvSpPr>
        <p:spPr>
          <a:xfrm>
            <a:off x="6172200" y="3063240"/>
            <a:ext cx="521208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72200" y="3063240"/>
            <a:ext cx="64008" cy="1508760"/>
          </a:xfrm>
          <a:prstGeom prst="rect">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3227832"/>
            <a:ext cx="4800600"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4 • Keep tense consistent</a:t>
            </a:r>
          </a:p>
        </p:txBody>
      </p:sp>
      <p:sp>
        <p:nvSpPr>
          <p:cNvPr id="22" name="TextBox 21"/>
          <p:cNvSpPr txBox="1"/>
          <p:nvPr/>
        </p:nvSpPr>
        <p:spPr>
          <a:xfrm>
            <a:off x="6400800" y="3630168"/>
            <a:ext cx="4800600" cy="795527"/>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This part of the abstract can be written in the present or past simple tense but should never refer to the future, as the research is already complete.</a:t>
            </a:r>
          </a:p>
        </p:txBody>
      </p:sp>
      <p:sp>
        <p:nvSpPr>
          <p:cNvPr id="23" name="Rounded Rectangle 22"/>
          <p:cNvSpPr/>
          <p:nvPr/>
        </p:nvSpPr>
        <p:spPr>
          <a:xfrm>
            <a:off x="1828800" y="5166360"/>
            <a:ext cx="8549640" cy="310896"/>
          </a:xfrm>
          <a:prstGeom prst="roundRect">
            <a:avLst/>
          </a:prstGeom>
          <a:solidFill>
            <a:srgbClr val="FF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874519" y="5202936"/>
            <a:ext cx="8458200" cy="210312"/>
          </a:xfrm>
          <a:prstGeom prst="rect">
            <a:avLst/>
          </a:prstGeom>
          <a:noFill/>
        </p:spPr>
        <p:txBody>
          <a:bodyPr wrap="square" lIns="18288" rIns="18288" tIns="18288" bIns="18288" anchor="ctr">
            <a:spAutoFit/>
          </a:bodyPr>
          <a:lstStyle/>
          <a:p>
            <a:pPr algn="ctr">
              <a:spcAft>
                <a:spcPts val="500"/>
              </a:spcAft>
              <a:defRPr sz="850" b="1">
                <a:solidFill>
                  <a:srgbClr val="F28F2A"/>
                </a:solidFill>
                <a:latin typeface="Aptos"/>
              </a:defRPr>
            </a:pPr>
            <a:r>
              <a:t>The proposal itself describes work that will be undertaken — keep proposal language in future tense where appropriate.</a:t>
            </a:r>
          </a:p>
        </p:txBody>
      </p:sp>
      <p:sp>
        <p:nvSpPr>
          <p:cNvPr id="25" name="TextBox 24"/>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COMSATS University Islamabad • Department of Computer Engineering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0C192D"/>
                </a:solidFill>
                <a:latin typeface="Aptos Display"/>
              </a:defRPr>
            </a:pPr>
            <a:r>
              <a:t>Content of an introduction</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1A74BE"/>
                </a:solidFill>
                <a:latin typeface="Aptos"/>
              </a:defRPr>
            </a:pPr>
            <a:r>
              <a:t>04 • PROPOSAL WRITING</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5C6A78"/>
                </a:solidFill>
                <a:latin typeface="Aptos"/>
              </a:defRPr>
            </a:pPr>
            <a:r>
              <a:t>16</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325880"/>
            <a:ext cx="2542032"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325880"/>
            <a:ext cx="64008" cy="1417320"/>
          </a:xfrm>
          <a:prstGeom prst="rect">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90472"/>
            <a:ext cx="2130551" cy="347472"/>
          </a:xfrm>
          <a:prstGeom prst="rect">
            <a:avLst/>
          </a:prstGeom>
          <a:noFill/>
        </p:spPr>
        <p:txBody>
          <a:bodyPr wrap="square" lIns="18288" rIns="18288" tIns="18288" bIns="18288" anchor="t">
            <a:spAutoFit/>
          </a:bodyPr>
          <a:lstStyle/>
          <a:p>
            <a:pPr algn="l">
              <a:spcAft>
                <a:spcPts val="500"/>
              </a:spcAft>
              <a:defRPr sz="1200" b="1">
                <a:solidFill>
                  <a:srgbClr val="0C192D"/>
                </a:solidFill>
                <a:latin typeface="Aptos"/>
              </a:defRPr>
            </a:pPr>
            <a:r>
              <a:t>Aims and Objectives as per SDGs</a:t>
            </a:r>
          </a:p>
        </p:txBody>
      </p:sp>
      <p:sp>
        <p:nvSpPr>
          <p:cNvPr id="10" name="TextBox 9"/>
          <p:cNvSpPr txBox="1"/>
          <p:nvPr/>
        </p:nvSpPr>
        <p:spPr>
          <a:xfrm>
            <a:off x="914400" y="1892807"/>
            <a:ext cx="2130551" cy="704088"/>
          </a:xfrm>
          <a:prstGeom prst="rect">
            <a:avLst/>
          </a:prstGeom>
          <a:noFill/>
        </p:spPr>
        <p:txBody>
          <a:bodyPr wrap="square" lIns="18288" rIns="18288" tIns="18288" bIns="18288" anchor="t">
            <a:spAutoFit/>
          </a:bodyPr>
          <a:lstStyle/>
          <a:p>
            <a:pPr algn="l">
              <a:spcAft>
                <a:spcPts val="500"/>
              </a:spcAft>
              <a:defRPr sz="1000" b="0">
                <a:solidFill>
                  <a:srgbClr val="212B36"/>
                </a:solidFill>
                <a:latin typeface="Aptos"/>
              </a:defRPr>
            </a:pPr>
            <a:r>
              <a:t>2–3 Paragraphs</a:t>
            </a:r>
          </a:p>
        </p:txBody>
      </p:sp>
      <p:sp>
        <p:nvSpPr>
          <p:cNvPr id="11" name="Rounded Rectangle 10"/>
          <p:cNvSpPr/>
          <p:nvPr/>
        </p:nvSpPr>
        <p:spPr>
          <a:xfrm>
            <a:off x="3474720" y="1325880"/>
            <a:ext cx="2542032"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0" y="1325880"/>
            <a:ext cx="64008" cy="1417320"/>
          </a:xfrm>
          <a:prstGeom prst="rect">
            <a:avLst/>
          </a:prstGeom>
          <a:solidFill>
            <a:srgbClr val="D5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03320" y="1490472"/>
            <a:ext cx="2130551" cy="347472"/>
          </a:xfrm>
          <a:prstGeom prst="rect">
            <a:avLst/>
          </a:prstGeom>
          <a:noFill/>
        </p:spPr>
        <p:txBody>
          <a:bodyPr wrap="square" lIns="18288" rIns="18288" tIns="18288" bIns="18288" anchor="t">
            <a:spAutoFit/>
          </a:bodyPr>
          <a:lstStyle/>
          <a:p>
            <a:pPr algn="l">
              <a:spcAft>
                <a:spcPts val="500"/>
              </a:spcAft>
              <a:defRPr sz="1200" b="1">
                <a:solidFill>
                  <a:srgbClr val="0C192D"/>
                </a:solidFill>
                <a:latin typeface="Aptos"/>
              </a:defRPr>
            </a:pPr>
            <a:r>
              <a:t>Problem Statement / Complications</a:t>
            </a:r>
          </a:p>
        </p:txBody>
      </p:sp>
      <p:sp>
        <p:nvSpPr>
          <p:cNvPr id="14" name="TextBox 13"/>
          <p:cNvSpPr txBox="1"/>
          <p:nvPr/>
        </p:nvSpPr>
        <p:spPr>
          <a:xfrm>
            <a:off x="3703320" y="1892807"/>
            <a:ext cx="2130551" cy="704088"/>
          </a:xfrm>
          <a:prstGeom prst="rect">
            <a:avLst/>
          </a:prstGeom>
          <a:noFill/>
        </p:spPr>
        <p:txBody>
          <a:bodyPr wrap="square" lIns="18288" rIns="18288" tIns="18288" bIns="18288" anchor="t">
            <a:spAutoFit/>
          </a:bodyPr>
          <a:lstStyle/>
          <a:p>
            <a:pPr algn="l">
              <a:spcAft>
                <a:spcPts val="500"/>
              </a:spcAft>
              <a:defRPr sz="1000" b="0">
                <a:solidFill>
                  <a:srgbClr val="212B36"/>
                </a:solidFill>
                <a:latin typeface="Aptos"/>
              </a:defRPr>
            </a:pPr>
            <a:r>
              <a:t>1–2 Paragraphs</a:t>
            </a:r>
          </a:p>
        </p:txBody>
      </p:sp>
      <p:sp>
        <p:nvSpPr>
          <p:cNvPr id="15" name="Rounded Rectangle 14"/>
          <p:cNvSpPr/>
          <p:nvPr/>
        </p:nvSpPr>
        <p:spPr>
          <a:xfrm>
            <a:off x="6263640" y="1325880"/>
            <a:ext cx="2542032"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63640" y="1325880"/>
            <a:ext cx="64008" cy="1417320"/>
          </a:xfrm>
          <a:prstGeom prst="rect">
            <a:avLst/>
          </a:prstGeom>
          <a:solidFill>
            <a:srgbClr val="765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1490472"/>
            <a:ext cx="2130551" cy="347472"/>
          </a:xfrm>
          <a:prstGeom prst="rect">
            <a:avLst/>
          </a:prstGeom>
          <a:noFill/>
        </p:spPr>
        <p:txBody>
          <a:bodyPr wrap="square" lIns="18288" rIns="18288" tIns="18288" bIns="18288" anchor="t">
            <a:spAutoFit/>
          </a:bodyPr>
          <a:lstStyle/>
          <a:p>
            <a:pPr algn="l">
              <a:spcAft>
                <a:spcPts val="500"/>
              </a:spcAft>
              <a:defRPr sz="1200" b="1">
                <a:solidFill>
                  <a:srgbClr val="0C192D"/>
                </a:solidFill>
                <a:latin typeface="Aptos"/>
              </a:defRPr>
            </a:pPr>
            <a:r>
              <a:t>Existing / Related Studies</a:t>
            </a:r>
          </a:p>
        </p:txBody>
      </p:sp>
      <p:sp>
        <p:nvSpPr>
          <p:cNvPr id="18" name="TextBox 17"/>
          <p:cNvSpPr txBox="1"/>
          <p:nvPr/>
        </p:nvSpPr>
        <p:spPr>
          <a:xfrm>
            <a:off x="6492240" y="1892807"/>
            <a:ext cx="2130551" cy="704088"/>
          </a:xfrm>
          <a:prstGeom prst="rect">
            <a:avLst/>
          </a:prstGeom>
          <a:noFill/>
        </p:spPr>
        <p:txBody>
          <a:bodyPr wrap="square" lIns="18288" rIns="18288" tIns="18288" bIns="18288" anchor="t">
            <a:spAutoFit/>
          </a:bodyPr>
          <a:lstStyle/>
          <a:p>
            <a:pPr algn="l">
              <a:spcAft>
                <a:spcPts val="500"/>
              </a:spcAft>
              <a:defRPr sz="1000" b="0">
                <a:solidFill>
                  <a:srgbClr val="212B36"/>
                </a:solidFill>
                <a:latin typeface="Aptos"/>
              </a:defRPr>
            </a:pPr>
            <a:r>
              <a:t>1–2 Pages in a Summary Table</a:t>
            </a:r>
          </a:p>
        </p:txBody>
      </p:sp>
      <p:sp>
        <p:nvSpPr>
          <p:cNvPr id="19" name="Rounded Rectangle 18"/>
          <p:cNvSpPr/>
          <p:nvPr/>
        </p:nvSpPr>
        <p:spPr>
          <a:xfrm>
            <a:off x="9052559" y="1325880"/>
            <a:ext cx="2542032"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52559" y="1325880"/>
            <a:ext cx="64008" cy="1417320"/>
          </a:xfrm>
          <a:prstGeom prst="rect">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81159" y="1490472"/>
            <a:ext cx="2130551" cy="347472"/>
          </a:xfrm>
          <a:prstGeom prst="rect">
            <a:avLst/>
          </a:prstGeom>
          <a:noFill/>
        </p:spPr>
        <p:txBody>
          <a:bodyPr wrap="square" lIns="18288" rIns="18288" tIns="18288" bIns="18288" anchor="t">
            <a:spAutoFit/>
          </a:bodyPr>
          <a:lstStyle/>
          <a:p>
            <a:pPr algn="l">
              <a:spcAft>
                <a:spcPts val="500"/>
              </a:spcAft>
              <a:defRPr sz="1200" b="1">
                <a:solidFill>
                  <a:srgbClr val="0C192D"/>
                </a:solidFill>
                <a:latin typeface="Aptos"/>
              </a:defRPr>
            </a:pPr>
            <a:r>
              <a:t>Proposed Methodology</a:t>
            </a:r>
          </a:p>
        </p:txBody>
      </p:sp>
      <p:sp>
        <p:nvSpPr>
          <p:cNvPr id="22" name="TextBox 21"/>
          <p:cNvSpPr txBox="1"/>
          <p:nvPr/>
        </p:nvSpPr>
        <p:spPr>
          <a:xfrm>
            <a:off x="9281159" y="1892807"/>
            <a:ext cx="2130551" cy="704088"/>
          </a:xfrm>
          <a:prstGeom prst="rect">
            <a:avLst/>
          </a:prstGeom>
          <a:noFill/>
        </p:spPr>
        <p:txBody>
          <a:bodyPr wrap="square" lIns="18288" rIns="18288" tIns="18288" bIns="18288" anchor="t">
            <a:spAutoFit/>
          </a:bodyPr>
          <a:lstStyle/>
          <a:p>
            <a:pPr algn="l">
              <a:spcAft>
                <a:spcPts val="500"/>
              </a:spcAft>
              <a:defRPr sz="1000" b="0">
                <a:solidFill>
                  <a:srgbClr val="212B36"/>
                </a:solidFill>
                <a:latin typeface="Aptos"/>
              </a:defRPr>
            </a:pPr>
            <a:r>
              <a:t>3–4 Paragraphs</a:t>
            </a:r>
          </a:p>
        </p:txBody>
      </p:sp>
      <p:sp>
        <p:nvSpPr>
          <p:cNvPr id="23" name="Rounded Rectangle 22"/>
          <p:cNvSpPr/>
          <p:nvPr/>
        </p:nvSpPr>
        <p:spPr>
          <a:xfrm>
            <a:off x="685800" y="3200400"/>
            <a:ext cx="2542032"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 y="3200400"/>
            <a:ext cx="64008" cy="1417320"/>
          </a:xfrm>
          <a:prstGeom prst="rect">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364992"/>
            <a:ext cx="2130551" cy="347472"/>
          </a:xfrm>
          <a:prstGeom prst="rect">
            <a:avLst/>
          </a:prstGeom>
          <a:noFill/>
        </p:spPr>
        <p:txBody>
          <a:bodyPr wrap="square" lIns="18288" rIns="18288" tIns="18288" bIns="18288" anchor="t">
            <a:spAutoFit/>
          </a:bodyPr>
          <a:lstStyle/>
          <a:p>
            <a:pPr algn="l">
              <a:spcAft>
                <a:spcPts val="500"/>
              </a:spcAft>
              <a:defRPr sz="1200" b="1">
                <a:solidFill>
                  <a:srgbClr val="0C192D"/>
                </a:solidFill>
                <a:latin typeface="Aptos"/>
              </a:defRPr>
            </a:pPr>
            <a:r>
              <a:t>How its New</a:t>
            </a:r>
          </a:p>
        </p:txBody>
      </p:sp>
      <p:sp>
        <p:nvSpPr>
          <p:cNvPr id="26" name="TextBox 25"/>
          <p:cNvSpPr txBox="1"/>
          <p:nvPr/>
        </p:nvSpPr>
        <p:spPr>
          <a:xfrm>
            <a:off x="914400" y="3767328"/>
            <a:ext cx="2130551" cy="704088"/>
          </a:xfrm>
          <a:prstGeom prst="rect">
            <a:avLst/>
          </a:prstGeom>
          <a:noFill/>
        </p:spPr>
        <p:txBody>
          <a:bodyPr wrap="square" lIns="18288" rIns="18288" tIns="18288" bIns="18288" anchor="t">
            <a:spAutoFit/>
          </a:bodyPr>
          <a:lstStyle/>
          <a:p>
            <a:pPr algn="l">
              <a:spcAft>
                <a:spcPts val="500"/>
              </a:spcAft>
              <a:defRPr sz="1000" b="0">
                <a:solidFill>
                  <a:srgbClr val="212B36"/>
                </a:solidFill>
                <a:latin typeface="Aptos"/>
              </a:defRPr>
            </a:pPr>
            <a:r>
              <a:t>1–2 Paragraph</a:t>
            </a:r>
          </a:p>
        </p:txBody>
      </p:sp>
      <p:sp>
        <p:nvSpPr>
          <p:cNvPr id="27" name="Rounded Rectangle 26"/>
          <p:cNvSpPr/>
          <p:nvPr/>
        </p:nvSpPr>
        <p:spPr>
          <a:xfrm>
            <a:off x="3474720" y="3200400"/>
            <a:ext cx="2542032"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474720" y="3200400"/>
            <a:ext cx="64008" cy="1417320"/>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03320" y="3364992"/>
            <a:ext cx="2130551" cy="347472"/>
          </a:xfrm>
          <a:prstGeom prst="rect">
            <a:avLst/>
          </a:prstGeom>
          <a:noFill/>
        </p:spPr>
        <p:txBody>
          <a:bodyPr wrap="square" lIns="18288" rIns="18288" tIns="18288" bIns="18288" anchor="t">
            <a:spAutoFit/>
          </a:bodyPr>
          <a:lstStyle/>
          <a:p>
            <a:pPr algn="l">
              <a:spcAft>
                <a:spcPts val="500"/>
              </a:spcAft>
              <a:defRPr sz="1200" b="1">
                <a:solidFill>
                  <a:srgbClr val="0C192D"/>
                </a:solidFill>
                <a:latin typeface="Aptos"/>
              </a:defRPr>
            </a:pPr>
            <a:r>
              <a:t>Objectives / Deliverables</a:t>
            </a:r>
          </a:p>
        </p:txBody>
      </p:sp>
      <p:sp>
        <p:nvSpPr>
          <p:cNvPr id="30" name="TextBox 29"/>
          <p:cNvSpPr txBox="1"/>
          <p:nvPr/>
        </p:nvSpPr>
        <p:spPr>
          <a:xfrm>
            <a:off x="3703320" y="3767328"/>
            <a:ext cx="2130551" cy="704088"/>
          </a:xfrm>
          <a:prstGeom prst="rect">
            <a:avLst/>
          </a:prstGeom>
          <a:noFill/>
        </p:spPr>
        <p:txBody>
          <a:bodyPr wrap="square" lIns="18288" rIns="18288" tIns="18288" bIns="18288" anchor="t">
            <a:spAutoFit/>
          </a:bodyPr>
          <a:lstStyle/>
          <a:p>
            <a:pPr algn="l">
              <a:spcAft>
                <a:spcPts val="500"/>
              </a:spcAft>
              <a:defRPr sz="1000" b="0">
                <a:solidFill>
                  <a:srgbClr val="212B36"/>
                </a:solidFill>
                <a:latin typeface="Aptos"/>
              </a:defRPr>
            </a:pPr>
            <a:r>
              <a:t>Bullet Points</a:t>
            </a:r>
          </a:p>
        </p:txBody>
      </p:sp>
      <p:sp>
        <p:nvSpPr>
          <p:cNvPr id="31" name="Rounded Rectangle 30"/>
          <p:cNvSpPr/>
          <p:nvPr/>
        </p:nvSpPr>
        <p:spPr>
          <a:xfrm>
            <a:off x="6263640" y="3200400"/>
            <a:ext cx="2542032"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63640" y="3200400"/>
            <a:ext cx="64008" cy="1417320"/>
          </a:xfrm>
          <a:prstGeom prst="rect">
            <a:avLst/>
          </a:prstGeom>
          <a:solidFill>
            <a:srgbClr val="40A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92240" y="3364992"/>
            <a:ext cx="2130551" cy="347472"/>
          </a:xfrm>
          <a:prstGeom prst="rect">
            <a:avLst/>
          </a:prstGeom>
          <a:noFill/>
        </p:spPr>
        <p:txBody>
          <a:bodyPr wrap="square" lIns="18288" rIns="18288" tIns="18288" bIns="18288" anchor="t">
            <a:spAutoFit/>
          </a:bodyPr>
          <a:lstStyle/>
          <a:p>
            <a:pPr algn="l">
              <a:spcAft>
                <a:spcPts val="500"/>
              </a:spcAft>
              <a:defRPr sz="1200" b="1">
                <a:solidFill>
                  <a:srgbClr val="0C192D"/>
                </a:solidFill>
                <a:latin typeface="Aptos"/>
              </a:defRPr>
            </a:pPr>
            <a:r>
              <a:t>Deliverables</a:t>
            </a:r>
          </a:p>
        </p:txBody>
      </p:sp>
      <p:sp>
        <p:nvSpPr>
          <p:cNvPr id="34" name="TextBox 33"/>
          <p:cNvSpPr txBox="1"/>
          <p:nvPr/>
        </p:nvSpPr>
        <p:spPr>
          <a:xfrm>
            <a:off x="6492240" y="3767328"/>
            <a:ext cx="2130551" cy="704088"/>
          </a:xfrm>
          <a:prstGeom prst="rect">
            <a:avLst/>
          </a:prstGeom>
          <a:noFill/>
        </p:spPr>
        <p:txBody>
          <a:bodyPr wrap="square" lIns="18288" rIns="18288" tIns="18288" bIns="18288" anchor="t">
            <a:spAutoFit/>
          </a:bodyPr>
          <a:lstStyle/>
          <a:p>
            <a:pPr algn="l">
              <a:spcAft>
                <a:spcPts val="500"/>
              </a:spcAft>
              <a:defRPr sz="1000" b="0">
                <a:solidFill>
                  <a:srgbClr val="212B36"/>
                </a:solidFill>
                <a:latin typeface="Aptos"/>
              </a:defRPr>
            </a:pPr>
            <a:r>
              <a:t>Bullet Points</a:t>
            </a:r>
          </a:p>
        </p:txBody>
      </p:sp>
      <p:sp>
        <p:nvSpPr>
          <p:cNvPr id="35" name="Rounded Rectangle 34"/>
          <p:cNvSpPr/>
          <p:nvPr/>
        </p:nvSpPr>
        <p:spPr>
          <a:xfrm>
            <a:off x="9052559" y="3200400"/>
            <a:ext cx="2542032" cy="1417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052559" y="3200400"/>
            <a:ext cx="64008" cy="1417320"/>
          </a:xfrm>
          <a:prstGeom prst="rect">
            <a:avLst/>
          </a:prstGeom>
          <a:solidFill>
            <a:srgbClr val="0C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81159" y="3364992"/>
            <a:ext cx="2130551" cy="347472"/>
          </a:xfrm>
          <a:prstGeom prst="rect">
            <a:avLst/>
          </a:prstGeom>
          <a:noFill/>
        </p:spPr>
        <p:txBody>
          <a:bodyPr wrap="square" lIns="18288" rIns="18288" tIns="18288" bIns="18288" anchor="t">
            <a:spAutoFit/>
          </a:bodyPr>
          <a:lstStyle/>
          <a:p>
            <a:pPr algn="l">
              <a:spcAft>
                <a:spcPts val="500"/>
              </a:spcAft>
              <a:defRPr sz="1200" b="1">
                <a:solidFill>
                  <a:srgbClr val="0C192D"/>
                </a:solidFill>
                <a:latin typeface="Aptos"/>
              </a:defRPr>
            </a:pPr>
            <a:r>
              <a:t>System Overview Diagram</a:t>
            </a:r>
          </a:p>
        </p:txBody>
      </p:sp>
      <p:sp>
        <p:nvSpPr>
          <p:cNvPr id="38" name="TextBox 37"/>
          <p:cNvSpPr txBox="1"/>
          <p:nvPr/>
        </p:nvSpPr>
        <p:spPr>
          <a:xfrm>
            <a:off x="9281159" y="3767328"/>
            <a:ext cx="2130551" cy="704088"/>
          </a:xfrm>
          <a:prstGeom prst="rect">
            <a:avLst/>
          </a:prstGeom>
          <a:noFill/>
        </p:spPr>
        <p:txBody>
          <a:bodyPr wrap="square" lIns="18288" rIns="18288" tIns="18288" bIns="18288" anchor="t">
            <a:spAutoFit/>
          </a:bodyPr>
          <a:lstStyle/>
          <a:p>
            <a:pPr algn="l">
              <a:spcAft>
                <a:spcPts val="500"/>
              </a:spcAft>
              <a:defRPr sz="1000" b="0">
                <a:solidFill>
                  <a:srgbClr val="212B36"/>
                </a:solidFill>
                <a:latin typeface="Aptos"/>
              </a:defRPr>
            </a:pPr>
            <a:r>
              <a:t>System-level visual</a:t>
            </a:r>
          </a:p>
        </p:txBody>
      </p:sp>
      <p:sp>
        <p:nvSpPr>
          <p:cNvPr id="39" name="TextBox 38"/>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COMSATS University Islamabad • Department of Computer Engineering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0C192D"/>
                </a:solidFill>
                <a:latin typeface="Aptos Display"/>
              </a:defRPr>
            </a:pPr>
            <a:r>
              <a:t>Literature review process</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1A74BE"/>
                </a:solidFill>
                <a:latin typeface="Aptos"/>
              </a:defRPr>
            </a:pPr>
            <a:r>
              <a:t>05 • EVIDENCE &amp; METHODOLOGY</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5C6A78"/>
                </a:solidFill>
                <a:latin typeface="Aptos"/>
              </a:defRPr>
            </a:pPr>
            <a:r>
              <a:t>17</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17.jpg"/>
          <p:cNvPicPr>
            <a:picLocks noChangeAspect="1"/>
          </p:cNvPicPr>
          <p:nvPr/>
        </p:nvPicPr>
        <p:blipFill>
          <a:blip r:embed="rId2"/>
          <a:stretch>
            <a:fillRect/>
          </a:stretch>
        </p:blipFill>
        <p:spPr>
          <a:xfrm>
            <a:off x="3063240" y="1234440"/>
            <a:ext cx="6080760" cy="4297680"/>
          </a:xfrm>
          <a:prstGeom prst="rect">
            <a:avLst/>
          </a:prstGeom>
        </p:spPr>
      </p:pic>
      <p:sp>
        <p:nvSpPr>
          <p:cNvPr id="8" name="TextBox 7"/>
          <p:cNvSpPr txBox="1"/>
          <p:nvPr/>
        </p:nvSpPr>
        <p:spPr>
          <a:xfrm>
            <a:off x="731520" y="1188720"/>
            <a:ext cx="2743200" cy="502920"/>
          </a:xfrm>
          <a:prstGeom prst="rect">
            <a:avLst/>
          </a:prstGeom>
          <a:noFill/>
        </p:spPr>
        <p:txBody>
          <a:bodyPr wrap="square" lIns="18288" rIns="18288" tIns="18288" bIns="18288" anchor="t">
            <a:spAutoFit/>
          </a:bodyPr>
          <a:lstStyle/>
          <a:p>
            <a:pPr algn="l">
              <a:spcAft>
                <a:spcPts val="500"/>
              </a:spcAft>
              <a:defRPr sz="1500" b="1">
                <a:solidFill>
                  <a:srgbClr val="0C192D"/>
                </a:solidFill>
                <a:latin typeface="Aptos"/>
              </a:defRPr>
            </a:pPr>
            <a:r>
              <a:t>A literature review should connect four questions:</a:t>
            </a:r>
          </a:p>
        </p:txBody>
      </p:sp>
      <p:sp>
        <p:nvSpPr>
          <p:cNvPr id="9" name="TextBox 8"/>
          <p:cNvSpPr txBox="1"/>
          <p:nvPr/>
        </p:nvSpPr>
        <p:spPr>
          <a:xfrm>
            <a:off x="749808" y="1920240"/>
            <a:ext cx="2148840" cy="502920"/>
          </a:xfrm>
          <a:prstGeom prst="rect">
            <a:avLst/>
          </a:prstGeom>
          <a:noFill/>
        </p:spPr>
        <p:txBody>
          <a:bodyPr wrap="square" lIns="18288" rIns="18288" tIns="18288" bIns="18288" anchor="t">
            <a:spAutoFit/>
          </a:bodyPr>
          <a:lstStyle/>
          <a:p>
            <a:pPr algn="l">
              <a:spcAft>
                <a:spcPts val="500"/>
              </a:spcAft>
              <a:defRPr sz="1050" b="1">
                <a:solidFill>
                  <a:srgbClr val="212B36"/>
                </a:solidFill>
                <a:latin typeface="Aptos"/>
              </a:defRPr>
            </a:pPr>
            <a:r>
              <a:t>1. What are the key theoretical concepts?</a:t>
            </a:r>
          </a:p>
        </p:txBody>
      </p:sp>
      <p:sp>
        <p:nvSpPr>
          <p:cNvPr id="10" name="TextBox 9"/>
          <p:cNvSpPr txBox="1"/>
          <p:nvPr/>
        </p:nvSpPr>
        <p:spPr>
          <a:xfrm>
            <a:off x="749808" y="2633472"/>
            <a:ext cx="2148840" cy="502920"/>
          </a:xfrm>
          <a:prstGeom prst="rect">
            <a:avLst/>
          </a:prstGeom>
          <a:noFill/>
        </p:spPr>
        <p:txBody>
          <a:bodyPr wrap="square" lIns="18288" rIns="18288" tIns="18288" bIns="18288" anchor="t">
            <a:spAutoFit/>
          </a:bodyPr>
          <a:lstStyle/>
          <a:p>
            <a:pPr algn="l">
              <a:spcAft>
                <a:spcPts val="500"/>
              </a:spcAft>
              <a:defRPr sz="1050" b="1">
                <a:solidFill>
                  <a:srgbClr val="212B36"/>
                </a:solidFill>
                <a:latin typeface="Aptos"/>
              </a:defRPr>
            </a:pPr>
            <a:r>
              <a:t>2. What are the main research themes and trends?</a:t>
            </a:r>
          </a:p>
        </p:txBody>
      </p:sp>
      <p:sp>
        <p:nvSpPr>
          <p:cNvPr id="11" name="TextBox 10"/>
          <p:cNvSpPr txBox="1"/>
          <p:nvPr/>
        </p:nvSpPr>
        <p:spPr>
          <a:xfrm>
            <a:off x="749808" y="3346704"/>
            <a:ext cx="2148840" cy="502920"/>
          </a:xfrm>
          <a:prstGeom prst="rect">
            <a:avLst/>
          </a:prstGeom>
          <a:noFill/>
        </p:spPr>
        <p:txBody>
          <a:bodyPr wrap="square" lIns="18288" rIns="18288" tIns="18288" bIns="18288" anchor="t">
            <a:spAutoFit/>
          </a:bodyPr>
          <a:lstStyle/>
          <a:p>
            <a:pPr algn="l">
              <a:spcAft>
                <a:spcPts val="500"/>
              </a:spcAft>
              <a:defRPr sz="1050" b="1">
                <a:solidFill>
                  <a:srgbClr val="212B36"/>
                </a:solidFill>
                <a:latin typeface="Aptos"/>
              </a:defRPr>
            </a:pPr>
            <a:r>
              <a:t>3. What are the limitations / gaps?</a:t>
            </a:r>
          </a:p>
        </p:txBody>
      </p:sp>
      <p:sp>
        <p:nvSpPr>
          <p:cNvPr id="12" name="TextBox 11"/>
          <p:cNvSpPr txBox="1"/>
          <p:nvPr/>
        </p:nvSpPr>
        <p:spPr>
          <a:xfrm>
            <a:off x="749808" y="4059935"/>
            <a:ext cx="2148840" cy="502920"/>
          </a:xfrm>
          <a:prstGeom prst="rect">
            <a:avLst/>
          </a:prstGeom>
          <a:noFill/>
        </p:spPr>
        <p:txBody>
          <a:bodyPr wrap="square" lIns="18288" rIns="18288" tIns="18288" bIns="18288" anchor="t">
            <a:spAutoFit/>
          </a:bodyPr>
          <a:lstStyle/>
          <a:p>
            <a:pPr algn="l">
              <a:spcAft>
                <a:spcPts val="500"/>
              </a:spcAft>
              <a:defRPr sz="1050" b="1">
                <a:solidFill>
                  <a:srgbClr val="212B36"/>
                </a:solidFill>
                <a:latin typeface="Aptos"/>
              </a:defRPr>
            </a:pPr>
            <a:r>
              <a:t>4. What direction should the proposed work take?</a:t>
            </a:r>
          </a:p>
        </p:txBody>
      </p:sp>
      <p:sp>
        <p:nvSpPr>
          <p:cNvPr id="13" name="Rounded Rectangle 12"/>
          <p:cNvSpPr/>
          <p:nvPr/>
        </p:nvSpPr>
        <p:spPr>
          <a:xfrm>
            <a:off x="3566160" y="5715000"/>
            <a:ext cx="5120640" cy="310896"/>
          </a:xfrm>
          <a:prstGeom prst="roundRect">
            <a:avLst/>
          </a:prstGeom>
          <a:solidFill>
            <a:srgbClr val="EB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79" y="5751576"/>
            <a:ext cx="5029200" cy="210312"/>
          </a:xfrm>
          <a:prstGeom prst="rect">
            <a:avLst/>
          </a:prstGeom>
          <a:noFill/>
        </p:spPr>
        <p:txBody>
          <a:bodyPr wrap="square" lIns="18288" rIns="18288" tIns="18288" bIns="18288" anchor="ctr">
            <a:spAutoFit/>
          </a:bodyPr>
          <a:lstStyle/>
          <a:p>
            <a:pPr algn="ctr">
              <a:spcAft>
                <a:spcPts val="500"/>
              </a:spcAft>
              <a:defRPr sz="850" b="1">
                <a:solidFill>
                  <a:srgbClr val="1A74BE"/>
                </a:solidFill>
                <a:latin typeface="Aptos"/>
              </a:defRPr>
            </a:pPr>
            <a:r>
              <a:t>Read → compare → synthesize → identify the gap</a:t>
            </a:r>
          </a:p>
        </p:txBody>
      </p:sp>
      <p:sp>
        <p:nvSpPr>
          <p:cNvPr id="15" name="TextBox 14"/>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COMSATS University Islamabad • Department of Computer Engineering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0C192D"/>
                </a:solidFill>
                <a:latin typeface="Aptos Display"/>
              </a:defRPr>
            </a:pPr>
            <a:r>
              <a:t>Literature review summary table</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1A74BE"/>
                </a:solidFill>
                <a:latin typeface="Aptos"/>
              </a:defRPr>
            </a:pPr>
            <a:r>
              <a:t>05 • EVIDENCE &amp; METHODOLOGY</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5C6A78"/>
                </a:solidFill>
                <a:latin typeface="Aptos"/>
              </a:defRPr>
            </a:pPr>
            <a:r>
              <a:t>18</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18.jpg"/>
          <p:cNvPicPr>
            <a:picLocks noChangeAspect="1"/>
          </p:cNvPicPr>
          <p:nvPr/>
        </p:nvPicPr>
        <p:blipFill>
          <a:blip r:embed="rId2"/>
          <a:stretch>
            <a:fillRect/>
          </a:stretch>
        </p:blipFill>
        <p:spPr>
          <a:xfrm>
            <a:off x="822960" y="1234440"/>
            <a:ext cx="10561320" cy="4480560"/>
          </a:xfrm>
          <a:prstGeom prst="rect">
            <a:avLst/>
          </a:prstGeom>
        </p:spPr>
      </p:pic>
      <p:sp>
        <p:nvSpPr>
          <p:cNvPr id="8" name="Rounded Rectangle 7"/>
          <p:cNvSpPr/>
          <p:nvPr/>
        </p:nvSpPr>
        <p:spPr>
          <a:xfrm>
            <a:off x="2788920" y="5806440"/>
            <a:ext cx="6629400" cy="310896"/>
          </a:xfrm>
          <a:prstGeom prst="roundRect">
            <a:avLst/>
          </a:prstGeom>
          <a:solidFill>
            <a:srgbClr val="EB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34639" y="5843016"/>
            <a:ext cx="6537960" cy="210312"/>
          </a:xfrm>
          <a:prstGeom prst="rect">
            <a:avLst/>
          </a:prstGeom>
          <a:noFill/>
        </p:spPr>
        <p:txBody>
          <a:bodyPr wrap="square" lIns="18288" rIns="18288" tIns="18288" bIns="18288" anchor="ctr">
            <a:spAutoFit/>
          </a:bodyPr>
          <a:lstStyle/>
          <a:p>
            <a:pPr algn="ctr">
              <a:spcAft>
                <a:spcPts val="500"/>
              </a:spcAft>
              <a:defRPr sz="850" b="1">
                <a:solidFill>
                  <a:srgbClr val="1A74BE"/>
                </a:solidFill>
                <a:latin typeface="Aptos"/>
              </a:defRPr>
            </a:pPr>
            <a:r>
              <a:t>Use a comparison table to expose methods, datasets, limitations, gaps and results.</a:t>
            </a:r>
          </a:p>
        </p:txBody>
      </p:sp>
      <p:sp>
        <p:nvSpPr>
          <p:cNvPr id="10" name="TextBox 9"/>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COMSATS University Islamabad • Department of Computer Engineering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0C192D"/>
                </a:solidFill>
                <a:latin typeface="Aptos Display"/>
              </a:defRPr>
            </a:pPr>
            <a:r>
              <a:t>Example of a system overview diagram</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1A74BE"/>
                </a:solidFill>
                <a:latin typeface="Aptos"/>
              </a:defRPr>
            </a:pPr>
            <a:r>
              <a:t>05 • EVIDENCE &amp; METHODOLOGY</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5C6A78"/>
                </a:solidFill>
                <a:latin typeface="Aptos"/>
              </a:defRPr>
            </a:pPr>
            <a:r>
              <a:t>19</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143000"/>
            <a:ext cx="5486400" cy="384048"/>
          </a:xfrm>
          <a:prstGeom prst="rect">
            <a:avLst/>
          </a:prstGeom>
          <a:noFill/>
        </p:spPr>
        <p:txBody>
          <a:bodyPr wrap="square" lIns="18288" rIns="18288" tIns="18288" bIns="18288" anchor="t">
            <a:spAutoFit/>
          </a:bodyPr>
          <a:lstStyle/>
          <a:p>
            <a:pPr algn="l">
              <a:spcAft>
                <a:spcPts val="500"/>
              </a:spcAft>
              <a:defRPr sz="1700" b="1">
                <a:solidFill>
                  <a:srgbClr val="0C192D"/>
                </a:solidFill>
                <a:latin typeface="Aptos"/>
              </a:defRPr>
            </a:pPr>
            <a:r>
              <a:t>Would be a System’s Block Diagram</a:t>
            </a:r>
          </a:p>
        </p:txBody>
      </p:sp>
      <p:pic>
        <p:nvPicPr>
          <p:cNvPr id="8" name="Picture 7" descr="slide-19.jpg"/>
          <p:cNvPicPr>
            <a:picLocks noChangeAspect="1"/>
          </p:cNvPicPr>
          <p:nvPr/>
        </p:nvPicPr>
        <p:blipFill>
          <a:blip r:embed="rId2"/>
          <a:stretch>
            <a:fillRect/>
          </a:stretch>
        </p:blipFill>
        <p:spPr>
          <a:xfrm>
            <a:off x="2788920" y="1600200"/>
            <a:ext cx="6583680" cy="4023360"/>
          </a:xfrm>
          <a:prstGeom prst="rect">
            <a:avLst/>
          </a:prstGeom>
        </p:spPr>
      </p:pic>
      <p:sp>
        <p:nvSpPr>
          <p:cNvPr id="9" name="Rounded Rectangle 8"/>
          <p:cNvSpPr/>
          <p:nvPr/>
        </p:nvSpPr>
        <p:spPr>
          <a:xfrm>
            <a:off x="685800" y="5303520"/>
            <a:ext cx="2331720"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5303520"/>
            <a:ext cx="64008" cy="658368"/>
          </a:xfrm>
          <a:prstGeom prst="rect">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468112"/>
            <a:ext cx="1920239" cy="347472"/>
          </a:xfrm>
          <a:prstGeom prst="rect">
            <a:avLst/>
          </a:prstGeom>
          <a:noFill/>
        </p:spPr>
        <p:txBody>
          <a:bodyPr wrap="square" lIns="18288" rIns="18288" tIns="18288" bIns="18288" anchor="t">
            <a:spAutoFit/>
          </a:bodyPr>
          <a:lstStyle/>
          <a:p>
            <a:pPr algn="l">
              <a:spcAft>
                <a:spcPts val="500"/>
              </a:spcAft>
              <a:defRPr sz="1000" b="1">
                <a:solidFill>
                  <a:srgbClr val="0C192D"/>
                </a:solidFill>
                <a:latin typeface="Aptos"/>
              </a:defRPr>
            </a:pPr>
            <a:r>
              <a:t>INPUT / SENSORS</a:t>
            </a:r>
          </a:p>
        </p:txBody>
      </p:sp>
      <p:sp>
        <p:nvSpPr>
          <p:cNvPr id="12" name="TextBox 11"/>
          <p:cNvSpPr txBox="1"/>
          <p:nvPr/>
        </p:nvSpPr>
        <p:spPr>
          <a:xfrm>
            <a:off x="914400" y="5870448"/>
            <a:ext cx="1920239" cy="-54864"/>
          </a:xfrm>
          <a:prstGeom prst="rect">
            <a:avLst/>
          </a:prstGeom>
          <a:noFill/>
        </p:spPr>
        <p:txBody>
          <a:bodyPr wrap="square" lIns="18288" rIns="18288" tIns="18288" bIns="18288" anchor="t">
            <a:spAutoFit/>
          </a:bodyPr>
          <a:lstStyle/>
          <a:p>
            <a:pPr algn="l">
              <a:spcAft>
                <a:spcPts val="500"/>
              </a:spcAft>
              <a:defRPr sz="850" b="0">
                <a:solidFill>
                  <a:srgbClr val="212B36"/>
                </a:solidFill>
                <a:latin typeface="Aptos"/>
              </a:defRPr>
            </a:pPr>
            <a:r>
              <a:t>Data source</a:t>
            </a:r>
          </a:p>
        </p:txBody>
      </p:sp>
      <p:sp>
        <p:nvSpPr>
          <p:cNvPr id="13" name="Rounded Rectangle 12"/>
          <p:cNvSpPr/>
          <p:nvPr/>
        </p:nvSpPr>
        <p:spPr>
          <a:xfrm>
            <a:off x="3246120" y="5303520"/>
            <a:ext cx="2331720"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46120" y="5303520"/>
            <a:ext cx="64008" cy="658368"/>
          </a:xfrm>
          <a:prstGeom prst="rect">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0" y="5468112"/>
            <a:ext cx="1920239" cy="347472"/>
          </a:xfrm>
          <a:prstGeom prst="rect">
            <a:avLst/>
          </a:prstGeom>
          <a:noFill/>
        </p:spPr>
        <p:txBody>
          <a:bodyPr wrap="square" lIns="18288" rIns="18288" tIns="18288" bIns="18288" anchor="t">
            <a:spAutoFit/>
          </a:bodyPr>
          <a:lstStyle/>
          <a:p>
            <a:pPr algn="l">
              <a:spcAft>
                <a:spcPts val="500"/>
              </a:spcAft>
              <a:defRPr sz="1000" b="1">
                <a:solidFill>
                  <a:srgbClr val="0C192D"/>
                </a:solidFill>
                <a:latin typeface="Aptos"/>
              </a:defRPr>
            </a:pPr>
            <a:r>
              <a:t>PROCESSING</a:t>
            </a:r>
          </a:p>
        </p:txBody>
      </p:sp>
      <p:sp>
        <p:nvSpPr>
          <p:cNvPr id="16" name="TextBox 15"/>
          <p:cNvSpPr txBox="1"/>
          <p:nvPr/>
        </p:nvSpPr>
        <p:spPr>
          <a:xfrm>
            <a:off x="3474720" y="5870448"/>
            <a:ext cx="1920239" cy="-54864"/>
          </a:xfrm>
          <a:prstGeom prst="rect">
            <a:avLst/>
          </a:prstGeom>
          <a:noFill/>
        </p:spPr>
        <p:txBody>
          <a:bodyPr wrap="square" lIns="18288" rIns="18288" tIns="18288" bIns="18288" anchor="t">
            <a:spAutoFit/>
          </a:bodyPr>
          <a:lstStyle/>
          <a:p>
            <a:pPr algn="l">
              <a:spcAft>
                <a:spcPts val="500"/>
              </a:spcAft>
              <a:defRPr sz="850" b="0">
                <a:solidFill>
                  <a:srgbClr val="212B36"/>
                </a:solidFill>
                <a:latin typeface="Aptos"/>
              </a:defRPr>
            </a:pPr>
            <a:r>
              <a:t>Core logic</a:t>
            </a:r>
          </a:p>
        </p:txBody>
      </p:sp>
      <p:sp>
        <p:nvSpPr>
          <p:cNvPr id="17" name="Rounded Rectangle 16"/>
          <p:cNvSpPr/>
          <p:nvPr/>
        </p:nvSpPr>
        <p:spPr>
          <a:xfrm>
            <a:off x="5806440" y="5303520"/>
            <a:ext cx="2331720"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806440" y="5303520"/>
            <a:ext cx="64008" cy="658368"/>
          </a:xfrm>
          <a:prstGeom prst="rect">
            <a:avLst/>
          </a:prstGeom>
          <a:solidFill>
            <a:srgbClr val="765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5468112"/>
            <a:ext cx="1920239" cy="347472"/>
          </a:xfrm>
          <a:prstGeom prst="rect">
            <a:avLst/>
          </a:prstGeom>
          <a:noFill/>
        </p:spPr>
        <p:txBody>
          <a:bodyPr wrap="square" lIns="18288" rIns="18288" tIns="18288" bIns="18288" anchor="t">
            <a:spAutoFit/>
          </a:bodyPr>
          <a:lstStyle/>
          <a:p>
            <a:pPr algn="l">
              <a:spcAft>
                <a:spcPts val="500"/>
              </a:spcAft>
              <a:defRPr sz="1000" b="1">
                <a:solidFill>
                  <a:srgbClr val="0C192D"/>
                </a:solidFill>
                <a:latin typeface="Aptos"/>
              </a:defRPr>
            </a:pPr>
            <a:r>
              <a:t>STORAGE</a:t>
            </a:r>
          </a:p>
        </p:txBody>
      </p:sp>
      <p:sp>
        <p:nvSpPr>
          <p:cNvPr id="20" name="TextBox 19"/>
          <p:cNvSpPr txBox="1"/>
          <p:nvPr/>
        </p:nvSpPr>
        <p:spPr>
          <a:xfrm>
            <a:off x="6035040" y="5870448"/>
            <a:ext cx="1920239" cy="-54864"/>
          </a:xfrm>
          <a:prstGeom prst="rect">
            <a:avLst/>
          </a:prstGeom>
          <a:noFill/>
        </p:spPr>
        <p:txBody>
          <a:bodyPr wrap="square" lIns="18288" rIns="18288" tIns="18288" bIns="18288" anchor="t">
            <a:spAutoFit/>
          </a:bodyPr>
          <a:lstStyle/>
          <a:p>
            <a:pPr algn="l">
              <a:spcAft>
                <a:spcPts val="500"/>
              </a:spcAft>
              <a:defRPr sz="850" b="0">
                <a:solidFill>
                  <a:srgbClr val="212B36"/>
                </a:solidFill>
                <a:latin typeface="Aptos"/>
              </a:defRPr>
            </a:pPr>
            <a:r>
              <a:t>Data layer</a:t>
            </a:r>
          </a:p>
        </p:txBody>
      </p:sp>
      <p:sp>
        <p:nvSpPr>
          <p:cNvPr id="21" name="Rounded Rectangle 20"/>
          <p:cNvSpPr/>
          <p:nvPr/>
        </p:nvSpPr>
        <p:spPr>
          <a:xfrm>
            <a:off x="8366760" y="5303520"/>
            <a:ext cx="2331720"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66760" y="5303520"/>
            <a:ext cx="64008" cy="658368"/>
          </a:xfrm>
          <a:prstGeom prst="rect">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0" y="5468112"/>
            <a:ext cx="1920239" cy="347472"/>
          </a:xfrm>
          <a:prstGeom prst="rect">
            <a:avLst/>
          </a:prstGeom>
          <a:noFill/>
        </p:spPr>
        <p:txBody>
          <a:bodyPr wrap="square" lIns="18288" rIns="18288" tIns="18288" bIns="18288" anchor="t">
            <a:spAutoFit/>
          </a:bodyPr>
          <a:lstStyle/>
          <a:p>
            <a:pPr algn="l">
              <a:spcAft>
                <a:spcPts val="500"/>
              </a:spcAft>
              <a:defRPr sz="1000" b="1">
                <a:solidFill>
                  <a:srgbClr val="0C192D"/>
                </a:solidFill>
                <a:latin typeface="Aptos"/>
              </a:defRPr>
            </a:pPr>
            <a:r>
              <a:t>OUTPUT</a:t>
            </a:r>
          </a:p>
        </p:txBody>
      </p:sp>
      <p:sp>
        <p:nvSpPr>
          <p:cNvPr id="24" name="TextBox 23"/>
          <p:cNvSpPr txBox="1"/>
          <p:nvPr/>
        </p:nvSpPr>
        <p:spPr>
          <a:xfrm>
            <a:off x="8595360" y="5870448"/>
            <a:ext cx="1920239" cy="-54864"/>
          </a:xfrm>
          <a:prstGeom prst="rect">
            <a:avLst/>
          </a:prstGeom>
          <a:noFill/>
        </p:spPr>
        <p:txBody>
          <a:bodyPr wrap="square" lIns="18288" rIns="18288" tIns="18288" bIns="18288" anchor="t">
            <a:spAutoFit/>
          </a:bodyPr>
          <a:lstStyle/>
          <a:p>
            <a:pPr algn="l">
              <a:spcAft>
                <a:spcPts val="500"/>
              </a:spcAft>
              <a:defRPr sz="850" b="0">
                <a:solidFill>
                  <a:srgbClr val="212B36"/>
                </a:solidFill>
                <a:latin typeface="Aptos"/>
              </a:defRPr>
            </a:pPr>
            <a:r>
              <a:t>User view</a:t>
            </a:r>
          </a:p>
        </p:txBody>
      </p:sp>
      <p:sp>
        <p:nvSpPr>
          <p:cNvPr id="25" name="TextBox 24"/>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COMSATS University Islamabad • Department of Computer Engineering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0C192D"/>
                </a:solidFill>
                <a:latin typeface="Aptos Display"/>
              </a:defRPr>
            </a:pPr>
            <a:r>
              <a:t>Methodology: explain how the solution will be built and assessed</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1A74BE"/>
                </a:solidFill>
                <a:latin typeface="Aptos"/>
              </a:defRPr>
            </a:pPr>
            <a:r>
              <a:t>05 • EVIDENCE &amp; METHODOLOGY</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5C6A78"/>
                </a:solidFill>
                <a:latin typeface="Aptos"/>
              </a:defRPr>
            </a:pPr>
            <a:r>
              <a:t>20</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097280"/>
            <a:ext cx="10515600" cy="502920"/>
          </a:xfrm>
          <a:prstGeom prst="rect">
            <a:avLst/>
          </a:prstGeom>
          <a:noFill/>
        </p:spPr>
        <p:txBody>
          <a:bodyPr wrap="square" lIns="18288" rIns="18288" tIns="18288" bIns="18288" anchor="t">
            <a:spAutoFit/>
          </a:bodyPr>
          <a:lstStyle/>
          <a:p>
            <a:pPr algn="l">
              <a:spcAft>
                <a:spcPts val="500"/>
              </a:spcAft>
              <a:defRPr sz="1600" b="1">
                <a:solidFill>
                  <a:srgbClr val="0C192D"/>
                </a:solidFill>
                <a:latin typeface="Aptos"/>
              </a:defRPr>
            </a:pPr>
            <a:r>
              <a:t>Begin your methodology with a clear description of proposed: literature survey/ feasibility study and/or a critical review.</a:t>
            </a:r>
          </a:p>
        </p:txBody>
      </p:sp>
      <p:sp>
        <p:nvSpPr>
          <p:cNvPr id="8" name="Rounded Rectangle 7"/>
          <p:cNvSpPr/>
          <p:nvPr/>
        </p:nvSpPr>
        <p:spPr>
          <a:xfrm>
            <a:off x="731520" y="1920240"/>
            <a:ext cx="196596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20240"/>
            <a:ext cx="64008" cy="1325880"/>
          </a:xfrm>
          <a:prstGeom prst="rect">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084832"/>
            <a:ext cx="1554480" cy="347472"/>
          </a:xfrm>
          <a:prstGeom prst="rect">
            <a:avLst/>
          </a:prstGeom>
          <a:noFill/>
        </p:spPr>
        <p:txBody>
          <a:bodyPr wrap="square" lIns="18288" rIns="18288" tIns="18288" bIns="18288" anchor="t">
            <a:spAutoFit/>
          </a:bodyPr>
          <a:lstStyle/>
          <a:p>
            <a:pPr algn="l">
              <a:spcAft>
                <a:spcPts val="500"/>
              </a:spcAft>
              <a:defRPr sz="1200" b="1">
                <a:solidFill>
                  <a:srgbClr val="0C192D"/>
                </a:solidFill>
                <a:latin typeface="Aptos"/>
              </a:defRPr>
            </a:pPr>
            <a:r>
              <a:t>Q1</a:t>
            </a:r>
          </a:p>
        </p:txBody>
      </p:sp>
      <p:sp>
        <p:nvSpPr>
          <p:cNvPr id="11" name="TextBox 10"/>
          <p:cNvSpPr txBox="1"/>
          <p:nvPr/>
        </p:nvSpPr>
        <p:spPr>
          <a:xfrm>
            <a:off x="960120" y="2487168"/>
            <a:ext cx="1554480" cy="612647"/>
          </a:xfrm>
          <a:prstGeom prst="rect">
            <a:avLst/>
          </a:prstGeom>
          <a:noFill/>
        </p:spPr>
        <p:txBody>
          <a:bodyPr wrap="square" lIns="18288" rIns="18288" tIns="18288" bIns="18288" anchor="t">
            <a:spAutoFit/>
          </a:bodyPr>
          <a:lstStyle/>
          <a:p>
            <a:pPr algn="l">
              <a:spcAft>
                <a:spcPts val="500"/>
              </a:spcAft>
              <a:defRPr sz="950" b="0">
                <a:solidFill>
                  <a:srgbClr val="212B36"/>
                </a:solidFill>
                <a:latin typeface="Aptos"/>
              </a:defRPr>
            </a:pPr>
            <a:r>
              <a:t>What is the history of your project topic?</a:t>
            </a:r>
          </a:p>
        </p:txBody>
      </p:sp>
      <p:sp>
        <p:nvSpPr>
          <p:cNvPr id="12" name="Rounded Rectangle 11"/>
          <p:cNvSpPr/>
          <p:nvPr/>
        </p:nvSpPr>
        <p:spPr>
          <a:xfrm>
            <a:off x="2926080" y="1920240"/>
            <a:ext cx="196596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26080" y="1920240"/>
            <a:ext cx="64008" cy="1325880"/>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54680" y="2084832"/>
            <a:ext cx="1554480" cy="347472"/>
          </a:xfrm>
          <a:prstGeom prst="rect">
            <a:avLst/>
          </a:prstGeom>
          <a:noFill/>
        </p:spPr>
        <p:txBody>
          <a:bodyPr wrap="square" lIns="18288" rIns="18288" tIns="18288" bIns="18288" anchor="t">
            <a:spAutoFit/>
          </a:bodyPr>
          <a:lstStyle/>
          <a:p>
            <a:pPr algn="l">
              <a:spcAft>
                <a:spcPts val="500"/>
              </a:spcAft>
              <a:defRPr sz="1200" b="1">
                <a:solidFill>
                  <a:srgbClr val="0C192D"/>
                </a:solidFill>
                <a:latin typeface="Aptos"/>
              </a:defRPr>
            </a:pPr>
            <a:r>
              <a:t>Q2</a:t>
            </a:r>
          </a:p>
        </p:txBody>
      </p:sp>
      <p:sp>
        <p:nvSpPr>
          <p:cNvPr id="15" name="TextBox 14"/>
          <p:cNvSpPr txBox="1"/>
          <p:nvPr/>
        </p:nvSpPr>
        <p:spPr>
          <a:xfrm>
            <a:off x="3154680" y="2487168"/>
            <a:ext cx="1554480" cy="612647"/>
          </a:xfrm>
          <a:prstGeom prst="rect">
            <a:avLst/>
          </a:prstGeom>
          <a:noFill/>
        </p:spPr>
        <p:txBody>
          <a:bodyPr wrap="square" lIns="18288" rIns="18288" tIns="18288" bIns="18288" anchor="t">
            <a:spAutoFit/>
          </a:bodyPr>
          <a:lstStyle/>
          <a:p>
            <a:pPr algn="l">
              <a:spcAft>
                <a:spcPts val="500"/>
              </a:spcAft>
              <a:defRPr sz="950" b="0">
                <a:solidFill>
                  <a:srgbClr val="212B36"/>
                </a:solidFill>
                <a:latin typeface="Aptos"/>
              </a:defRPr>
            </a:pPr>
            <a:r>
              <a:t>What are experts in the field discussing that relates to your topic?</a:t>
            </a:r>
          </a:p>
        </p:txBody>
      </p:sp>
      <p:sp>
        <p:nvSpPr>
          <p:cNvPr id="16" name="Rounded Rectangle 15"/>
          <p:cNvSpPr/>
          <p:nvPr/>
        </p:nvSpPr>
        <p:spPr>
          <a:xfrm>
            <a:off x="5120640" y="1920240"/>
            <a:ext cx="196596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120640" y="1920240"/>
            <a:ext cx="64008" cy="1325880"/>
          </a:xfrm>
          <a:prstGeom prst="rect">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49240" y="2084832"/>
            <a:ext cx="1554480" cy="347472"/>
          </a:xfrm>
          <a:prstGeom prst="rect">
            <a:avLst/>
          </a:prstGeom>
          <a:noFill/>
        </p:spPr>
        <p:txBody>
          <a:bodyPr wrap="square" lIns="18288" rIns="18288" tIns="18288" bIns="18288" anchor="t">
            <a:spAutoFit/>
          </a:bodyPr>
          <a:lstStyle/>
          <a:p>
            <a:pPr algn="l">
              <a:spcAft>
                <a:spcPts val="500"/>
              </a:spcAft>
              <a:defRPr sz="1200" b="1">
                <a:solidFill>
                  <a:srgbClr val="0C192D"/>
                </a:solidFill>
                <a:latin typeface="Aptos"/>
              </a:defRPr>
            </a:pPr>
            <a:r>
              <a:t>Q3</a:t>
            </a:r>
          </a:p>
        </p:txBody>
      </p:sp>
      <p:sp>
        <p:nvSpPr>
          <p:cNvPr id="19" name="TextBox 18"/>
          <p:cNvSpPr txBox="1"/>
          <p:nvPr/>
        </p:nvSpPr>
        <p:spPr>
          <a:xfrm>
            <a:off x="5349240" y="2487168"/>
            <a:ext cx="1554480" cy="612647"/>
          </a:xfrm>
          <a:prstGeom prst="rect">
            <a:avLst/>
          </a:prstGeom>
          <a:noFill/>
        </p:spPr>
        <p:txBody>
          <a:bodyPr wrap="square" lIns="18288" rIns="18288" tIns="18288" bIns="18288" anchor="t">
            <a:spAutoFit/>
          </a:bodyPr>
          <a:lstStyle/>
          <a:p>
            <a:pPr algn="l">
              <a:spcAft>
                <a:spcPts val="500"/>
              </a:spcAft>
              <a:defRPr sz="950" b="0">
                <a:solidFill>
                  <a:srgbClr val="212B36"/>
                </a:solidFill>
                <a:latin typeface="Aptos"/>
              </a:defRPr>
            </a:pPr>
            <a:r>
              <a:t>What are the trade-offs?</a:t>
            </a:r>
          </a:p>
        </p:txBody>
      </p:sp>
      <p:sp>
        <p:nvSpPr>
          <p:cNvPr id="20" name="Rounded Rectangle 19"/>
          <p:cNvSpPr/>
          <p:nvPr/>
        </p:nvSpPr>
        <p:spPr>
          <a:xfrm>
            <a:off x="7315199" y="1920240"/>
            <a:ext cx="196596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199" y="1920240"/>
            <a:ext cx="64008" cy="1325880"/>
          </a:xfrm>
          <a:prstGeom prst="rect">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43800" y="2084832"/>
            <a:ext cx="1554480" cy="347472"/>
          </a:xfrm>
          <a:prstGeom prst="rect">
            <a:avLst/>
          </a:prstGeom>
          <a:noFill/>
        </p:spPr>
        <p:txBody>
          <a:bodyPr wrap="square" lIns="18288" rIns="18288" tIns="18288" bIns="18288" anchor="t">
            <a:spAutoFit/>
          </a:bodyPr>
          <a:lstStyle/>
          <a:p>
            <a:pPr algn="l">
              <a:spcAft>
                <a:spcPts val="500"/>
              </a:spcAft>
              <a:defRPr sz="1200" b="1">
                <a:solidFill>
                  <a:srgbClr val="0C192D"/>
                </a:solidFill>
                <a:latin typeface="Aptos"/>
              </a:defRPr>
            </a:pPr>
            <a:r>
              <a:t>Q4</a:t>
            </a:r>
          </a:p>
        </p:txBody>
      </p:sp>
      <p:sp>
        <p:nvSpPr>
          <p:cNvPr id="23" name="TextBox 22"/>
          <p:cNvSpPr txBox="1"/>
          <p:nvPr/>
        </p:nvSpPr>
        <p:spPr>
          <a:xfrm>
            <a:off x="7543800" y="2487168"/>
            <a:ext cx="1554480" cy="612647"/>
          </a:xfrm>
          <a:prstGeom prst="rect">
            <a:avLst/>
          </a:prstGeom>
          <a:noFill/>
        </p:spPr>
        <p:txBody>
          <a:bodyPr wrap="square" lIns="18288" rIns="18288" tIns="18288" bIns="18288" anchor="t">
            <a:spAutoFit/>
          </a:bodyPr>
          <a:lstStyle/>
          <a:p>
            <a:pPr algn="l">
              <a:spcAft>
                <a:spcPts val="500"/>
              </a:spcAft>
              <a:defRPr sz="950" b="0">
                <a:solidFill>
                  <a:srgbClr val="212B36"/>
                </a:solidFill>
                <a:latin typeface="Aptos"/>
              </a:defRPr>
            </a:pPr>
            <a:r>
              <a:t>What is the latest research?</a:t>
            </a:r>
          </a:p>
        </p:txBody>
      </p:sp>
      <p:sp>
        <p:nvSpPr>
          <p:cNvPr id="24" name="Rounded Rectangle 23"/>
          <p:cNvSpPr/>
          <p:nvPr/>
        </p:nvSpPr>
        <p:spPr>
          <a:xfrm>
            <a:off x="9509760" y="1920240"/>
            <a:ext cx="196596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509760" y="1920240"/>
            <a:ext cx="64008" cy="1325880"/>
          </a:xfrm>
          <a:prstGeom prst="rect">
            <a:avLst/>
          </a:prstGeom>
          <a:solidFill>
            <a:srgbClr val="D5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38360" y="2084832"/>
            <a:ext cx="1554480" cy="347472"/>
          </a:xfrm>
          <a:prstGeom prst="rect">
            <a:avLst/>
          </a:prstGeom>
          <a:noFill/>
        </p:spPr>
        <p:txBody>
          <a:bodyPr wrap="square" lIns="18288" rIns="18288" tIns="18288" bIns="18288" anchor="t">
            <a:spAutoFit/>
          </a:bodyPr>
          <a:lstStyle/>
          <a:p>
            <a:pPr algn="l">
              <a:spcAft>
                <a:spcPts val="500"/>
              </a:spcAft>
              <a:defRPr sz="1200" b="1">
                <a:solidFill>
                  <a:srgbClr val="0C192D"/>
                </a:solidFill>
                <a:latin typeface="Aptos"/>
              </a:defRPr>
            </a:pPr>
            <a:r>
              <a:t>Q5</a:t>
            </a:r>
          </a:p>
        </p:txBody>
      </p:sp>
      <p:sp>
        <p:nvSpPr>
          <p:cNvPr id="27" name="TextBox 26"/>
          <p:cNvSpPr txBox="1"/>
          <p:nvPr/>
        </p:nvSpPr>
        <p:spPr>
          <a:xfrm>
            <a:off x="9738360" y="2487168"/>
            <a:ext cx="1554480" cy="612647"/>
          </a:xfrm>
          <a:prstGeom prst="rect">
            <a:avLst/>
          </a:prstGeom>
          <a:noFill/>
        </p:spPr>
        <p:txBody>
          <a:bodyPr wrap="square" lIns="18288" rIns="18288" tIns="18288" bIns="18288" anchor="t">
            <a:spAutoFit/>
          </a:bodyPr>
          <a:lstStyle/>
          <a:p>
            <a:pPr algn="l">
              <a:spcAft>
                <a:spcPts val="500"/>
              </a:spcAft>
              <a:defRPr sz="950" b="0">
                <a:solidFill>
                  <a:srgbClr val="212B36"/>
                </a:solidFill>
                <a:latin typeface="Aptos"/>
              </a:defRPr>
            </a:pPr>
            <a:r>
              <a:t>What is the state-of-the-art in your project area?</a:t>
            </a:r>
          </a:p>
        </p:txBody>
      </p:sp>
      <p:sp>
        <p:nvSpPr>
          <p:cNvPr id="28" name="TextBox 27"/>
          <p:cNvSpPr txBox="1"/>
          <p:nvPr/>
        </p:nvSpPr>
        <p:spPr>
          <a:xfrm>
            <a:off x="731520" y="3886200"/>
            <a:ext cx="3657600" cy="365760"/>
          </a:xfrm>
          <a:prstGeom prst="rect">
            <a:avLst/>
          </a:prstGeom>
          <a:noFill/>
        </p:spPr>
        <p:txBody>
          <a:bodyPr wrap="square" lIns="18288" rIns="18288" tIns="18288" bIns="18288" anchor="t">
            <a:spAutoFit/>
          </a:bodyPr>
          <a:lstStyle/>
          <a:p>
            <a:pPr algn="l">
              <a:spcAft>
                <a:spcPts val="500"/>
              </a:spcAft>
              <a:defRPr sz="1800" b="1">
                <a:solidFill>
                  <a:srgbClr val="0C192D"/>
                </a:solidFill>
                <a:latin typeface="Aptos"/>
              </a:defRPr>
            </a:pPr>
            <a:r>
              <a:t>Flow Chart of Methodology</a:t>
            </a:r>
          </a:p>
        </p:txBody>
      </p:sp>
      <p:sp>
        <p:nvSpPr>
          <p:cNvPr id="29" name="Rounded Rectangle 28"/>
          <p:cNvSpPr/>
          <p:nvPr/>
        </p:nvSpPr>
        <p:spPr>
          <a:xfrm>
            <a:off x="685800" y="4480560"/>
            <a:ext cx="2008022"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5800" y="4480560"/>
            <a:ext cx="64008" cy="1325880"/>
          </a:xfrm>
          <a:prstGeom prst="rect">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4645152"/>
            <a:ext cx="1596542" cy="347472"/>
          </a:xfrm>
          <a:prstGeom prst="rect">
            <a:avLst/>
          </a:prstGeom>
          <a:noFill/>
        </p:spPr>
        <p:txBody>
          <a:bodyPr wrap="square" lIns="18288" rIns="18288" tIns="18288" bIns="18288" anchor="t">
            <a:spAutoFit/>
          </a:bodyPr>
          <a:lstStyle/>
          <a:p>
            <a:pPr algn="l">
              <a:spcAft>
                <a:spcPts val="500"/>
              </a:spcAft>
              <a:defRPr sz="1300" b="1">
                <a:solidFill>
                  <a:srgbClr val="0C192D"/>
                </a:solidFill>
                <a:latin typeface="Aptos"/>
              </a:defRPr>
            </a:pPr>
            <a:r>
              <a:t>LITERATURE / FEASIBILITY</a:t>
            </a:r>
          </a:p>
        </p:txBody>
      </p:sp>
      <p:sp>
        <p:nvSpPr>
          <p:cNvPr id="32" name="TextBox 31"/>
          <p:cNvSpPr txBox="1"/>
          <p:nvPr/>
        </p:nvSpPr>
        <p:spPr>
          <a:xfrm>
            <a:off x="914400" y="5047488"/>
            <a:ext cx="1596542" cy="612647"/>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Understand the field</a:t>
            </a:r>
          </a:p>
        </p:txBody>
      </p:sp>
      <p:sp>
        <p:nvSpPr>
          <p:cNvPr id="33" name="Chevron 32"/>
          <p:cNvSpPr/>
          <p:nvPr/>
        </p:nvSpPr>
        <p:spPr>
          <a:xfrm>
            <a:off x="2716682" y="4983480"/>
            <a:ext cx="118872" cy="320040"/>
          </a:xfrm>
          <a:prstGeom prst="chevron">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2858414" y="4480560"/>
            <a:ext cx="2008022"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858414" y="4480560"/>
            <a:ext cx="64008" cy="1325880"/>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087014" y="4645152"/>
            <a:ext cx="1596542" cy="347472"/>
          </a:xfrm>
          <a:prstGeom prst="rect">
            <a:avLst/>
          </a:prstGeom>
          <a:noFill/>
        </p:spPr>
        <p:txBody>
          <a:bodyPr wrap="square" lIns="18288" rIns="18288" tIns="18288" bIns="18288" anchor="t">
            <a:spAutoFit/>
          </a:bodyPr>
          <a:lstStyle/>
          <a:p>
            <a:pPr algn="l">
              <a:spcAft>
                <a:spcPts val="500"/>
              </a:spcAft>
              <a:defRPr sz="1300" b="1">
                <a:solidFill>
                  <a:srgbClr val="0C192D"/>
                </a:solidFill>
                <a:latin typeface="Aptos"/>
              </a:defRPr>
            </a:pPr>
            <a:r>
              <a:t>DESIGN</a:t>
            </a:r>
          </a:p>
        </p:txBody>
      </p:sp>
      <p:sp>
        <p:nvSpPr>
          <p:cNvPr id="37" name="TextBox 36"/>
          <p:cNvSpPr txBox="1"/>
          <p:nvPr/>
        </p:nvSpPr>
        <p:spPr>
          <a:xfrm>
            <a:off x="3087014" y="5047488"/>
            <a:ext cx="1596542" cy="612647"/>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Select the approach</a:t>
            </a:r>
          </a:p>
        </p:txBody>
      </p:sp>
      <p:sp>
        <p:nvSpPr>
          <p:cNvPr id="38" name="Chevron 37"/>
          <p:cNvSpPr/>
          <p:nvPr/>
        </p:nvSpPr>
        <p:spPr>
          <a:xfrm>
            <a:off x="4889296" y="4983480"/>
            <a:ext cx="118872" cy="320040"/>
          </a:xfrm>
          <a:prstGeom prst="chevron">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5031028" y="4480560"/>
            <a:ext cx="2008022"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031028" y="4480560"/>
            <a:ext cx="64008" cy="1325880"/>
          </a:xfrm>
          <a:prstGeom prst="rect">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259628" y="4645152"/>
            <a:ext cx="1596542" cy="347472"/>
          </a:xfrm>
          <a:prstGeom prst="rect">
            <a:avLst/>
          </a:prstGeom>
          <a:noFill/>
        </p:spPr>
        <p:txBody>
          <a:bodyPr wrap="square" lIns="18288" rIns="18288" tIns="18288" bIns="18288" anchor="t">
            <a:spAutoFit/>
          </a:bodyPr>
          <a:lstStyle/>
          <a:p>
            <a:pPr algn="l">
              <a:spcAft>
                <a:spcPts val="500"/>
              </a:spcAft>
              <a:defRPr sz="1300" b="1">
                <a:solidFill>
                  <a:srgbClr val="0C192D"/>
                </a:solidFill>
                <a:latin typeface="Aptos"/>
              </a:defRPr>
            </a:pPr>
            <a:r>
              <a:t>IMPLEMENTATION</a:t>
            </a:r>
          </a:p>
        </p:txBody>
      </p:sp>
      <p:sp>
        <p:nvSpPr>
          <p:cNvPr id="42" name="TextBox 41"/>
          <p:cNvSpPr txBox="1"/>
          <p:nvPr/>
        </p:nvSpPr>
        <p:spPr>
          <a:xfrm>
            <a:off x="5259628" y="5047488"/>
            <a:ext cx="1596542" cy="612647"/>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Build the system</a:t>
            </a:r>
          </a:p>
        </p:txBody>
      </p:sp>
      <p:sp>
        <p:nvSpPr>
          <p:cNvPr id="43" name="Chevron 42"/>
          <p:cNvSpPr/>
          <p:nvPr/>
        </p:nvSpPr>
        <p:spPr>
          <a:xfrm>
            <a:off x="7061911" y="4983480"/>
            <a:ext cx="118872" cy="320040"/>
          </a:xfrm>
          <a:prstGeom prst="chevron">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7203643" y="4480560"/>
            <a:ext cx="2008022"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203643" y="4480560"/>
            <a:ext cx="64008" cy="1325880"/>
          </a:xfrm>
          <a:prstGeom prst="rect">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32243" y="4645152"/>
            <a:ext cx="1596542" cy="347472"/>
          </a:xfrm>
          <a:prstGeom prst="rect">
            <a:avLst/>
          </a:prstGeom>
          <a:noFill/>
        </p:spPr>
        <p:txBody>
          <a:bodyPr wrap="square" lIns="18288" rIns="18288" tIns="18288" bIns="18288" anchor="t">
            <a:spAutoFit/>
          </a:bodyPr>
          <a:lstStyle/>
          <a:p>
            <a:pPr algn="l">
              <a:spcAft>
                <a:spcPts val="500"/>
              </a:spcAft>
              <a:defRPr sz="1300" b="1">
                <a:solidFill>
                  <a:srgbClr val="0C192D"/>
                </a:solidFill>
                <a:latin typeface="Aptos"/>
              </a:defRPr>
            </a:pPr>
            <a:r>
              <a:t>TESTING</a:t>
            </a:r>
          </a:p>
        </p:txBody>
      </p:sp>
      <p:sp>
        <p:nvSpPr>
          <p:cNvPr id="47" name="TextBox 46"/>
          <p:cNvSpPr txBox="1"/>
          <p:nvPr/>
        </p:nvSpPr>
        <p:spPr>
          <a:xfrm>
            <a:off x="7432243" y="5047488"/>
            <a:ext cx="1596542" cy="612647"/>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Verify each part</a:t>
            </a:r>
          </a:p>
        </p:txBody>
      </p:sp>
      <p:sp>
        <p:nvSpPr>
          <p:cNvPr id="48" name="Chevron 47"/>
          <p:cNvSpPr/>
          <p:nvPr/>
        </p:nvSpPr>
        <p:spPr>
          <a:xfrm>
            <a:off x="9234525" y="4983480"/>
            <a:ext cx="118872" cy="320040"/>
          </a:xfrm>
          <a:prstGeom prst="chevron">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376257" y="4480560"/>
            <a:ext cx="2008022"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376257" y="4480560"/>
            <a:ext cx="64008" cy="1325880"/>
          </a:xfrm>
          <a:prstGeom prst="rect">
            <a:avLst/>
          </a:prstGeom>
          <a:solidFill>
            <a:srgbClr val="D5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604857" y="4645152"/>
            <a:ext cx="1596542" cy="347472"/>
          </a:xfrm>
          <a:prstGeom prst="rect">
            <a:avLst/>
          </a:prstGeom>
          <a:noFill/>
        </p:spPr>
        <p:txBody>
          <a:bodyPr wrap="square" lIns="18288" rIns="18288" tIns="18288" bIns="18288" anchor="t">
            <a:spAutoFit/>
          </a:bodyPr>
          <a:lstStyle/>
          <a:p>
            <a:pPr algn="l">
              <a:spcAft>
                <a:spcPts val="500"/>
              </a:spcAft>
              <a:defRPr sz="1300" b="1">
                <a:solidFill>
                  <a:srgbClr val="0C192D"/>
                </a:solidFill>
                <a:latin typeface="Aptos"/>
              </a:defRPr>
            </a:pPr>
            <a:r>
              <a:t>EVALUATION</a:t>
            </a:r>
          </a:p>
        </p:txBody>
      </p:sp>
      <p:sp>
        <p:nvSpPr>
          <p:cNvPr id="52" name="TextBox 51"/>
          <p:cNvSpPr txBox="1"/>
          <p:nvPr/>
        </p:nvSpPr>
        <p:spPr>
          <a:xfrm>
            <a:off x="9604857" y="5047488"/>
            <a:ext cx="1596542" cy="612647"/>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Measure vs. objectives / baselines</a:t>
            </a:r>
          </a:p>
        </p:txBody>
      </p:sp>
      <p:sp>
        <p:nvSpPr>
          <p:cNvPr id="53" name="TextBox 52"/>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COMSATS University Islamabad • Department of Computer Engineering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0C192D"/>
                </a:solidFill>
                <a:latin typeface="Aptos Display"/>
              </a:defRPr>
            </a:pPr>
            <a:r>
              <a:t>Example: Design → Implementation → Testing → Evaluation</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1A74BE"/>
                </a:solidFill>
                <a:latin typeface="Aptos"/>
              </a:defRPr>
            </a:pPr>
            <a:r>
              <a:t>05 • EVIDENCE &amp; METHODOLOGY</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5C6A78"/>
                </a:solidFill>
                <a:latin typeface="Aptos"/>
              </a:defRPr>
            </a:pPr>
            <a:r>
              <a:t>21</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371600"/>
            <a:ext cx="257860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371600"/>
            <a:ext cx="64008" cy="4434840"/>
          </a:xfrm>
          <a:prstGeom prst="rect">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6968" y="1536192"/>
            <a:ext cx="2167127"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DESIGN</a:t>
            </a:r>
          </a:p>
        </p:txBody>
      </p:sp>
      <p:sp>
        <p:nvSpPr>
          <p:cNvPr id="10" name="TextBox 9"/>
          <p:cNvSpPr txBox="1"/>
          <p:nvPr/>
        </p:nvSpPr>
        <p:spPr>
          <a:xfrm>
            <a:off x="886968" y="1938528"/>
            <a:ext cx="2167127" cy="3721607"/>
          </a:xfrm>
          <a:prstGeom prst="rect">
            <a:avLst/>
          </a:prstGeom>
          <a:noFill/>
        </p:spPr>
        <p:txBody>
          <a:bodyPr wrap="square" lIns="18288" rIns="18288" tIns="18288" bIns="18288" anchor="t">
            <a:spAutoFit/>
          </a:bodyPr>
          <a:lstStyle/>
          <a:p>
            <a:pPr algn="l">
              <a:spcAft>
                <a:spcPts val="500"/>
              </a:spcAft>
              <a:defRPr sz="1000" b="0">
                <a:solidFill>
                  <a:srgbClr val="212B36"/>
                </a:solidFill>
                <a:latin typeface="Aptos"/>
              </a:defRPr>
            </a:pPr>
            <a:r>
              <a:t>Figure out what the sub-problems are and what approach to take or what theory to investigate.</a:t>
            </a:r>
          </a:p>
          <a:p>
            <a:pPr algn="l">
              <a:spcAft>
                <a:spcPts val="500"/>
              </a:spcAft>
              <a:defRPr sz="1000" b="0">
                <a:solidFill>
                  <a:srgbClr val="212B36"/>
                </a:solidFill>
                <a:latin typeface="Aptos"/>
              </a:defRPr>
            </a:pPr>
          </a:p>
          <a:p>
            <a:pPr algn="l">
              <a:spcAft>
                <a:spcPts val="500"/>
              </a:spcAft>
              <a:defRPr sz="1000" b="0">
                <a:solidFill>
                  <a:srgbClr val="212B36"/>
                </a:solidFill>
                <a:latin typeface="Aptos"/>
              </a:defRPr>
            </a:pPr>
            <a:r>
              <a:t>Theory based</a:t>
            </a:r>
          </a:p>
          <a:p>
            <a:pPr algn="l">
              <a:spcAft>
                <a:spcPts val="500"/>
              </a:spcAft>
              <a:defRPr sz="1000" b="0">
                <a:solidFill>
                  <a:srgbClr val="212B36"/>
                </a:solidFill>
                <a:latin typeface="Aptos"/>
              </a:defRPr>
            </a:pPr>
            <a:r>
              <a:t>Conceptual</a:t>
            </a:r>
          </a:p>
        </p:txBody>
      </p:sp>
      <p:sp>
        <p:nvSpPr>
          <p:cNvPr id="11" name="Rounded Rectangle 10"/>
          <p:cNvSpPr/>
          <p:nvPr/>
        </p:nvSpPr>
        <p:spPr>
          <a:xfrm>
            <a:off x="3511296" y="1371600"/>
            <a:ext cx="257860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11296" y="1371600"/>
            <a:ext cx="64008" cy="4434840"/>
          </a:xfrm>
          <a:prstGeom prst="rect">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39896" y="1536192"/>
            <a:ext cx="2167127"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IMPLEMENTATION</a:t>
            </a:r>
          </a:p>
        </p:txBody>
      </p:sp>
      <p:sp>
        <p:nvSpPr>
          <p:cNvPr id="14" name="TextBox 13"/>
          <p:cNvSpPr txBox="1"/>
          <p:nvPr/>
        </p:nvSpPr>
        <p:spPr>
          <a:xfrm>
            <a:off x="3739896" y="1938528"/>
            <a:ext cx="2167127" cy="3721607"/>
          </a:xfrm>
          <a:prstGeom prst="rect">
            <a:avLst/>
          </a:prstGeom>
          <a:noFill/>
        </p:spPr>
        <p:txBody>
          <a:bodyPr wrap="square" lIns="18288" rIns="18288" tIns="18288" bIns="18288" anchor="t">
            <a:spAutoFit/>
          </a:bodyPr>
          <a:lstStyle/>
          <a:p>
            <a:pPr algn="l">
              <a:spcAft>
                <a:spcPts val="500"/>
              </a:spcAft>
              <a:defRPr sz="1000" b="0">
                <a:solidFill>
                  <a:srgbClr val="212B36"/>
                </a:solidFill>
                <a:latin typeface="Aptos"/>
              </a:defRPr>
            </a:pPr>
            <a:r>
              <a:t>Build it</a:t>
            </a:r>
          </a:p>
          <a:p>
            <a:pPr algn="l">
              <a:spcAft>
                <a:spcPts val="500"/>
              </a:spcAft>
              <a:defRPr sz="1000" b="0">
                <a:solidFill>
                  <a:srgbClr val="212B36"/>
                </a:solidFill>
                <a:latin typeface="Aptos"/>
              </a:defRPr>
            </a:pPr>
          </a:p>
          <a:p>
            <a:pPr algn="l">
              <a:spcAft>
                <a:spcPts val="500"/>
              </a:spcAft>
              <a:defRPr sz="1000" b="0">
                <a:solidFill>
                  <a:srgbClr val="212B36"/>
                </a:solidFill>
                <a:latin typeface="Aptos"/>
              </a:defRPr>
            </a:pPr>
            <a:r>
              <a:t>Tools?</a:t>
            </a:r>
          </a:p>
          <a:p>
            <a:pPr algn="l">
              <a:spcAft>
                <a:spcPts val="500"/>
              </a:spcAft>
              <a:defRPr sz="1000" b="0">
                <a:solidFill>
                  <a:srgbClr val="212B36"/>
                </a:solidFill>
                <a:latin typeface="Aptos"/>
              </a:defRPr>
            </a:pPr>
            <a:r>
              <a:t>Technical skills based</a:t>
            </a:r>
          </a:p>
        </p:txBody>
      </p:sp>
      <p:sp>
        <p:nvSpPr>
          <p:cNvPr id="15" name="Rounded Rectangle 14"/>
          <p:cNvSpPr/>
          <p:nvPr/>
        </p:nvSpPr>
        <p:spPr>
          <a:xfrm>
            <a:off x="6364224" y="1371600"/>
            <a:ext cx="257860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64224" y="1371600"/>
            <a:ext cx="64008" cy="4434840"/>
          </a:xfrm>
          <a:prstGeom prst="rect">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2824" y="1536192"/>
            <a:ext cx="2167127"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TESTING</a:t>
            </a:r>
          </a:p>
        </p:txBody>
      </p:sp>
      <p:sp>
        <p:nvSpPr>
          <p:cNvPr id="18" name="TextBox 17"/>
          <p:cNvSpPr txBox="1"/>
          <p:nvPr/>
        </p:nvSpPr>
        <p:spPr>
          <a:xfrm>
            <a:off x="6592824" y="1938528"/>
            <a:ext cx="2167127" cy="3721607"/>
          </a:xfrm>
          <a:prstGeom prst="rect">
            <a:avLst/>
          </a:prstGeom>
          <a:noFill/>
        </p:spPr>
        <p:txBody>
          <a:bodyPr wrap="square" lIns="18288" rIns="18288" tIns="18288" bIns="18288" anchor="t">
            <a:spAutoFit/>
          </a:bodyPr>
          <a:lstStyle/>
          <a:p>
            <a:pPr algn="l">
              <a:spcAft>
                <a:spcPts val="500"/>
              </a:spcAft>
              <a:defRPr sz="1000" b="0">
                <a:solidFill>
                  <a:srgbClr val="212B36"/>
                </a:solidFill>
                <a:latin typeface="Aptos"/>
              </a:defRPr>
            </a:pPr>
            <a:r>
              <a:t>How are you going to ensure that it [the program/ game/ etc.] works correctly?</a:t>
            </a:r>
          </a:p>
          <a:p>
            <a:pPr algn="l">
              <a:spcAft>
                <a:spcPts val="500"/>
              </a:spcAft>
              <a:defRPr sz="1000" b="0">
                <a:solidFill>
                  <a:srgbClr val="212B36"/>
                </a:solidFill>
                <a:latin typeface="Aptos"/>
              </a:defRPr>
            </a:pPr>
          </a:p>
          <a:p>
            <a:pPr algn="l">
              <a:spcAft>
                <a:spcPts val="500"/>
              </a:spcAft>
              <a:defRPr sz="1000" b="0">
                <a:solidFill>
                  <a:srgbClr val="212B36"/>
                </a:solidFill>
                <a:latin typeface="Aptos"/>
              </a:defRPr>
            </a:pPr>
            <a:r>
              <a:t>Look at the project from a micro level</a:t>
            </a:r>
          </a:p>
          <a:p>
            <a:pPr algn="l">
              <a:spcAft>
                <a:spcPts val="500"/>
              </a:spcAft>
              <a:defRPr sz="1000" b="0">
                <a:solidFill>
                  <a:srgbClr val="212B36"/>
                </a:solidFill>
                <a:latin typeface="Aptos"/>
              </a:defRPr>
            </a:pPr>
            <a:r>
              <a:t>Include experiments</a:t>
            </a:r>
          </a:p>
          <a:p>
            <a:pPr algn="l">
              <a:spcAft>
                <a:spcPts val="500"/>
              </a:spcAft>
              <a:defRPr sz="1000" b="0">
                <a:solidFill>
                  <a:srgbClr val="212B36"/>
                </a:solidFill>
                <a:latin typeface="Aptos"/>
              </a:defRPr>
            </a:pPr>
            <a:r>
              <a:t>Look at system results</a:t>
            </a:r>
          </a:p>
          <a:p>
            <a:pPr algn="l">
              <a:spcAft>
                <a:spcPts val="500"/>
              </a:spcAft>
              <a:defRPr sz="1000" b="0">
                <a:solidFill>
                  <a:srgbClr val="212B36"/>
                </a:solidFill>
                <a:latin typeface="Aptos"/>
              </a:defRPr>
            </a:pPr>
            <a:r>
              <a:t>Test each part of the system</a:t>
            </a:r>
          </a:p>
          <a:p>
            <a:pPr algn="l">
              <a:spcAft>
                <a:spcPts val="500"/>
              </a:spcAft>
              <a:defRPr sz="1000" b="0">
                <a:solidFill>
                  <a:srgbClr val="212B36"/>
                </a:solidFill>
                <a:latin typeface="Aptos"/>
              </a:defRPr>
            </a:pPr>
            <a:r>
              <a:t>Make sure that design and implementation work</a:t>
            </a:r>
          </a:p>
        </p:txBody>
      </p:sp>
      <p:sp>
        <p:nvSpPr>
          <p:cNvPr id="19" name="Rounded Rectangle 18"/>
          <p:cNvSpPr/>
          <p:nvPr/>
        </p:nvSpPr>
        <p:spPr>
          <a:xfrm>
            <a:off x="9217152" y="1371600"/>
            <a:ext cx="2578608" cy="4434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217152" y="1371600"/>
            <a:ext cx="64008" cy="4434840"/>
          </a:xfrm>
          <a:prstGeom prst="rect">
            <a:avLst/>
          </a:prstGeom>
          <a:solidFill>
            <a:srgbClr val="D5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45752" y="1536192"/>
            <a:ext cx="2167127"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EVALUATION</a:t>
            </a:r>
          </a:p>
        </p:txBody>
      </p:sp>
      <p:sp>
        <p:nvSpPr>
          <p:cNvPr id="22" name="TextBox 21"/>
          <p:cNvSpPr txBox="1"/>
          <p:nvPr/>
        </p:nvSpPr>
        <p:spPr>
          <a:xfrm>
            <a:off x="9445752" y="1938528"/>
            <a:ext cx="2167127" cy="3721607"/>
          </a:xfrm>
          <a:prstGeom prst="rect">
            <a:avLst/>
          </a:prstGeom>
          <a:noFill/>
        </p:spPr>
        <p:txBody>
          <a:bodyPr wrap="square" lIns="18288" rIns="18288" tIns="18288" bIns="18288" anchor="t">
            <a:spAutoFit/>
          </a:bodyPr>
          <a:lstStyle/>
          <a:p>
            <a:pPr algn="l">
              <a:spcAft>
                <a:spcPts val="500"/>
              </a:spcAft>
              <a:defRPr sz="1000" b="0">
                <a:solidFill>
                  <a:srgbClr val="212B36"/>
                </a:solidFill>
                <a:latin typeface="Aptos"/>
              </a:defRPr>
            </a:pPr>
            <a:r>
              <a:t>Evaluate your perspective results relative to your stated objective:</a:t>
            </a:r>
          </a:p>
          <a:p>
            <a:pPr algn="l">
              <a:spcAft>
                <a:spcPts val="500"/>
              </a:spcAft>
              <a:defRPr sz="1000" b="0">
                <a:solidFill>
                  <a:srgbClr val="212B36"/>
                </a:solidFill>
                <a:latin typeface="Aptos"/>
              </a:defRPr>
            </a:pPr>
          </a:p>
          <a:p>
            <a:pPr algn="l">
              <a:spcAft>
                <a:spcPts val="500"/>
              </a:spcAft>
              <a:defRPr sz="1000" b="0">
                <a:solidFill>
                  <a:srgbClr val="212B36"/>
                </a:solidFill>
                <a:latin typeface="Aptos"/>
              </a:defRPr>
            </a:pPr>
            <a:r>
              <a:t>Measure performance</a:t>
            </a:r>
          </a:p>
          <a:p>
            <a:pPr algn="l">
              <a:spcAft>
                <a:spcPts val="500"/>
              </a:spcAft>
              <a:defRPr sz="1000" b="0">
                <a:solidFill>
                  <a:srgbClr val="212B36"/>
                </a:solidFill>
                <a:latin typeface="Aptos"/>
              </a:defRPr>
            </a:pPr>
            <a:r>
              <a:t>Compare your system/model with one or more (a) baseline systems/models, and/or (b) similar competing systems/models</a:t>
            </a:r>
          </a:p>
        </p:txBody>
      </p:sp>
      <p:sp>
        <p:nvSpPr>
          <p:cNvPr id="23" name="TextBox 22"/>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COMSATS University Islamabad • Department of Computer Engineering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0C192D"/>
                </a:solidFill>
                <a:latin typeface="Aptos Display"/>
              </a:defRPr>
            </a:pPr>
            <a:r>
              <a:t>Project planning: make the work visible</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1A74BE"/>
                </a:solidFill>
                <a:latin typeface="Aptos"/>
              </a:defRPr>
            </a:pPr>
            <a:r>
              <a:t>06 • EXECUTION</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5C6A78"/>
                </a:solidFill>
                <a:latin typeface="Aptos"/>
              </a:defRPr>
            </a:pPr>
            <a:r>
              <a:t>22</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143000"/>
            <a:ext cx="10607040" cy="502920"/>
          </a:xfrm>
          <a:prstGeom prst="rect">
            <a:avLst/>
          </a:prstGeom>
          <a:noFill/>
        </p:spPr>
        <p:txBody>
          <a:bodyPr wrap="square" lIns="18288" rIns="18288" tIns="18288" bIns="18288" anchor="t">
            <a:spAutoFit/>
          </a:bodyPr>
          <a:lstStyle/>
          <a:p>
            <a:pPr algn="l">
              <a:spcAft>
                <a:spcPts val="500"/>
              </a:spcAft>
              <a:defRPr sz="1600" b="1">
                <a:solidFill>
                  <a:srgbClr val="0C192D"/>
                </a:solidFill>
                <a:latin typeface="Aptos"/>
              </a:defRPr>
            </a:pPr>
            <a:r>
              <a:t>All projects require planning including an outline of who in the team is doing what and when; thus, you will need to include a Gantt chart.</a:t>
            </a:r>
          </a:p>
        </p:txBody>
      </p:sp>
      <p:sp>
        <p:nvSpPr>
          <p:cNvPr id="8" name="Rounded Rectangle 7"/>
          <p:cNvSpPr/>
          <p:nvPr/>
        </p:nvSpPr>
        <p:spPr>
          <a:xfrm>
            <a:off x="731520" y="1920240"/>
            <a:ext cx="333756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920240"/>
            <a:ext cx="64008" cy="2423160"/>
          </a:xfrm>
          <a:prstGeom prst="rect">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084832"/>
            <a:ext cx="2926079"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What a Gantt chart shows</a:t>
            </a:r>
          </a:p>
        </p:txBody>
      </p:sp>
      <p:sp>
        <p:nvSpPr>
          <p:cNvPr id="11" name="TextBox 10"/>
          <p:cNvSpPr txBox="1"/>
          <p:nvPr/>
        </p:nvSpPr>
        <p:spPr>
          <a:xfrm>
            <a:off x="960120" y="2487168"/>
            <a:ext cx="2926079" cy="1709928"/>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A horizontal axis represents the total time span of the project, broken into days, weeks or months.</a:t>
            </a:r>
          </a:p>
          <a:p>
            <a:pPr algn="l">
              <a:spcAft>
                <a:spcPts val="500"/>
              </a:spcAft>
              <a:defRPr sz="1050" b="0">
                <a:solidFill>
                  <a:srgbClr val="212B36"/>
                </a:solidFill>
                <a:latin typeface="Aptos"/>
              </a:defRPr>
            </a:pPr>
          </a:p>
          <a:p>
            <a:pPr algn="l">
              <a:spcAft>
                <a:spcPts val="500"/>
              </a:spcAft>
              <a:defRPr sz="1050" b="0">
                <a:solidFill>
                  <a:srgbClr val="212B36"/>
                </a:solidFill>
                <a:latin typeface="Aptos"/>
              </a:defRPr>
            </a:pPr>
            <a:r>
              <a:t>The vertical axis represents the tasks that make up the project.</a:t>
            </a:r>
          </a:p>
        </p:txBody>
      </p:sp>
      <p:sp>
        <p:nvSpPr>
          <p:cNvPr id="12" name="Rounded Rectangle 11"/>
          <p:cNvSpPr/>
          <p:nvPr/>
        </p:nvSpPr>
        <p:spPr>
          <a:xfrm>
            <a:off x="4434840" y="1920240"/>
            <a:ext cx="333756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34840" y="1920240"/>
            <a:ext cx="64008" cy="2423160"/>
          </a:xfrm>
          <a:prstGeom prst="rect">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2084832"/>
            <a:ext cx="2926079"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How to read it</a:t>
            </a:r>
          </a:p>
        </p:txBody>
      </p:sp>
      <p:sp>
        <p:nvSpPr>
          <p:cNvPr id="15" name="TextBox 14"/>
          <p:cNvSpPr txBox="1"/>
          <p:nvPr/>
        </p:nvSpPr>
        <p:spPr>
          <a:xfrm>
            <a:off x="4663440" y="2487168"/>
            <a:ext cx="2926079" cy="1709928"/>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Horizontal bars of varying lengths represent sequences, timing, and time span for each task.</a:t>
            </a:r>
          </a:p>
          <a:p>
            <a:pPr algn="l">
              <a:spcAft>
                <a:spcPts val="500"/>
              </a:spcAft>
              <a:defRPr sz="1050" b="0">
                <a:solidFill>
                  <a:srgbClr val="212B36"/>
                </a:solidFill>
                <a:latin typeface="Aptos"/>
              </a:defRPr>
            </a:pPr>
          </a:p>
          <a:p>
            <a:pPr algn="l">
              <a:spcAft>
                <a:spcPts val="500"/>
              </a:spcAft>
              <a:defRPr sz="1050" b="0">
                <a:solidFill>
                  <a:srgbClr val="212B36"/>
                </a:solidFill>
                <a:latin typeface="Aptos"/>
              </a:defRPr>
            </a:pPr>
            <a:r>
              <a:t>Bar spans may overlap when activities happen during the same time span.</a:t>
            </a:r>
          </a:p>
        </p:txBody>
      </p:sp>
      <p:sp>
        <p:nvSpPr>
          <p:cNvPr id="16" name="Rounded Rectangle 15"/>
          <p:cNvSpPr/>
          <p:nvPr/>
        </p:nvSpPr>
        <p:spPr>
          <a:xfrm>
            <a:off x="8138160" y="1920240"/>
            <a:ext cx="3337560" cy="2423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38160" y="1920240"/>
            <a:ext cx="64008" cy="2423160"/>
          </a:xfrm>
          <a:prstGeom prst="rect">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66760" y="2084832"/>
            <a:ext cx="2926079"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Track progress</a:t>
            </a:r>
          </a:p>
        </p:txBody>
      </p:sp>
      <p:sp>
        <p:nvSpPr>
          <p:cNvPr id="19" name="TextBox 18"/>
          <p:cNvSpPr txBox="1"/>
          <p:nvPr/>
        </p:nvSpPr>
        <p:spPr>
          <a:xfrm>
            <a:off x="8366760" y="2487168"/>
            <a:ext cx="2926079" cy="1709928"/>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As the project progresses, secondary bars, arrowheads, or darkened bars may indicate completed work.</a:t>
            </a:r>
          </a:p>
          <a:p>
            <a:pPr algn="l">
              <a:spcAft>
                <a:spcPts val="500"/>
              </a:spcAft>
              <a:defRPr sz="1050" b="0">
                <a:solidFill>
                  <a:srgbClr val="212B36"/>
                </a:solidFill>
                <a:latin typeface="Aptos"/>
              </a:defRPr>
            </a:pPr>
          </a:p>
          <a:p>
            <a:pPr algn="l">
              <a:spcAft>
                <a:spcPts val="500"/>
              </a:spcAft>
              <a:defRPr sz="1050" b="0">
                <a:solidFill>
                  <a:srgbClr val="212B36"/>
                </a:solidFill>
                <a:latin typeface="Aptos"/>
              </a:defRPr>
            </a:pPr>
            <a:r>
              <a:t>A vertical line represents the report date.</a:t>
            </a:r>
          </a:p>
        </p:txBody>
      </p:sp>
      <p:sp>
        <p:nvSpPr>
          <p:cNvPr id="20" name="TextBox 19"/>
          <p:cNvSpPr txBox="1"/>
          <p:nvPr/>
        </p:nvSpPr>
        <p:spPr>
          <a:xfrm>
            <a:off x="731520" y="4754880"/>
            <a:ext cx="2286000" cy="320040"/>
          </a:xfrm>
          <a:prstGeom prst="rect">
            <a:avLst/>
          </a:prstGeom>
          <a:noFill/>
        </p:spPr>
        <p:txBody>
          <a:bodyPr wrap="square" lIns="18288" rIns="18288" tIns="18288" bIns="18288" anchor="t">
            <a:spAutoFit/>
          </a:bodyPr>
          <a:lstStyle/>
          <a:p>
            <a:pPr algn="l">
              <a:spcAft>
                <a:spcPts val="500"/>
              </a:spcAft>
              <a:defRPr sz="1500" b="1">
                <a:solidFill>
                  <a:srgbClr val="0C192D"/>
                </a:solidFill>
                <a:latin typeface="Aptos"/>
              </a:defRPr>
            </a:pPr>
            <a:r>
              <a:t>Planning principle</a:t>
            </a:r>
          </a:p>
        </p:txBody>
      </p:sp>
      <p:sp>
        <p:nvSpPr>
          <p:cNvPr id="21" name="Rounded Rectangle 20"/>
          <p:cNvSpPr/>
          <p:nvPr/>
        </p:nvSpPr>
        <p:spPr>
          <a:xfrm>
            <a:off x="731520" y="5166360"/>
            <a:ext cx="2516886"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5166360"/>
            <a:ext cx="64008" cy="1325880"/>
          </a:xfrm>
          <a:prstGeom prst="rect">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5330952"/>
            <a:ext cx="2105406" cy="347472"/>
          </a:xfrm>
          <a:prstGeom prst="rect">
            <a:avLst/>
          </a:prstGeom>
          <a:noFill/>
        </p:spPr>
        <p:txBody>
          <a:bodyPr wrap="square" lIns="18288" rIns="18288" tIns="18288" bIns="18288" anchor="t">
            <a:spAutoFit/>
          </a:bodyPr>
          <a:lstStyle/>
          <a:p>
            <a:pPr algn="l">
              <a:spcAft>
                <a:spcPts val="500"/>
              </a:spcAft>
              <a:defRPr sz="1300" b="1">
                <a:solidFill>
                  <a:srgbClr val="0C192D"/>
                </a:solidFill>
                <a:latin typeface="Aptos"/>
              </a:defRPr>
            </a:pPr>
            <a:r>
              <a:t>WHO</a:t>
            </a:r>
          </a:p>
        </p:txBody>
      </p:sp>
      <p:sp>
        <p:nvSpPr>
          <p:cNvPr id="24" name="TextBox 23"/>
          <p:cNvSpPr txBox="1"/>
          <p:nvPr/>
        </p:nvSpPr>
        <p:spPr>
          <a:xfrm>
            <a:off x="960120" y="5733288"/>
            <a:ext cx="2105406" cy="612647"/>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Team responsibility</a:t>
            </a:r>
          </a:p>
        </p:txBody>
      </p:sp>
      <p:sp>
        <p:nvSpPr>
          <p:cNvPr id="25" name="Chevron 24"/>
          <p:cNvSpPr/>
          <p:nvPr/>
        </p:nvSpPr>
        <p:spPr>
          <a:xfrm>
            <a:off x="3271266" y="5669280"/>
            <a:ext cx="118872" cy="320040"/>
          </a:xfrm>
          <a:prstGeom prst="chevron">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412998" y="5166360"/>
            <a:ext cx="2516886"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412998" y="5166360"/>
            <a:ext cx="64008" cy="1325880"/>
          </a:xfrm>
          <a:prstGeom prst="rect">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41598" y="5330952"/>
            <a:ext cx="2105406" cy="347472"/>
          </a:xfrm>
          <a:prstGeom prst="rect">
            <a:avLst/>
          </a:prstGeom>
          <a:noFill/>
        </p:spPr>
        <p:txBody>
          <a:bodyPr wrap="square" lIns="18288" rIns="18288" tIns="18288" bIns="18288" anchor="t">
            <a:spAutoFit/>
          </a:bodyPr>
          <a:lstStyle/>
          <a:p>
            <a:pPr algn="l">
              <a:spcAft>
                <a:spcPts val="500"/>
              </a:spcAft>
              <a:defRPr sz="1300" b="1">
                <a:solidFill>
                  <a:srgbClr val="0C192D"/>
                </a:solidFill>
                <a:latin typeface="Aptos"/>
              </a:defRPr>
            </a:pPr>
            <a:r>
              <a:t>WHAT</a:t>
            </a:r>
          </a:p>
        </p:txBody>
      </p:sp>
      <p:sp>
        <p:nvSpPr>
          <p:cNvPr id="29" name="TextBox 28"/>
          <p:cNvSpPr txBox="1"/>
          <p:nvPr/>
        </p:nvSpPr>
        <p:spPr>
          <a:xfrm>
            <a:off x="3641598" y="5733288"/>
            <a:ext cx="2105406" cy="612647"/>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Task / deliverable</a:t>
            </a:r>
          </a:p>
        </p:txBody>
      </p:sp>
      <p:sp>
        <p:nvSpPr>
          <p:cNvPr id="30" name="Chevron 29"/>
          <p:cNvSpPr/>
          <p:nvPr/>
        </p:nvSpPr>
        <p:spPr>
          <a:xfrm>
            <a:off x="5952744" y="5669280"/>
            <a:ext cx="118872" cy="320040"/>
          </a:xfrm>
          <a:prstGeom prst="chevron">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094476" y="5166360"/>
            <a:ext cx="2516886"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094476" y="5166360"/>
            <a:ext cx="64008" cy="1325880"/>
          </a:xfrm>
          <a:prstGeom prst="rect">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23076" y="5330952"/>
            <a:ext cx="2105406" cy="347472"/>
          </a:xfrm>
          <a:prstGeom prst="rect">
            <a:avLst/>
          </a:prstGeom>
          <a:noFill/>
        </p:spPr>
        <p:txBody>
          <a:bodyPr wrap="square" lIns="18288" rIns="18288" tIns="18288" bIns="18288" anchor="t">
            <a:spAutoFit/>
          </a:bodyPr>
          <a:lstStyle/>
          <a:p>
            <a:pPr algn="l">
              <a:spcAft>
                <a:spcPts val="500"/>
              </a:spcAft>
              <a:defRPr sz="1300" b="1">
                <a:solidFill>
                  <a:srgbClr val="0C192D"/>
                </a:solidFill>
                <a:latin typeface="Aptos"/>
              </a:defRPr>
            </a:pPr>
            <a:r>
              <a:t>WHEN</a:t>
            </a:r>
          </a:p>
        </p:txBody>
      </p:sp>
      <p:sp>
        <p:nvSpPr>
          <p:cNvPr id="34" name="TextBox 33"/>
          <p:cNvSpPr txBox="1"/>
          <p:nvPr/>
        </p:nvSpPr>
        <p:spPr>
          <a:xfrm>
            <a:off x="6323076" y="5733288"/>
            <a:ext cx="2105406" cy="612647"/>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Timeline</a:t>
            </a:r>
          </a:p>
        </p:txBody>
      </p:sp>
      <p:sp>
        <p:nvSpPr>
          <p:cNvPr id="35" name="Chevron 34"/>
          <p:cNvSpPr/>
          <p:nvPr/>
        </p:nvSpPr>
        <p:spPr>
          <a:xfrm>
            <a:off x="8634222" y="5669280"/>
            <a:ext cx="118872" cy="320040"/>
          </a:xfrm>
          <a:prstGeom prst="chevron">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775954" y="5166360"/>
            <a:ext cx="2516886"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775954" y="5166360"/>
            <a:ext cx="64008" cy="1325880"/>
          </a:xfrm>
          <a:prstGeom prst="rect">
            <a:avLst/>
          </a:prstGeom>
          <a:solidFill>
            <a:srgbClr val="765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04554" y="5330952"/>
            <a:ext cx="2105406" cy="347472"/>
          </a:xfrm>
          <a:prstGeom prst="rect">
            <a:avLst/>
          </a:prstGeom>
          <a:noFill/>
        </p:spPr>
        <p:txBody>
          <a:bodyPr wrap="square" lIns="18288" rIns="18288" tIns="18288" bIns="18288" anchor="t">
            <a:spAutoFit/>
          </a:bodyPr>
          <a:lstStyle/>
          <a:p>
            <a:pPr algn="l">
              <a:spcAft>
                <a:spcPts val="500"/>
              </a:spcAft>
              <a:defRPr sz="1300" b="1">
                <a:solidFill>
                  <a:srgbClr val="0C192D"/>
                </a:solidFill>
                <a:latin typeface="Aptos"/>
              </a:defRPr>
            </a:pPr>
            <a:r>
              <a:t>STATUS</a:t>
            </a:r>
          </a:p>
        </p:txBody>
      </p:sp>
      <p:sp>
        <p:nvSpPr>
          <p:cNvPr id="39" name="TextBox 38"/>
          <p:cNvSpPr txBox="1"/>
          <p:nvPr/>
        </p:nvSpPr>
        <p:spPr>
          <a:xfrm>
            <a:off x="9004554" y="5733288"/>
            <a:ext cx="2105406" cy="612647"/>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Progress</a:t>
            </a:r>
          </a:p>
        </p:txBody>
      </p:sp>
      <p:sp>
        <p:nvSpPr>
          <p:cNvPr id="40" name="TextBox 39"/>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COMSATS University Islamabad • Department of Computer Engineering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0C192D"/>
                </a:solidFill>
                <a:latin typeface="Aptos Display"/>
              </a:defRPr>
            </a:pPr>
            <a:r>
              <a:t>Gantt chart: example</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1A74BE"/>
                </a:solidFill>
                <a:latin typeface="Aptos"/>
              </a:defRPr>
            </a:pPr>
            <a:r>
              <a:t>06 • EXECUTION</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5C6A78"/>
                </a:solidFill>
                <a:latin typeface="Aptos"/>
              </a:defRPr>
            </a:pPr>
            <a:r>
              <a:t>23</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23.jpg"/>
          <p:cNvPicPr>
            <a:picLocks noChangeAspect="1"/>
          </p:cNvPicPr>
          <p:nvPr/>
        </p:nvPicPr>
        <p:blipFill>
          <a:blip r:embed="rId2"/>
          <a:stretch>
            <a:fillRect/>
          </a:stretch>
        </p:blipFill>
        <p:spPr>
          <a:xfrm>
            <a:off x="2057400" y="1417320"/>
            <a:ext cx="8092440" cy="4480560"/>
          </a:xfrm>
          <a:prstGeom prst="rect">
            <a:avLst/>
          </a:prstGeom>
        </p:spPr>
      </p:pic>
      <p:sp>
        <p:nvSpPr>
          <p:cNvPr id="8" name="Rounded Rectangle 7"/>
          <p:cNvSpPr/>
          <p:nvPr/>
        </p:nvSpPr>
        <p:spPr>
          <a:xfrm>
            <a:off x="3291840" y="5806440"/>
            <a:ext cx="5577840" cy="310896"/>
          </a:xfrm>
          <a:prstGeom prst="roundRect">
            <a:avLst/>
          </a:prstGeom>
          <a:solidFill>
            <a:srgbClr val="EB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37560" y="5843016"/>
            <a:ext cx="5486400" cy="210312"/>
          </a:xfrm>
          <a:prstGeom prst="rect">
            <a:avLst/>
          </a:prstGeom>
          <a:noFill/>
        </p:spPr>
        <p:txBody>
          <a:bodyPr wrap="square" lIns="18288" rIns="18288" tIns="18288" bIns="18288" anchor="ctr">
            <a:spAutoFit/>
          </a:bodyPr>
          <a:lstStyle/>
          <a:p>
            <a:pPr algn="ctr">
              <a:spcAft>
                <a:spcPts val="500"/>
              </a:spcAft>
              <a:defRPr sz="850" b="1">
                <a:solidFill>
                  <a:srgbClr val="1A74BE"/>
                </a:solidFill>
                <a:latin typeface="Aptos"/>
              </a:defRPr>
            </a:pPr>
            <a:r>
              <a:t>Plan the sequence — then update the chart as work is completed.</a:t>
            </a:r>
          </a:p>
        </p:txBody>
      </p:sp>
      <p:sp>
        <p:nvSpPr>
          <p:cNvPr id="10" name="TextBox 9"/>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COMSATS University Islamabad • Department of Computer Engineering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0C192D"/>
                </a:solidFill>
                <a:latin typeface="Aptos Display"/>
              </a:defRPr>
            </a:pPr>
            <a:r>
              <a:t>Plagiarism, citations and references</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1A74BE"/>
                </a:solidFill>
                <a:latin typeface="Aptos"/>
              </a:defRPr>
            </a:pPr>
            <a:r>
              <a:t>07 • ACADEMIC INTEGRITY</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5C6A78"/>
                </a:solidFill>
                <a:latin typeface="Aptos"/>
              </a:defRPr>
            </a:pPr>
            <a:r>
              <a:t>24</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188720"/>
            <a:ext cx="525780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188720"/>
            <a:ext cx="64008" cy="1920240"/>
          </a:xfrm>
          <a:prstGeom prst="rect">
            <a:avLst/>
          </a:prstGeom>
          <a:solidFill>
            <a:srgbClr val="D5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353312"/>
            <a:ext cx="4846320"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What is plagiarism?</a:t>
            </a:r>
          </a:p>
        </p:txBody>
      </p:sp>
      <p:sp>
        <p:nvSpPr>
          <p:cNvPr id="10" name="TextBox 9"/>
          <p:cNvSpPr txBox="1"/>
          <p:nvPr/>
        </p:nvSpPr>
        <p:spPr>
          <a:xfrm>
            <a:off x="960120" y="1755648"/>
            <a:ext cx="4846320" cy="1207008"/>
          </a:xfrm>
          <a:prstGeom prst="rect">
            <a:avLst/>
          </a:prstGeom>
          <a:noFill/>
        </p:spPr>
        <p:txBody>
          <a:bodyPr wrap="square" lIns="18288" rIns="18288" tIns="18288" bIns="18288" anchor="t">
            <a:spAutoFit/>
          </a:bodyPr>
          <a:lstStyle/>
          <a:p>
            <a:pPr algn="l">
              <a:spcAft>
                <a:spcPts val="500"/>
              </a:spcAft>
              <a:defRPr sz="1050" b="0">
                <a:solidFill>
                  <a:srgbClr val="212B36"/>
                </a:solidFill>
                <a:latin typeface="Aptos"/>
              </a:defRPr>
            </a:pPr>
            <a:r>
              <a:t>Plagiarism is presenting someone else's work or ideas as your own, with or without their consent, by incorporating it into your work without full acknowledgement. All published and unpublished material, whether in manuscript, printed or electronic form, is covered under this definition.</a:t>
            </a:r>
          </a:p>
        </p:txBody>
      </p:sp>
      <p:sp>
        <p:nvSpPr>
          <p:cNvPr id="11" name="Rounded Rectangle 10"/>
          <p:cNvSpPr/>
          <p:nvPr/>
        </p:nvSpPr>
        <p:spPr>
          <a:xfrm>
            <a:off x="6217920" y="1188720"/>
            <a:ext cx="521208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188720"/>
            <a:ext cx="64008" cy="1920240"/>
          </a:xfrm>
          <a:prstGeom prst="rect">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353312"/>
            <a:ext cx="4800600" cy="347472"/>
          </a:xfrm>
          <a:prstGeom prst="rect">
            <a:avLst/>
          </a:prstGeom>
          <a:noFill/>
        </p:spPr>
        <p:txBody>
          <a:bodyPr wrap="square" lIns="18288" rIns="18288" tIns="18288" bIns="18288" anchor="t">
            <a:spAutoFit/>
          </a:bodyPr>
          <a:lstStyle/>
          <a:p>
            <a:pPr algn="l">
              <a:spcAft>
                <a:spcPts val="500"/>
              </a:spcAft>
              <a:defRPr sz="1400" b="1">
                <a:solidFill>
                  <a:srgbClr val="0C192D"/>
                </a:solidFill>
                <a:latin typeface="Aptos"/>
              </a:defRPr>
            </a:pPr>
            <a:r>
              <a:t>Citations are required</a:t>
            </a:r>
          </a:p>
        </p:txBody>
      </p:sp>
      <p:sp>
        <p:nvSpPr>
          <p:cNvPr id="14" name="TextBox 13"/>
          <p:cNvSpPr txBox="1"/>
          <p:nvPr/>
        </p:nvSpPr>
        <p:spPr>
          <a:xfrm>
            <a:off x="6446520" y="1755648"/>
            <a:ext cx="4800600" cy="1207008"/>
          </a:xfrm>
          <a:prstGeom prst="rect">
            <a:avLst/>
          </a:prstGeom>
          <a:noFill/>
        </p:spPr>
        <p:txBody>
          <a:bodyPr wrap="square" lIns="18288" rIns="18288" tIns="18288" bIns="18288" anchor="t">
            <a:spAutoFit/>
          </a:bodyPr>
          <a:lstStyle/>
          <a:p>
            <a:pPr algn="l">
              <a:spcAft>
                <a:spcPts val="500"/>
              </a:spcAft>
              <a:defRPr sz="1100" b="0">
                <a:solidFill>
                  <a:srgbClr val="212B36"/>
                </a:solidFill>
                <a:latin typeface="Aptos"/>
              </a:defRPr>
            </a:pPr>
            <a:r>
              <a:t>Throughout the three steps of write-up, you must provide citations whenever you paraphrase and/or summarize someone else’s ideas and when you use a direct quote.</a:t>
            </a:r>
          </a:p>
        </p:txBody>
      </p:sp>
      <p:sp>
        <p:nvSpPr>
          <p:cNvPr id="15" name="Rounded Rectangle 14"/>
          <p:cNvSpPr/>
          <p:nvPr/>
        </p:nvSpPr>
        <p:spPr>
          <a:xfrm>
            <a:off x="731520" y="3429000"/>
            <a:ext cx="3337560" cy="1600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3429000"/>
            <a:ext cx="64008" cy="1600200"/>
          </a:xfrm>
          <a:prstGeom prst="rect">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3593592"/>
            <a:ext cx="2926079" cy="347472"/>
          </a:xfrm>
          <a:prstGeom prst="rect">
            <a:avLst/>
          </a:prstGeom>
          <a:noFill/>
        </p:spPr>
        <p:txBody>
          <a:bodyPr wrap="square" lIns="18288" rIns="18288" tIns="18288" bIns="18288" anchor="t">
            <a:spAutoFit/>
          </a:bodyPr>
          <a:lstStyle/>
          <a:p>
            <a:pPr algn="l">
              <a:spcAft>
                <a:spcPts val="500"/>
              </a:spcAft>
              <a:defRPr sz="1300" b="1">
                <a:solidFill>
                  <a:srgbClr val="0C192D"/>
                </a:solidFill>
                <a:latin typeface="Aptos"/>
              </a:defRPr>
            </a:pPr>
            <a:r>
              <a:t>Why it matters</a:t>
            </a:r>
          </a:p>
        </p:txBody>
      </p:sp>
      <p:sp>
        <p:nvSpPr>
          <p:cNvPr id="18" name="TextBox 17"/>
          <p:cNvSpPr txBox="1"/>
          <p:nvPr/>
        </p:nvSpPr>
        <p:spPr>
          <a:xfrm>
            <a:off x="960120" y="3995928"/>
            <a:ext cx="2926079" cy="886968"/>
          </a:xfrm>
          <a:prstGeom prst="rect">
            <a:avLst/>
          </a:prstGeom>
          <a:noFill/>
        </p:spPr>
        <p:txBody>
          <a:bodyPr wrap="square" lIns="18288" rIns="18288" tIns="18288" bIns="18288" anchor="t">
            <a:spAutoFit/>
          </a:bodyPr>
          <a:lstStyle/>
          <a:p>
            <a:pPr algn="l">
              <a:spcAft>
                <a:spcPts val="500"/>
              </a:spcAft>
              <a:defRPr sz="1000" b="0">
                <a:solidFill>
                  <a:srgbClr val="212B36"/>
                </a:solidFill>
                <a:latin typeface="Aptos"/>
              </a:defRPr>
            </a:pPr>
            <a:r>
              <a:t>Not providing citations makes your team look like a bunch of amateurs. Second, it discredits your work. Third, providing no citations equals plagiarism-the academic equivalent to robbery.</a:t>
            </a:r>
          </a:p>
        </p:txBody>
      </p:sp>
      <p:sp>
        <p:nvSpPr>
          <p:cNvPr id="19" name="Rounded Rectangle 18"/>
          <p:cNvSpPr/>
          <p:nvPr/>
        </p:nvSpPr>
        <p:spPr>
          <a:xfrm>
            <a:off x="4434840" y="3429000"/>
            <a:ext cx="3337560" cy="1600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34840" y="3429000"/>
            <a:ext cx="64008" cy="1600200"/>
          </a:xfrm>
          <a:prstGeom prst="rect">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63440" y="3593592"/>
            <a:ext cx="2926079" cy="347472"/>
          </a:xfrm>
          <a:prstGeom prst="rect">
            <a:avLst/>
          </a:prstGeom>
          <a:noFill/>
        </p:spPr>
        <p:txBody>
          <a:bodyPr wrap="square" lIns="18288" rIns="18288" tIns="18288" bIns="18288" anchor="t">
            <a:spAutoFit/>
          </a:bodyPr>
          <a:lstStyle/>
          <a:p>
            <a:pPr algn="l">
              <a:spcAft>
                <a:spcPts val="500"/>
              </a:spcAft>
              <a:defRPr sz="1300" b="1">
                <a:solidFill>
                  <a:srgbClr val="0C192D"/>
                </a:solidFill>
                <a:latin typeface="Aptos"/>
              </a:defRPr>
            </a:pPr>
            <a:r>
              <a:t>Cite visual content</a:t>
            </a:r>
          </a:p>
        </p:txBody>
      </p:sp>
      <p:sp>
        <p:nvSpPr>
          <p:cNvPr id="22" name="TextBox 21"/>
          <p:cNvSpPr txBox="1"/>
          <p:nvPr/>
        </p:nvSpPr>
        <p:spPr>
          <a:xfrm>
            <a:off x="4663440" y="3995928"/>
            <a:ext cx="2926079" cy="886968"/>
          </a:xfrm>
          <a:prstGeom prst="rect">
            <a:avLst/>
          </a:prstGeom>
          <a:noFill/>
        </p:spPr>
        <p:txBody>
          <a:bodyPr wrap="square" lIns="18288" rIns="18288" tIns="18288" bIns="18288" anchor="t">
            <a:spAutoFit/>
          </a:bodyPr>
          <a:lstStyle/>
          <a:p>
            <a:pPr algn="l">
              <a:spcAft>
                <a:spcPts val="500"/>
              </a:spcAft>
              <a:defRPr sz="1000" b="0">
                <a:solidFill>
                  <a:srgbClr val="212B36"/>
                </a:solidFill>
                <a:latin typeface="Aptos"/>
              </a:defRPr>
            </a:pPr>
            <a:r>
              <a:t>Best if to provide reference of Figures, Equations, and Text.</a:t>
            </a:r>
          </a:p>
        </p:txBody>
      </p:sp>
      <p:sp>
        <p:nvSpPr>
          <p:cNvPr id="23" name="Rounded Rectangle 22"/>
          <p:cNvSpPr/>
          <p:nvPr/>
        </p:nvSpPr>
        <p:spPr>
          <a:xfrm>
            <a:off x="8138160" y="3429000"/>
            <a:ext cx="3337560" cy="1600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38160" y="3429000"/>
            <a:ext cx="64008" cy="1600200"/>
          </a:xfrm>
          <a:prstGeom prst="rect">
            <a:avLst/>
          </a:prstGeom>
          <a:solidFill>
            <a:srgbClr val="765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66760" y="3593592"/>
            <a:ext cx="2926079" cy="347472"/>
          </a:xfrm>
          <a:prstGeom prst="rect">
            <a:avLst/>
          </a:prstGeom>
          <a:noFill/>
        </p:spPr>
        <p:txBody>
          <a:bodyPr wrap="square" lIns="18288" rIns="18288" tIns="18288" bIns="18288" anchor="t">
            <a:spAutoFit/>
          </a:bodyPr>
          <a:lstStyle/>
          <a:p>
            <a:pPr algn="l">
              <a:spcAft>
                <a:spcPts val="500"/>
              </a:spcAft>
              <a:defRPr sz="1300" b="1">
                <a:solidFill>
                  <a:srgbClr val="0C192D"/>
                </a:solidFill>
                <a:latin typeface="Aptos"/>
              </a:defRPr>
            </a:pPr>
            <a:r>
              <a:t>Check originality</a:t>
            </a:r>
          </a:p>
        </p:txBody>
      </p:sp>
      <p:sp>
        <p:nvSpPr>
          <p:cNvPr id="26" name="TextBox 25"/>
          <p:cNvSpPr txBox="1"/>
          <p:nvPr/>
        </p:nvSpPr>
        <p:spPr>
          <a:xfrm>
            <a:off x="8366760" y="3995928"/>
            <a:ext cx="2926079" cy="886968"/>
          </a:xfrm>
          <a:prstGeom prst="rect">
            <a:avLst/>
          </a:prstGeom>
          <a:noFill/>
        </p:spPr>
        <p:txBody>
          <a:bodyPr wrap="square" lIns="18288" rIns="18288" tIns="18288" bIns="18288" anchor="t">
            <a:spAutoFit/>
          </a:bodyPr>
          <a:lstStyle/>
          <a:p>
            <a:pPr algn="l">
              <a:spcAft>
                <a:spcPts val="500"/>
              </a:spcAft>
              <a:defRPr sz="1000" b="0">
                <a:solidFill>
                  <a:srgbClr val="212B36"/>
                </a:solidFill>
                <a:latin typeface="Aptos"/>
              </a:defRPr>
            </a:pPr>
            <a:r>
              <a:t>Plagiarism Can be checked Through different tools including Turnitin, Online Plagiarism Choker etc.</a:t>
            </a:r>
          </a:p>
        </p:txBody>
      </p:sp>
      <p:sp>
        <p:nvSpPr>
          <p:cNvPr id="27" name="Rounded Rectangle 26"/>
          <p:cNvSpPr/>
          <p:nvPr/>
        </p:nvSpPr>
        <p:spPr>
          <a:xfrm>
            <a:off x="3017520" y="5532120"/>
            <a:ext cx="6172200" cy="310896"/>
          </a:xfrm>
          <a:prstGeom prst="roundRect">
            <a:avLst/>
          </a:prstGeom>
          <a:solidFill>
            <a:srgbClr val="FF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063239" y="5568696"/>
            <a:ext cx="6080760" cy="210312"/>
          </a:xfrm>
          <a:prstGeom prst="rect">
            <a:avLst/>
          </a:prstGeom>
          <a:noFill/>
        </p:spPr>
        <p:txBody>
          <a:bodyPr wrap="square" lIns="18288" rIns="18288" tIns="18288" bIns="18288" anchor="ctr">
            <a:spAutoFit/>
          </a:bodyPr>
          <a:lstStyle/>
          <a:p>
            <a:pPr algn="ctr">
              <a:spcAft>
                <a:spcPts val="500"/>
              </a:spcAft>
              <a:defRPr sz="850" b="1">
                <a:solidFill>
                  <a:srgbClr val="F28F2A"/>
                </a:solidFill>
                <a:latin typeface="Aptos"/>
              </a:defRPr>
            </a:pPr>
            <a:r>
              <a:t>Cite ideas • cite figures • cite equations • cite text</a:t>
            </a:r>
          </a:p>
        </p:txBody>
      </p:sp>
      <p:sp>
        <p:nvSpPr>
          <p:cNvPr id="29" name="TextBox 28"/>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COMSATS University Islamabad • Department of Computer Engineering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0C192D"/>
                </a:solidFill>
                <a:latin typeface="Aptos Display"/>
              </a:defRPr>
            </a:pPr>
            <a:r>
              <a:t>References styling: IEEE</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1A74BE"/>
                </a:solidFill>
                <a:latin typeface="Aptos"/>
              </a:defRPr>
            </a:pPr>
            <a:r>
              <a:t>07 • ACADEMIC INTEGRITY</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5C6A78"/>
                </a:solidFill>
                <a:latin typeface="Aptos"/>
              </a:defRPr>
            </a:pPr>
            <a:r>
              <a:t>25</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lide-25.jpg"/>
          <p:cNvPicPr>
            <a:picLocks noChangeAspect="1"/>
          </p:cNvPicPr>
          <p:nvPr/>
        </p:nvPicPr>
        <p:blipFill>
          <a:blip r:embed="rId2"/>
          <a:stretch>
            <a:fillRect/>
          </a:stretch>
        </p:blipFill>
        <p:spPr>
          <a:xfrm>
            <a:off x="2148840" y="1234440"/>
            <a:ext cx="7909560" cy="4892040"/>
          </a:xfrm>
          <a:prstGeom prst="rect">
            <a:avLst/>
          </a:prstGeom>
        </p:spPr>
      </p:pic>
      <p:sp>
        <p:nvSpPr>
          <p:cNvPr id="8" name="Rounded Rectangle 7"/>
          <p:cNvSpPr/>
          <p:nvPr/>
        </p:nvSpPr>
        <p:spPr>
          <a:xfrm>
            <a:off x="2743200" y="6172200"/>
            <a:ext cx="6675120" cy="310896"/>
          </a:xfrm>
          <a:prstGeom prst="roundRect">
            <a:avLst/>
          </a:prstGeom>
          <a:solidFill>
            <a:srgbClr val="EB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88920" y="6208776"/>
            <a:ext cx="6583680" cy="210312"/>
          </a:xfrm>
          <a:prstGeom prst="rect">
            <a:avLst/>
          </a:prstGeom>
          <a:noFill/>
        </p:spPr>
        <p:txBody>
          <a:bodyPr wrap="square" lIns="18288" rIns="18288" tIns="18288" bIns="18288" anchor="ctr">
            <a:spAutoFit/>
          </a:bodyPr>
          <a:lstStyle/>
          <a:p>
            <a:pPr algn="ctr">
              <a:spcAft>
                <a:spcPts val="500"/>
              </a:spcAft>
              <a:defRPr sz="850" b="1">
                <a:solidFill>
                  <a:srgbClr val="1A74BE"/>
                </a:solidFill>
                <a:latin typeface="Aptos"/>
              </a:defRPr>
            </a:pPr>
            <a:r>
              <a:t>Follow the required IEEE reference format consistently throughout the report.</a:t>
            </a:r>
          </a:p>
        </p:txBody>
      </p:sp>
      <p:sp>
        <p:nvSpPr>
          <p:cNvPr id="10" name="TextBox 9"/>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COMSATS University Islamabad • Department of Computer Engineering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0C192D"/>
                </a:solidFill>
                <a:latin typeface="Aptos Display"/>
              </a:defRPr>
            </a:pPr>
            <a:r>
              <a:t>Tools for writing, referencing and originality</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1A74BE"/>
                </a:solidFill>
                <a:latin typeface="Aptos"/>
              </a:defRPr>
            </a:pPr>
            <a:r>
              <a:t>07 • ACADEMIC INTEGRITY</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5C6A78"/>
                </a:solidFill>
                <a:latin typeface="Aptos"/>
              </a:defRPr>
            </a:pPr>
            <a:r>
              <a:t>26</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234440"/>
            <a:ext cx="5166360" cy="841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234440"/>
            <a:ext cx="64008" cy="841248"/>
          </a:xfrm>
          <a:prstGeom prst="rect">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399032"/>
            <a:ext cx="4754880" cy="347472"/>
          </a:xfrm>
          <a:prstGeom prst="rect">
            <a:avLst/>
          </a:prstGeom>
          <a:noFill/>
        </p:spPr>
        <p:txBody>
          <a:bodyPr wrap="square" lIns="18288" rIns="18288" tIns="18288" bIns="18288" anchor="t">
            <a:spAutoFit/>
          </a:bodyPr>
          <a:lstStyle/>
          <a:p>
            <a:pPr algn="l">
              <a:spcAft>
                <a:spcPts val="500"/>
              </a:spcAft>
              <a:defRPr sz="1100" b="1">
                <a:solidFill>
                  <a:srgbClr val="0C192D"/>
                </a:solidFill>
                <a:latin typeface="Aptos"/>
              </a:defRPr>
            </a:pPr>
            <a:r>
              <a:t>01</a:t>
            </a:r>
          </a:p>
        </p:txBody>
      </p:sp>
      <p:sp>
        <p:nvSpPr>
          <p:cNvPr id="10" name="TextBox 9"/>
          <p:cNvSpPr txBox="1"/>
          <p:nvPr/>
        </p:nvSpPr>
        <p:spPr>
          <a:xfrm>
            <a:off x="960120" y="1801368"/>
            <a:ext cx="4754880" cy="128016"/>
          </a:xfrm>
          <a:prstGeom prst="rect">
            <a:avLst/>
          </a:prstGeom>
          <a:noFill/>
        </p:spPr>
        <p:txBody>
          <a:bodyPr wrap="square" lIns="18288" rIns="18288" tIns="18288" bIns="18288" anchor="t">
            <a:spAutoFit/>
          </a:bodyPr>
          <a:lstStyle/>
          <a:p>
            <a:pPr algn="l">
              <a:spcAft>
                <a:spcPts val="500"/>
              </a:spcAft>
              <a:defRPr sz="1000" b="0">
                <a:solidFill>
                  <a:srgbClr val="212B36"/>
                </a:solidFill>
                <a:latin typeface="Aptos"/>
              </a:defRPr>
            </a:pPr>
            <a:r>
              <a:t>MS Word</a:t>
            </a:r>
          </a:p>
        </p:txBody>
      </p:sp>
      <p:sp>
        <p:nvSpPr>
          <p:cNvPr id="11" name="Rounded Rectangle 10"/>
          <p:cNvSpPr/>
          <p:nvPr/>
        </p:nvSpPr>
        <p:spPr>
          <a:xfrm>
            <a:off x="6217920" y="1234440"/>
            <a:ext cx="5166360" cy="841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234440"/>
            <a:ext cx="64008" cy="8412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399032"/>
            <a:ext cx="4754880" cy="347472"/>
          </a:xfrm>
          <a:prstGeom prst="rect">
            <a:avLst/>
          </a:prstGeom>
          <a:noFill/>
        </p:spPr>
        <p:txBody>
          <a:bodyPr wrap="square" lIns="18288" rIns="18288" tIns="18288" bIns="18288" anchor="t">
            <a:spAutoFit/>
          </a:bodyPr>
          <a:lstStyle/>
          <a:p>
            <a:pPr algn="l">
              <a:spcAft>
                <a:spcPts val="500"/>
              </a:spcAft>
              <a:defRPr sz="1100" b="1">
                <a:solidFill>
                  <a:srgbClr val="0C192D"/>
                </a:solidFill>
                <a:latin typeface="Aptos"/>
              </a:defRPr>
            </a:pPr>
            <a:r>
              <a:t>02</a:t>
            </a:r>
          </a:p>
        </p:txBody>
      </p:sp>
      <p:sp>
        <p:nvSpPr>
          <p:cNvPr id="14" name="TextBox 13"/>
          <p:cNvSpPr txBox="1"/>
          <p:nvPr/>
        </p:nvSpPr>
        <p:spPr>
          <a:xfrm>
            <a:off x="6446520" y="1801368"/>
            <a:ext cx="4754880" cy="128016"/>
          </a:xfrm>
          <a:prstGeom prst="rect">
            <a:avLst/>
          </a:prstGeom>
          <a:noFill/>
        </p:spPr>
        <p:txBody>
          <a:bodyPr wrap="square" lIns="18288" rIns="18288" tIns="18288" bIns="18288" anchor="t">
            <a:spAutoFit/>
          </a:bodyPr>
          <a:lstStyle/>
          <a:p>
            <a:pPr algn="l">
              <a:spcAft>
                <a:spcPts val="500"/>
              </a:spcAft>
              <a:defRPr sz="1000" b="0">
                <a:solidFill>
                  <a:srgbClr val="212B36"/>
                </a:solidFill>
                <a:latin typeface="Aptos"/>
              </a:defRPr>
            </a:pPr>
            <a:r>
              <a:t>Latex (https://www.overleaf.com/user/emails/primary-email-check)</a:t>
            </a:r>
          </a:p>
        </p:txBody>
      </p:sp>
      <p:sp>
        <p:nvSpPr>
          <p:cNvPr id="15" name="Rounded Rectangle 14"/>
          <p:cNvSpPr/>
          <p:nvPr/>
        </p:nvSpPr>
        <p:spPr>
          <a:xfrm>
            <a:off x="731520" y="2286000"/>
            <a:ext cx="5166360" cy="841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2286000"/>
            <a:ext cx="64008" cy="841248"/>
          </a:xfrm>
          <a:prstGeom prst="rect">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2450592"/>
            <a:ext cx="4754880" cy="347472"/>
          </a:xfrm>
          <a:prstGeom prst="rect">
            <a:avLst/>
          </a:prstGeom>
          <a:noFill/>
        </p:spPr>
        <p:txBody>
          <a:bodyPr wrap="square" lIns="18288" rIns="18288" tIns="18288" bIns="18288" anchor="t">
            <a:spAutoFit/>
          </a:bodyPr>
          <a:lstStyle/>
          <a:p>
            <a:pPr algn="l">
              <a:spcAft>
                <a:spcPts val="500"/>
              </a:spcAft>
              <a:defRPr sz="1100" b="1">
                <a:solidFill>
                  <a:srgbClr val="0C192D"/>
                </a:solidFill>
                <a:latin typeface="Aptos"/>
              </a:defRPr>
            </a:pPr>
            <a:r>
              <a:t>03</a:t>
            </a:r>
          </a:p>
        </p:txBody>
      </p:sp>
      <p:sp>
        <p:nvSpPr>
          <p:cNvPr id="18" name="TextBox 17"/>
          <p:cNvSpPr txBox="1"/>
          <p:nvPr/>
        </p:nvSpPr>
        <p:spPr>
          <a:xfrm>
            <a:off x="960120" y="2852928"/>
            <a:ext cx="4754880" cy="128016"/>
          </a:xfrm>
          <a:prstGeom prst="rect">
            <a:avLst/>
          </a:prstGeom>
          <a:noFill/>
        </p:spPr>
        <p:txBody>
          <a:bodyPr wrap="square" lIns="18288" rIns="18288" tIns="18288" bIns="18288" anchor="t">
            <a:spAutoFit/>
          </a:bodyPr>
          <a:lstStyle/>
          <a:p>
            <a:pPr algn="l">
              <a:spcAft>
                <a:spcPts val="500"/>
              </a:spcAft>
              <a:defRPr sz="1000" b="0">
                <a:solidFill>
                  <a:srgbClr val="212B36"/>
                </a:solidFill>
                <a:latin typeface="Aptos"/>
              </a:defRPr>
            </a:pPr>
            <a:r>
              <a:t>Endnote for referencing</a:t>
            </a:r>
          </a:p>
        </p:txBody>
      </p:sp>
      <p:sp>
        <p:nvSpPr>
          <p:cNvPr id="19" name="Rounded Rectangle 18"/>
          <p:cNvSpPr/>
          <p:nvPr/>
        </p:nvSpPr>
        <p:spPr>
          <a:xfrm>
            <a:off x="6217920" y="2286000"/>
            <a:ext cx="5166360" cy="841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2286000"/>
            <a:ext cx="64008" cy="841248"/>
          </a:xfrm>
          <a:prstGeom prst="rect">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2450592"/>
            <a:ext cx="4754880" cy="347472"/>
          </a:xfrm>
          <a:prstGeom prst="rect">
            <a:avLst/>
          </a:prstGeom>
          <a:noFill/>
        </p:spPr>
        <p:txBody>
          <a:bodyPr wrap="square" lIns="18288" rIns="18288" tIns="18288" bIns="18288" anchor="t">
            <a:spAutoFit/>
          </a:bodyPr>
          <a:lstStyle/>
          <a:p>
            <a:pPr algn="l">
              <a:spcAft>
                <a:spcPts val="500"/>
              </a:spcAft>
              <a:defRPr sz="1100" b="1">
                <a:solidFill>
                  <a:srgbClr val="0C192D"/>
                </a:solidFill>
                <a:latin typeface="Aptos"/>
              </a:defRPr>
            </a:pPr>
            <a:r>
              <a:t>04</a:t>
            </a:r>
          </a:p>
        </p:txBody>
      </p:sp>
      <p:sp>
        <p:nvSpPr>
          <p:cNvPr id="22" name="TextBox 21"/>
          <p:cNvSpPr txBox="1"/>
          <p:nvPr/>
        </p:nvSpPr>
        <p:spPr>
          <a:xfrm>
            <a:off x="6446520" y="2852928"/>
            <a:ext cx="4754880" cy="128016"/>
          </a:xfrm>
          <a:prstGeom prst="rect">
            <a:avLst/>
          </a:prstGeom>
          <a:noFill/>
        </p:spPr>
        <p:txBody>
          <a:bodyPr wrap="square" lIns="18288" rIns="18288" tIns="18288" bIns="18288" anchor="t">
            <a:spAutoFit/>
          </a:bodyPr>
          <a:lstStyle/>
          <a:p>
            <a:pPr algn="l">
              <a:spcAft>
                <a:spcPts val="500"/>
              </a:spcAft>
              <a:defRPr sz="1000" b="0">
                <a:solidFill>
                  <a:srgbClr val="212B36"/>
                </a:solidFill>
                <a:latin typeface="Aptos"/>
              </a:defRPr>
            </a:pPr>
            <a:r>
              <a:t>Mendeley for referencing</a:t>
            </a:r>
          </a:p>
        </p:txBody>
      </p:sp>
      <p:sp>
        <p:nvSpPr>
          <p:cNvPr id="23" name="Rounded Rectangle 22"/>
          <p:cNvSpPr/>
          <p:nvPr/>
        </p:nvSpPr>
        <p:spPr>
          <a:xfrm>
            <a:off x="731520" y="3337560"/>
            <a:ext cx="5166360" cy="841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 y="3337560"/>
            <a:ext cx="64008" cy="841248"/>
          </a:xfrm>
          <a:prstGeom prst="rect">
            <a:avLst/>
          </a:prstGeom>
          <a:solidFill>
            <a:srgbClr val="D54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3502152"/>
            <a:ext cx="4754880" cy="347472"/>
          </a:xfrm>
          <a:prstGeom prst="rect">
            <a:avLst/>
          </a:prstGeom>
          <a:noFill/>
        </p:spPr>
        <p:txBody>
          <a:bodyPr wrap="square" lIns="18288" rIns="18288" tIns="18288" bIns="18288" anchor="t">
            <a:spAutoFit/>
          </a:bodyPr>
          <a:lstStyle/>
          <a:p>
            <a:pPr algn="l">
              <a:spcAft>
                <a:spcPts val="500"/>
              </a:spcAft>
              <a:defRPr sz="1100" b="1">
                <a:solidFill>
                  <a:srgbClr val="0C192D"/>
                </a:solidFill>
                <a:latin typeface="Aptos"/>
              </a:defRPr>
            </a:pPr>
            <a:r>
              <a:t>05</a:t>
            </a:r>
          </a:p>
        </p:txBody>
      </p:sp>
      <p:sp>
        <p:nvSpPr>
          <p:cNvPr id="26" name="TextBox 25"/>
          <p:cNvSpPr txBox="1"/>
          <p:nvPr/>
        </p:nvSpPr>
        <p:spPr>
          <a:xfrm>
            <a:off x="960120" y="3904487"/>
            <a:ext cx="4754880" cy="128016"/>
          </a:xfrm>
          <a:prstGeom prst="rect">
            <a:avLst/>
          </a:prstGeom>
          <a:noFill/>
        </p:spPr>
        <p:txBody>
          <a:bodyPr wrap="square" lIns="18288" rIns="18288" tIns="18288" bIns="18288" anchor="t">
            <a:spAutoFit/>
          </a:bodyPr>
          <a:lstStyle/>
          <a:p>
            <a:pPr algn="l">
              <a:spcAft>
                <a:spcPts val="500"/>
              </a:spcAft>
              <a:defRPr sz="1000" b="0">
                <a:solidFill>
                  <a:srgbClr val="212B36"/>
                </a:solidFill>
                <a:latin typeface="Aptos"/>
              </a:defRPr>
            </a:pPr>
            <a:r>
              <a:t>Turnitin Plagiarism checker</a:t>
            </a:r>
          </a:p>
        </p:txBody>
      </p:sp>
      <p:sp>
        <p:nvSpPr>
          <p:cNvPr id="27" name="Rounded Rectangle 26"/>
          <p:cNvSpPr/>
          <p:nvPr/>
        </p:nvSpPr>
        <p:spPr>
          <a:xfrm>
            <a:off x="6217920" y="3337560"/>
            <a:ext cx="5166360" cy="841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3337560"/>
            <a:ext cx="64008" cy="841248"/>
          </a:xfrm>
          <a:prstGeom prst="rect">
            <a:avLst/>
          </a:prstGeom>
          <a:solidFill>
            <a:srgbClr val="765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3502152"/>
            <a:ext cx="4754880" cy="347472"/>
          </a:xfrm>
          <a:prstGeom prst="rect">
            <a:avLst/>
          </a:prstGeom>
          <a:noFill/>
        </p:spPr>
        <p:txBody>
          <a:bodyPr wrap="square" lIns="18288" rIns="18288" tIns="18288" bIns="18288" anchor="t">
            <a:spAutoFit/>
          </a:bodyPr>
          <a:lstStyle/>
          <a:p>
            <a:pPr algn="l">
              <a:spcAft>
                <a:spcPts val="500"/>
              </a:spcAft>
              <a:defRPr sz="1100" b="1">
                <a:solidFill>
                  <a:srgbClr val="0C192D"/>
                </a:solidFill>
                <a:latin typeface="Aptos"/>
              </a:defRPr>
            </a:pPr>
            <a:r>
              <a:t>06</a:t>
            </a:r>
          </a:p>
        </p:txBody>
      </p:sp>
      <p:sp>
        <p:nvSpPr>
          <p:cNvPr id="30" name="TextBox 29"/>
          <p:cNvSpPr txBox="1"/>
          <p:nvPr/>
        </p:nvSpPr>
        <p:spPr>
          <a:xfrm>
            <a:off x="6446520" y="3904487"/>
            <a:ext cx="4754880" cy="128016"/>
          </a:xfrm>
          <a:prstGeom prst="rect">
            <a:avLst/>
          </a:prstGeom>
          <a:noFill/>
        </p:spPr>
        <p:txBody>
          <a:bodyPr wrap="square" lIns="18288" rIns="18288" tIns="18288" bIns="18288" anchor="t">
            <a:spAutoFit/>
          </a:bodyPr>
          <a:lstStyle/>
          <a:p>
            <a:pPr algn="l">
              <a:spcAft>
                <a:spcPts val="500"/>
              </a:spcAft>
              <a:defRPr sz="1000" b="0">
                <a:solidFill>
                  <a:srgbClr val="212B36"/>
                </a:solidFill>
                <a:latin typeface="Aptos"/>
              </a:defRPr>
            </a:pPr>
            <a:r>
              <a:t>Grammerly (https://app.grammarly.com/)</a:t>
            </a:r>
          </a:p>
        </p:txBody>
      </p:sp>
      <p:sp>
        <p:nvSpPr>
          <p:cNvPr id="31" name="Rounded Rectangle 30"/>
          <p:cNvSpPr/>
          <p:nvPr/>
        </p:nvSpPr>
        <p:spPr>
          <a:xfrm>
            <a:off x="731520" y="4389120"/>
            <a:ext cx="5166360" cy="8412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1520" y="4389120"/>
            <a:ext cx="64008" cy="841248"/>
          </a:xfrm>
          <a:prstGeom prst="rect">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0120" y="4553712"/>
            <a:ext cx="4754880" cy="347472"/>
          </a:xfrm>
          <a:prstGeom prst="rect">
            <a:avLst/>
          </a:prstGeom>
          <a:noFill/>
        </p:spPr>
        <p:txBody>
          <a:bodyPr wrap="square" lIns="18288" rIns="18288" tIns="18288" bIns="18288" anchor="t">
            <a:spAutoFit/>
          </a:bodyPr>
          <a:lstStyle/>
          <a:p>
            <a:pPr algn="l">
              <a:spcAft>
                <a:spcPts val="500"/>
              </a:spcAft>
              <a:defRPr sz="1100" b="1">
                <a:solidFill>
                  <a:srgbClr val="0C192D"/>
                </a:solidFill>
                <a:latin typeface="Aptos"/>
              </a:defRPr>
            </a:pPr>
            <a:r>
              <a:t>07</a:t>
            </a:r>
          </a:p>
        </p:txBody>
      </p:sp>
      <p:sp>
        <p:nvSpPr>
          <p:cNvPr id="34" name="TextBox 33"/>
          <p:cNvSpPr txBox="1"/>
          <p:nvPr/>
        </p:nvSpPr>
        <p:spPr>
          <a:xfrm>
            <a:off x="960120" y="4956048"/>
            <a:ext cx="4754880" cy="128016"/>
          </a:xfrm>
          <a:prstGeom prst="rect">
            <a:avLst/>
          </a:prstGeom>
          <a:noFill/>
        </p:spPr>
        <p:txBody>
          <a:bodyPr wrap="square" lIns="18288" rIns="18288" tIns="18288" bIns="18288" anchor="t">
            <a:spAutoFit/>
          </a:bodyPr>
          <a:lstStyle/>
          <a:p>
            <a:pPr algn="l">
              <a:spcAft>
                <a:spcPts val="500"/>
              </a:spcAft>
              <a:defRPr sz="1000" b="0">
                <a:solidFill>
                  <a:srgbClr val="212B36"/>
                </a:solidFill>
                <a:latin typeface="Aptos"/>
              </a:defRPr>
            </a:pPr>
            <a:r>
              <a:t>Quilbot (https://quillbot.com/)</a:t>
            </a:r>
          </a:p>
        </p:txBody>
      </p:sp>
      <p:sp>
        <p:nvSpPr>
          <p:cNvPr id="35" name="Rounded Rectangle 34"/>
          <p:cNvSpPr/>
          <p:nvPr/>
        </p:nvSpPr>
        <p:spPr>
          <a:xfrm>
            <a:off x="2468880" y="5623560"/>
            <a:ext cx="7223760" cy="310896"/>
          </a:xfrm>
          <a:prstGeom prst="roundRect">
            <a:avLst/>
          </a:prstGeom>
          <a:solidFill>
            <a:srgbClr val="EB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514600" y="5660136"/>
            <a:ext cx="7132320" cy="210312"/>
          </a:xfrm>
          <a:prstGeom prst="rect">
            <a:avLst/>
          </a:prstGeom>
          <a:noFill/>
        </p:spPr>
        <p:txBody>
          <a:bodyPr wrap="square" lIns="18288" rIns="18288" tIns="18288" bIns="18288" anchor="ctr">
            <a:spAutoFit/>
          </a:bodyPr>
          <a:lstStyle/>
          <a:p>
            <a:pPr algn="ctr">
              <a:spcAft>
                <a:spcPts val="500"/>
              </a:spcAft>
              <a:defRPr sz="850" b="1">
                <a:solidFill>
                  <a:srgbClr val="0C192D"/>
                </a:solidFill>
                <a:latin typeface="Aptos"/>
              </a:defRPr>
            </a:pPr>
            <a:r>
              <a:t>Choose tools that support writing quality, citation management and originality checks.</a:t>
            </a:r>
          </a:p>
        </p:txBody>
      </p:sp>
      <p:sp>
        <p:nvSpPr>
          <p:cNvPr id="37" name="TextBox 36"/>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COMSATS University Islamabad • Department of Computer Engineering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6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47472"/>
            <a:ext cx="10698480" cy="502920"/>
          </a:xfrm>
          <a:prstGeom prst="rect">
            <a:avLst/>
          </a:prstGeom>
          <a:noFill/>
        </p:spPr>
        <p:txBody>
          <a:bodyPr wrap="none">
            <a:spAutoFit/>
          </a:bodyPr>
          <a:lstStyle/>
          <a:p>
            <a:pPr>
              <a:defRPr sz="2500" b="1">
                <a:solidFill>
                  <a:srgbClr val="0C192D"/>
                </a:solidFill>
                <a:latin typeface="Aptos Display"/>
              </a:defRPr>
            </a:pPr>
            <a:r>
              <a:t>References</a:t>
            </a:r>
          </a:p>
        </p:txBody>
      </p:sp>
      <p:sp>
        <p:nvSpPr>
          <p:cNvPr id="4" name="TextBox 3"/>
          <p:cNvSpPr txBox="1"/>
          <p:nvPr/>
        </p:nvSpPr>
        <p:spPr>
          <a:xfrm>
            <a:off x="612648" y="164592"/>
            <a:ext cx="3200400" cy="201168"/>
          </a:xfrm>
          <a:prstGeom prst="rect">
            <a:avLst/>
          </a:prstGeom>
          <a:noFill/>
        </p:spPr>
        <p:txBody>
          <a:bodyPr wrap="none">
            <a:spAutoFit/>
          </a:bodyPr>
          <a:lstStyle/>
          <a:p>
            <a:pPr>
              <a:defRPr sz="850" b="1">
                <a:solidFill>
                  <a:srgbClr val="1A74BE"/>
                </a:solidFill>
                <a:latin typeface="Aptos"/>
              </a:defRPr>
            </a:pPr>
            <a:r>
              <a:t>08 • CLOSING</a:t>
            </a:r>
          </a:p>
        </p:txBody>
      </p:sp>
      <p:sp>
        <p:nvSpPr>
          <p:cNvPr id="5" name="TextBox 4"/>
          <p:cNvSpPr txBox="1"/>
          <p:nvPr/>
        </p:nvSpPr>
        <p:spPr>
          <a:xfrm>
            <a:off x="11201400" y="384048"/>
            <a:ext cx="411480" cy="274320"/>
          </a:xfrm>
          <a:prstGeom prst="rect">
            <a:avLst/>
          </a:prstGeom>
          <a:noFill/>
        </p:spPr>
        <p:txBody>
          <a:bodyPr wrap="none">
            <a:spAutoFit/>
          </a:bodyPr>
          <a:lstStyle/>
          <a:p>
            <a:pPr algn="r">
              <a:defRPr sz="900" b="1">
                <a:solidFill>
                  <a:srgbClr val="5C6A78"/>
                </a:solidFill>
                <a:latin typeface="Aptos"/>
              </a:defRPr>
            </a:pPr>
            <a:r>
              <a:t>27</a:t>
            </a:r>
          </a:p>
        </p:txBody>
      </p:sp>
      <p:sp>
        <p:nvSpPr>
          <p:cNvPr id="6" name="Rectangle 5"/>
          <p:cNvSpPr/>
          <p:nvPr/>
        </p:nvSpPr>
        <p:spPr>
          <a:xfrm>
            <a:off x="594360" y="932688"/>
            <a:ext cx="914400" cy="41148"/>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143000"/>
            <a:ext cx="10698480" cy="10789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143000"/>
            <a:ext cx="64008" cy="1078992"/>
          </a:xfrm>
          <a:prstGeom prst="rect">
            <a:avLst/>
          </a:prstGeom>
          <a:solidFill>
            <a:srgbClr val="1A7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307592"/>
            <a:ext cx="10287000" cy="347472"/>
          </a:xfrm>
          <a:prstGeom prst="rect">
            <a:avLst/>
          </a:prstGeom>
          <a:noFill/>
        </p:spPr>
        <p:txBody>
          <a:bodyPr wrap="square" lIns="18288" rIns="18288" tIns="18288" bIns="18288" anchor="t">
            <a:spAutoFit/>
          </a:bodyPr>
          <a:lstStyle/>
          <a:p>
            <a:pPr algn="l">
              <a:spcAft>
                <a:spcPts val="500"/>
              </a:spcAft>
              <a:defRPr sz="1050" b="1">
                <a:solidFill>
                  <a:srgbClr val="0C192D"/>
                </a:solidFill>
                <a:latin typeface="Aptos"/>
              </a:defRPr>
            </a:pPr>
            <a:r>
              <a:t>[1]</a:t>
            </a:r>
          </a:p>
        </p:txBody>
      </p:sp>
      <p:sp>
        <p:nvSpPr>
          <p:cNvPr id="10" name="TextBox 9"/>
          <p:cNvSpPr txBox="1"/>
          <p:nvPr/>
        </p:nvSpPr>
        <p:spPr>
          <a:xfrm>
            <a:off x="960120" y="1709928"/>
            <a:ext cx="10287000" cy="365759"/>
          </a:xfrm>
          <a:prstGeom prst="rect">
            <a:avLst/>
          </a:prstGeom>
          <a:noFill/>
        </p:spPr>
        <p:txBody>
          <a:bodyPr wrap="square" lIns="18288" rIns="18288" tIns="18288" bIns="18288" anchor="t">
            <a:spAutoFit/>
          </a:bodyPr>
          <a:lstStyle/>
          <a:p>
            <a:pPr algn="l">
              <a:spcAft>
                <a:spcPts val="500"/>
              </a:spcAft>
              <a:defRPr sz="900" b="0">
                <a:solidFill>
                  <a:srgbClr val="212B36"/>
                </a:solidFill>
                <a:latin typeface="Aptos"/>
              </a:defRPr>
            </a:pPr>
            <a:r>
              <a:t>Jailani, Nik Intan Syahiddatul Ilani, Al-Fahim Mubarak Ali, and Syahrulanuar Ngah. “Final Year Project Allocation System Techniques: A Systematic Literature Review.” In 2022 IEEE 12th Symposium on Computer Applications &amp; Industrial Electronics (ISCAIE), pp. 99-104. IEEE, 2022.</a:t>
            </a:r>
          </a:p>
        </p:txBody>
      </p:sp>
      <p:sp>
        <p:nvSpPr>
          <p:cNvPr id="11" name="Rounded Rectangle 10"/>
          <p:cNvSpPr/>
          <p:nvPr/>
        </p:nvSpPr>
        <p:spPr>
          <a:xfrm>
            <a:off x="731520" y="2350008"/>
            <a:ext cx="10698480" cy="10789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2350008"/>
            <a:ext cx="64008" cy="1078992"/>
          </a:xfrm>
          <a:prstGeom prst="rect">
            <a:avLst/>
          </a:prstGeom>
          <a:solidFill>
            <a:srgbClr val="21B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514600"/>
            <a:ext cx="10287000" cy="347472"/>
          </a:xfrm>
          <a:prstGeom prst="rect">
            <a:avLst/>
          </a:prstGeom>
          <a:noFill/>
        </p:spPr>
        <p:txBody>
          <a:bodyPr wrap="square" lIns="18288" rIns="18288" tIns="18288" bIns="18288" anchor="t">
            <a:spAutoFit/>
          </a:bodyPr>
          <a:lstStyle/>
          <a:p>
            <a:pPr algn="l">
              <a:spcAft>
                <a:spcPts val="500"/>
              </a:spcAft>
              <a:defRPr sz="1050" b="1">
                <a:solidFill>
                  <a:srgbClr val="0C192D"/>
                </a:solidFill>
                <a:latin typeface="Aptos"/>
              </a:defRPr>
            </a:pPr>
            <a:r>
              <a:t>[2]</a:t>
            </a:r>
          </a:p>
        </p:txBody>
      </p:sp>
      <p:sp>
        <p:nvSpPr>
          <p:cNvPr id="14" name="TextBox 13"/>
          <p:cNvSpPr txBox="1"/>
          <p:nvPr/>
        </p:nvSpPr>
        <p:spPr>
          <a:xfrm>
            <a:off x="960120" y="2916936"/>
            <a:ext cx="10287000" cy="365759"/>
          </a:xfrm>
          <a:prstGeom prst="rect">
            <a:avLst/>
          </a:prstGeom>
          <a:noFill/>
        </p:spPr>
        <p:txBody>
          <a:bodyPr wrap="square" lIns="18288" rIns="18288" tIns="18288" bIns="18288" anchor="t">
            <a:spAutoFit/>
          </a:bodyPr>
          <a:lstStyle/>
          <a:p>
            <a:pPr algn="l">
              <a:spcAft>
                <a:spcPts val="500"/>
              </a:spcAft>
              <a:defRPr sz="900" b="0">
                <a:solidFill>
                  <a:srgbClr val="212B36"/>
                </a:solidFill>
                <a:latin typeface="Aptos"/>
              </a:defRPr>
            </a:pPr>
            <a:r>
              <a:t>Teo, Y., and Duan Juat Ho. “A systematic approach to the implementation of final year project in an electrical engineering undergraduate course.” IEEE transactions on education 41, no. 1 (1998): 25-30.</a:t>
            </a:r>
          </a:p>
        </p:txBody>
      </p:sp>
      <p:sp>
        <p:nvSpPr>
          <p:cNvPr id="15" name="Rounded Rectangle 14"/>
          <p:cNvSpPr/>
          <p:nvPr/>
        </p:nvSpPr>
        <p:spPr>
          <a:xfrm>
            <a:off x="731520" y="3557016"/>
            <a:ext cx="10698480" cy="10789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3557016"/>
            <a:ext cx="64008" cy="1078992"/>
          </a:xfrm>
          <a:prstGeom prst="rect">
            <a:avLst/>
          </a:prstGeom>
          <a:solidFill>
            <a:srgbClr val="189B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3721608"/>
            <a:ext cx="10287000" cy="347472"/>
          </a:xfrm>
          <a:prstGeom prst="rect">
            <a:avLst/>
          </a:prstGeom>
          <a:noFill/>
        </p:spPr>
        <p:txBody>
          <a:bodyPr wrap="square" lIns="18288" rIns="18288" tIns="18288" bIns="18288" anchor="t">
            <a:spAutoFit/>
          </a:bodyPr>
          <a:lstStyle/>
          <a:p>
            <a:pPr algn="l">
              <a:spcAft>
                <a:spcPts val="500"/>
              </a:spcAft>
              <a:defRPr sz="1050" b="1">
                <a:solidFill>
                  <a:srgbClr val="0C192D"/>
                </a:solidFill>
                <a:latin typeface="Aptos"/>
              </a:defRPr>
            </a:pPr>
            <a:r>
              <a:t>[3]</a:t>
            </a:r>
          </a:p>
        </p:txBody>
      </p:sp>
      <p:sp>
        <p:nvSpPr>
          <p:cNvPr id="18" name="TextBox 17"/>
          <p:cNvSpPr txBox="1"/>
          <p:nvPr/>
        </p:nvSpPr>
        <p:spPr>
          <a:xfrm>
            <a:off x="960120" y="4123944"/>
            <a:ext cx="10287000" cy="365759"/>
          </a:xfrm>
          <a:prstGeom prst="rect">
            <a:avLst/>
          </a:prstGeom>
          <a:noFill/>
        </p:spPr>
        <p:txBody>
          <a:bodyPr wrap="square" lIns="18288" rIns="18288" tIns="18288" bIns="18288" anchor="t">
            <a:spAutoFit/>
          </a:bodyPr>
          <a:lstStyle/>
          <a:p>
            <a:pPr algn="l">
              <a:spcAft>
                <a:spcPts val="500"/>
              </a:spcAft>
              <a:defRPr sz="900" b="0">
                <a:solidFill>
                  <a:srgbClr val="212B36"/>
                </a:solidFill>
                <a:latin typeface="Aptos"/>
              </a:defRPr>
            </a:pPr>
            <a:r>
              <a:t>Berndtsson, Mikael, Jorgen Hansson, Björn Olsson, and Björn Lundell. Planning and Implementing your Final Year Project—with Success!: A Guide for Students in Computer Science and Information Systems. Springer Science &amp; Business Media, 2002.</a:t>
            </a:r>
          </a:p>
        </p:txBody>
      </p:sp>
      <p:sp>
        <p:nvSpPr>
          <p:cNvPr id="19" name="Rounded Rectangle 18"/>
          <p:cNvSpPr/>
          <p:nvPr/>
        </p:nvSpPr>
        <p:spPr>
          <a:xfrm>
            <a:off x="731520" y="4764024"/>
            <a:ext cx="10698480" cy="107899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764024"/>
            <a:ext cx="64008" cy="1078992"/>
          </a:xfrm>
          <a:prstGeom prst="rect">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4928616"/>
            <a:ext cx="10287000" cy="347472"/>
          </a:xfrm>
          <a:prstGeom prst="rect">
            <a:avLst/>
          </a:prstGeom>
          <a:noFill/>
        </p:spPr>
        <p:txBody>
          <a:bodyPr wrap="square" lIns="18288" rIns="18288" tIns="18288" bIns="18288" anchor="t">
            <a:spAutoFit/>
          </a:bodyPr>
          <a:lstStyle/>
          <a:p>
            <a:pPr algn="l">
              <a:spcAft>
                <a:spcPts val="500"/>
              </a:spcAft>
              <a:defRPr sz="1050" b="1">
                <a:solidFill>
                  <a:srgbClr val="0C192D"/>
                </a:solidFill>
                <a:latin typeface="Aptos"/>
              </a:defRPr>
            </a:pPr>
            <a:r>
              <a:t>[4]</a:t>
            </a:r>
          </a:p>
        </p:txBody>
      </p:sp>
      <p:sp>
        <p:nvSpPr>
          <p:cNvPr id="22" name="TextBox 21"/>
          <p:cNvSpPr txBox="1"/>
          <p:nvPr/>
        </p:nvSpPr>
        <p:spPr>
          <a:xfrm>
            <a:off x="960120" y="5330952"/>
            <a:ext cx="10287000" cy="365759"/>
          </a:xfrm>
          <a:prstGeom prst="rect">
            <a:avLst/>
          </a:prstGeom>
          <a:noFill/>
        </p:spPr>
        <p:txBody>
          <a:bodyPr wrap="square" lIns="18288" rIns="18288" tIns="18288" bIns="18288" anchor="t">
            <a:spAutoFit/>
          </a:bodyPr>
          <a:lstStyle/>
          <a:p>
            <a:pPr algn="l">
              <a:spcAft>
                <a:spcPts val="500"/>
              </a:spcAft>
              <a:defRPr sz="900" b="0">
                <a:solidFill>
                  <a:srgbClr val="212B36"/>
                </a:solidFill>
                <a:latin typeface="Aptos"/>
              </a:defRPr>
            </a:pPr>
            <a:r>
              <a:t>Uziak, Jacek. “Position of the final year project in an engineering curriculum.” Global Journal of Engineering Education 17, no. 3 (2015): 113-118.</a:t>
            </a:r>
          </a:p>
        </p:txBody>
      </p:sp>
      <p:sp>
        <p:nvSpPr>
          <p:cNvPr id="23" name="TextBox 22"/>
          <p:cNvSpPr txBox="1"/>
          <p:nvPr/>
        </p:nvSpPr>
        <p:spPr>
          <a:xfrm>
            <a:off x="594360" y="6565392"/>
            <a:ext cx="8686800" cy="164592"/>
          </a:xfrm>
          <a:prstGeom prst="rect">
            <a:avLst/>
          </a:prstGeom>
          <a:noFill/>
        </p:spPr>
        <p:txBody>
          <a:bodyPr wrap="square" lIns="18288" rIns="18288" tIns="18288" bIns="18288" anchor="t">
            <a:spAutoFit/>
          </a:bodyPr>
          <a:lstStyle/>
          <a:p>
            <a:pPr algn="l">
              <a:spcAft>
                <a:spcPts val="500"/>
              </a:spcAft>
              <a:defRPr sz="750" b="0">
                <a:solidFill>
                  <a:srgbClr val="5C6A78"/>
                </a:solidFill>
                <a:latin typeface="Aptos"/>
              </a:defRPr>
            </a:pPr>
            <a:r>
              <a:t>COMSATS University Islamabad • Department of Computer Engineering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0C19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2926080" cy="274320"/>
          </a:xfrm>
          <a:prstGeom prst="rect">
            <a:avLst/>
          </a:prstGeom>
          <a:noFill/>
        </p:spPr>
        <p:txBody>
          <a:bodyPr wrap="square" lIns="18288" rIns="18288" tIns="18288" bIns="18288" anchor="t">
            <a:spAutoFit/>
          </a:bodyPr>
          <a:lstStyle/>
          <a:p>
            <a:pPr algn="l">
              <a:spcAft>
                <a:spcPts val="500"/>
              </a:spcAft>
              <a:defRPr sz="1000" b="1">
                <a:solidFill>
                  <a:srgbClr val="21B8C9"/>
                </a:solidFill>
                <a:latin typeface="Aptos"/>
              </a:defRPr>
            </a:pPr>
            <a:r>
              <a:t>TAKE THE NEXT STEP</a:t>
            </a:r>
          </a:p>
        </p:txBody>
      </p:sp>
      <p:sp>
        <p:nvSpPr>
          <p:cNvPr id="4" name="TextBox 3"/>
          <p:cNvSpPr txBox="1"/>
          <p:nvPr/>
        </p:nvSpPr>
        <p:spPr>
          <a:xfrm>
            <a:off x="731520" y="1417320"/>
            <a:ext cx="6217920" cy="1417320"/>
          </a:xfrm>
          <a:prstGeom prst="rect">
            <a:avLst/>
          </a:prstGeom>
          <a:noFill/>
        </p:spPr>
        <p:txBody>
          <a:bodyPr wrap="square" lIns="18288" rIns="18288" tIns="18288" bIns="18288" anchor="t">
            <a:spAutoFit/>
          </a:bodyPr>
          <a:lstStyle/>
          <a:p>
            <a:pPr algn="l">
              <a:spcAft>
                <a:spcPts val="500"/>
              </a:spcAft>
              <a:defRPr sz="3600" b="1">
                <a:solidFill>
                  <a:srgbClr val="FFFFFF"/>
                </a:solidFill>
                <a:latin typeface="Aptos Display"/>
              </a:defRPr>
            </a:pPr>
            <a:r>
              <a:t>Build the FYP</a:t>
            </a:r>
          </a:p>
          <a:p>
            <a:pPr algn="l">
              <a:spcAft>
                <a:spcPts val="500"/>
              </a:spcAft>
              <a:defRPr sz="3600" b="1">
                <a:solidFill>
                  <a:srgbClr val="FFFFFF"/>
                </a:solidFill>
                <a:latin typeface="Aptos Display"/>
              </a:defRPr>
            </a:pPr>
            <a:r>
              <a:t>with purpose.</a:t>
            </a:r>
          </a:p>
        </p:txBody>
      </p:sp>
      <p:sp>
        <p:nvSpPr>
          <p:cNvPr id="5" name="TextBox 4"/>
          <p:cNvSpPr txBox="1"/>
          <p:nvPr/>
        </p:nvSpPr>
        <p:spPr>
          <a:xfrm>
            <a:off x="749808" y="3246120"/>
            <a:ext cx="6583680" cy="868680"/>
          </a:xfrm>
          <a:prstGeom prst="rect">
            <a:avLst/>
          </a:prstGeom>
          <a:noFill/>
        </p:spPr>
        <p:txBody>
          <a:bodyPr wrap="square" lIns="18288" rIns="18288" tIns="18288" bIns="18288" anchor="t">
            <a:spAutoFit/>
          </a:bodyPr>
          <a:lstStyle/>
          <a:p>
            <a:pPr algn="l">
              <a:spcAft>
                <a:spcPts val="500"/>
              </a:spcAft>
              <a:defRPr sz="1500" b="0">
                <a:solidFill>
                  <a:srgbClr val="CDDCEB"/>
                </a:solidFill>
                <a:latin typeface="Aptos"/>
              </a:defRPr>
            </a:pPr>
            <a:r>
              <a:t>Join Research and Career Relevant Social Media Forums i.e.,</a:t>
            </a:r>
          </a:p>
          <a:p>
            <a:pPr algn="l">
              <a:spcAft>
                <a:spcPts val="500"/>
              </a:spcAft>
              <a:defRPr sz="1500" b="0">
                <a:solidFill>
                  <a:srgbClr val="CDDCEB"/>
                </a:solidFill>
                <a:latin typeface="Aptos"/>
              </a:defRPr>
            </a:pPr>
            <a:r>
              <a:t>Google Scholar, LinkedIn, Research Gate, GitHub etc.,</a:t>
            </a:r>
          </a:p>
        </p:txBody>
      </p:sp>
      <p:sp>
        <p:nvSpPr>
          <p:cNvPr id="6" name="Rounded Rectangle 5"/>
          <p:cNvSpPr/>
          <p:nvPr/>
        </p:nvSpPr>
        <p:spPr>
          <a:xfrm>
            <a:off x="749808" y="4572000"/>
            <a:ext cx="4114800" cy="310896"/>
          </a:xfrm>
          <a:prstGeom prst="roundRect">
            <a:avLst/>
          </a:prstGeom>
          <a:solidFill>
            <a:srgbClr val="1C3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4608576"/>
            <a:ext cx="4023360" cy="210312"/>
          </a:xfrm>
          <a:prstGeom prst="rect">
            <a:avLst/>
          </a:prstGeom>
          <a:noFill/>
        </p:spPr>
        <p:txBody>
          <a:bodyPr wrap="square" lIns="18288" rIns="18288" tIns="18288" bIns="18288" anchor="ctr">
            <a:spAutoFit/>
          </a:bodyPr>
          <a:lstStyle/>
          <a:p>
            <a:pPr algn="ctr">
              <a:spcAft>
                <a:spcPts val="500"/>
              </a:spcAft>
              <a:defRPr sz="850" b="1">
                <a:solidFill>
                  <a:srgbClr val="21B8C9"/>
                </a:solidFill>
                <a:latin typeface="Aptos"/>
              </a:defRPr>
            </a:pPr>
            <a:r>
              <a:t>PROPOSAL  →  DEVELOPMENT  →  EXECUTION</a:t>
            </a:r>
          </a:p>
        </p:txBody>
      </p:sp>
      <p:sp>
        <p:nvSpPr>
          <p:cNvPr id="8" name="TextBox 7"/>
          <p:cNvSpPr txBox="1"/>
          <p:nvPr/>
        </p:nvSpPr>
        <p:spPr>
          <a:xfrm>
            <a:off x="7726679" y="2011680"/>
            <a:ext cx="3200400" cy="502920"/>
          </a:xfrm>
          <a:prstGeom prst="rect">
            <a:avLst/>
          </a:prstGeom>
          <a:noFill/>
        </p:spPr>
        <p:txBody>
          <a:bodyPr wrap="square" lIns="18288" rIns="18288" tIns="18288" bIns="18288" anchor="t">
            <a:spAutoFit/>
          </a:bodyPr>
          <a:lstStyle/>
          <a:p>
            <a:pPr algn="ctr">
              <a:spcAft>
                <a:spcPts val="500"/>
              </a:spcAft>
              <a:defRPr sz="2500" b="1">
                <a:solidFill>
                  <a:srgbClr val="FFFFFF"/>
                </a:solidFill>
                <a:latin typeface="Aptos"/>
              </a:defRPr>
            </a:pPr>
            <a:r>
              <a:t>Any Question?</a:t>
            </a:r>
          </a:p>
        </p:txBody>
      </p:sp>
      <p:sp>
        <p:nvSpPr>
          <p:cNvPr id="9" name="Oval 8"/>
          <p:cNvSpPr/>
          <p:nvPr/>
        </p:nvSpPr>
        <p:spPr>
          <a:xfrm>
            <a:off x="8732520" y="2788920"/>
            <a:ext cx="1143000" cy="1143000"/>
          </a:xfrm>
          <a:prstGeom prst="ellipse">
            <a:avLst/>
          </a:prstGeom>
          <a:solidFill>
            <a:srgbClr val="F28F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2990088"/>
            <a:ext cx="1143000" cy="502920"/>
          </a:xfrm>
          <a:prstGeom prst="rect">
            <a:avLst/>
          </a:prstGeom>
          <a:noFill/>
        </p:spPr>
        <p:txBody>
          <a:bodyPr wrap="square" lIns="18288" rIns="18288" tIns="18288" bIns="18288" anchor="ctr">
            <a:spAutoFit/>
          </a:bodyPr>
          <a:lstStyle/>
          <a:p>
            <a:pPr algn="ctr">
              <a:spcAft>
                <a:spcPts val="500"/>
              </a:spcAft>
              <a:defRPr sz="3400" b="1">
                <a:solidFill>
                  <a:srgbClr val="FFFFFF"/>
                </a:solidFill>
                <a:latin typeface="Aptos"/>
              </a:defRPr>
            </a:pPr>
            <a:r>
              <a:t>?</a:t>
            </a:r>
          </a:p>
        </p:txBody>
      </p:sp>
      <p:sp>
        <p:nvSpPr>
          <p:cNvPr id="11" name="TextBox 10"/>
          <p:cNvSpPr txBox="1"/>
          <p:nvPr/>
        </p:nvSpPr>
        <p:spPr>
          <a:xfrm>
            <a:off x="7406640" y="4343400"/>
            <a:ext cx="3840480" cy="502920"/>
          </a:xfrm>
          <a:prstGeom prst="rect">
            <a:avLst/>
          </a:prstGeom>
          <a:noFill/>
        </p:spPr>
        <p:txBody>
          <a:bodyPr wrap="square" lIns="18288" rIns="18288" tIns="18288" bIns="18288" anchor="t">
            <a:spAutoFit/>
          </a:bodyPr>
          <a:lstStyle/>
          <a:p>
            <a:pPr algn="ctr">
              <a:spcAft>
                <a:spcPts val="500"/>
              </a:spcAft>
              <a:defRPr sz="2100" b="1">
                <a:solidFill>
                  <a:srgbClr val="CDDCEB"/>
                </a:solidFill>
                <a:latin typeface="Aptos"/>
              </a:defRPr>
            </a:pPr>
            <a:r>
              <a:t>Thank you</a:t>
            </a:r>
          </a:p>
        </p:txBody>
      </p:sp>
      <p:sp>
        <p:nvSpPr>
          <p:cNvPr id="12" name="TextBox 11"/>
          <p:cNvSpPr txBox="1"/>
          <p:nvPr/>
        </p:nvSpPr>
        <p:spPr>
          <a:xfrm>
            <a:off x="7315200" y="4983480"/>
            <a:ext cx="4023360" cy="320040"/>
          </a:xfrm>
          <a:prstGeom prst="rect">
            <a:avLst/>
          </a:prstGeom>
          <a:noFill/>
        </p:spPr>
        <p:txBody>
          <a:bodyPr wrap="square" lIns="18288" rIns="18288" tIns="18288" bIns="18288" anchor="t">
            <a:spAutoFit/>
          </a:bodyPr>
          <a:lstStyle/>
          <a:p>
            <a:pPr algn="ctr">
              <a:spcAft>
                <a:spcPts val="500"/>
              </a:spcAft>
              <a:defRPr sz="1200" b="1">
                <a:solidFill>
                  <a:srgbClr val="F28F2A"/>
                </a:solidFill>
                <a:latin typeface="Aptos"/>
              </a:defRPr>
            </a:pPr>
            <a:r>
              <a:t>Engr. Dr. Jehangir Arshad</a:t>
            </a:r>
          </a:p>
        </p:txBody>
      </p:sp>
      <p:sp>
        <p:nvSpPr>
          <p:cNvPr id="13" name="TextBox 12"/>
          <p:cNvSpPr txBox="1"/>
          <p:nvPr/>
        </p:nvSpPr>
        <p:spPr>
          <a:xfrm>
            <a:off x="7315200" y="5349240"/>
            <a:ext cx="4023360" cy="274320"/>
          </a:xfrm>
          <a:prstGeom prst="rect">
            <a:avLst/>
          </a:prstGeom>
          <a:noFill/>
        </p:spPr>
        <p:txBody>
          <a:bodyPr wrap="square" lIns="18288" rIns="18288" tIns="18288" bIns="18288" anchor="t">
            <a:spAutoFit/>
          </a:bodyPr>
          <a:lstStyle/>
          <a:p>
            <a:pPr algn="ctr">
              <a:spcAft>
                <a:spcPts val="500"/>
              </a:spcAft>
              <a:defRPr sz="900" b="0">
                <a:solidFill>
                  <a:srgbClr val="A0B4C8"/>
                </a:solidFill>
                <a:latin typeface="Aptos"/>
              </a:defRPr>
            </a:pPr>
            <a:r>
              <a:t>Department of Computer Engineering • CUI Lahore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FYP Road-Map: Proposal, Development &amp; Execution</dc:title>
  <dc:subject>Final Year Project Seminar</dc:subject>
  <dc:creator>Engr. Dr. Jehangir Arshad</dc:creator>
  <cp:keywords>FYP, Proposal, Development, Execution, Computer Engineering, CUI</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