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 IntelliSafe is an edge computer-vision system that checks PPE (helmet, hi-vis vest, safety boots) and detects smoke/fire, alerts immediately, and keeps a log for the supervisor. Supervisor: Dr. Ikram Ullah Khosa; no co-supervisor.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ILO estimates at least 108,000 construction workers die on site each year, about 30% of fatal occupational injuries [1]. PPE is a cheap defence but hard to verify manually on large sites; fire/smoke is a second hazard. Cloud analytics needs bandwidth, adds latency and privacy concerns, which motivates on-device (edge) processing [2].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functions: Detect (PPE and fire/smoke), Alert (on-site plus supervisor notification, only after temporal confirmation), Log (events with snapshots; end-of-day view in the app). Everything runs on the edge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across the table: PPE systems (Lema, Kim &amp; Xiong) run on Jetson boards; SH17 is a benchmark dataset; D-Fire covers fire/smoke and shows temporal context reduces false positives by 60% at a 2.86% recall cost [6]. Numbers come from different datasets and hardware, so treat as reference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gaps are based on the sources we reviewed; a wider search may find combined systems, so we position IntelliSafe as an integrated, evaluated edge system rather than claiming a first. SH17 class list: person, head, face, glasses, face-mask-medical, face-guard, ear, earmuffs, hands, gloves, foot, shoes, safety-vest, tools, helmet, medical-suit, safety-suit.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reflects the work at proposal time: scope and literature review done; dataset and PPE detection under way; the rest planned. Numeric targets are proposals to agree with the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 frames are processed entirely on the edge device: capture, YOLO detection, tracking with PPE-to-worker association, then a rule engine that requires a violation to persist across frames. Confirmed events drive an on-site alert and are written to the event store, which feeds the supervisor application. Hardware is a Jetson-class board as the primary candidate; final choice to be confirmed with the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PPE path: detections are associated with tracked workers; a missing item increments a violation counter and is confirmed only if it persists over N of M frames. Hazard path: fire/smoke needs confidence above a threshold sustained for T seconds and a hard-negative check (orange vests, welding arcs, steam, dust). N, M, T are tuned on validation video. Persistence logic is motivated by [2] and [6].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results of our own are claimed yet. SH17 is released under a non-commercial licence, which is fine for an FYP but must be considered before any commercial use; Ultralytics is AGPL-3.0. Data are split by scene to avoid leakage between train and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IEEE style. PPE = personal protective equipment. Full author lists and DOIs are in the written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SDG 8 (Target 8.8, safe working environments) is the strongest fit. SDG 4 and 12 are listed in the department template but are not addressed by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Cadence is a proposal to confirm with Dr. Khosa; add dates of meetings already held if the panel asks for a log. Dates come from the FYP Lab notice and the CUI academic calendar for Fall 2026 / Spring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follow the CUI calendar: classes begin 7 Sep 2026 and 8 Feb 2027; FYP submission 28 Dec 2026 and 28 May 2027. Meeting weekday is arbitrary until agreed with the supervisor. FYP-I goal: data, baselines, first live edge pipeline. FYP-II goal: optimise, add alerting and app, integrate and test against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Likely ones: why edge rather than cloud, how false alarms are controlled, how boots will be detected, dataset licensing, and hardware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83080" y="658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COMSATS University Islamabad, Lahore Campus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178308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011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PROPOSAL  ·  FALL 2026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331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6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IntelliSafe</a:t>
            </a:r>
            <a:endParaRPr lang="en-US" sz="6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918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Working Site Safety Monitoring Using Edge Computer Vision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5720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Ikram Ullah Khosa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Uzair (CIIT/FA23-BCE-098)  ·  Muhammad Ahmad (CIIT/FA23-BCE-113)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  ·  1.5KM Defence Road, Off Raiwind Road, Lahore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03920" y="1371600"/>
            <a:ext cx="1554480" cy="155448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174" y="1806854"/>
            <a:ext cx="683971" cy="68397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241280" y="1371600"/>
            <a:ext cx="1554480" cy="1554480"/>
          </a:xfrm>
          <a:prstGeom prst="ellipse">
            <a:avLst/>
          </a:prstGeom>
          <a:solidFill>
            <a:srgbClr val="3A4753"/>
          </a:solidFill>
          <a:ln w="12700">
            <a:solidFill>
              <a:srgbClr val="3A475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6534" y="1806854"/>
            <a:ext cx="683971" cy="68397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503920" y="3200400"/>
            <a:ext cx="1554480" cy="1554480"/>
          </a:xfrm>
          <a:prstGeom prst="ellipse">
            <a:avLst/>
          </a:prstGeom>
          <a:solidFill>
            <a:srgbClr val="3A4753"/>
          </a:solidFill>
          <a:ln w="12700">
            <a:solidFill>
              <a:srgbClr val="3A4753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174" y="3635654"/>
            <a:ext cx="683971" cy="683971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0241280" y="3200400"/>
            <a:ext cx="1554480" cy="155448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6534" y="3635654"/>
            <a:ext cx="683971" cy="683971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503920" y="5029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·  Alert  ·  Log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site safety needs automation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IntelliSafe  ·  FYP Proposal  ·  Dept. of Computer Engineering, CUI Lahore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74904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6916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6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108,000+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97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are killed on construction sites every year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862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6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≈30%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892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fatal occupational injuries occur in construction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8704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International Labour Organization, “Construction: a hazardous work” [1]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645920"/>
            <a:ext cx="777240" cy="77724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8347" y="1863547"/>
            <a:ext cx="341986" cy="34198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72084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monitoring does not scale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2011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cannot watch every worker on a large, changing site, and checks vary between shifts.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760720" y="3108960"/>
            <a:ext cx="777240" cy="77724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347" y="3326587"/>
            <a:ext cx="341986" cy="34198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720840" y="3017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and smoke are noticed late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6720840" y="3474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hazard seen late has already grown. Early, automatic warning gives people time to react.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5760720" y="4572000"/>
            <a:ext cx="777240" cy="77724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347" y="4789627"/>
            <a:ext cx="341986" cy="34198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720840" y="4480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video is a poor fit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6720840" y="4937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streaming needs bandwidth, adds latency and raises worker-privacy concerns [2].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IntelliSafe: detect, alert, log — on the edge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IntelliSafe  ·  FYP Proposal  ·  Dept. of Computer Engineering, CUI Lahore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1987906"/>
            <a:ext cx="321869" cy="32186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1783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432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per worker: helmet, high-visibility vest, safety boots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and fire in the same camera feed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on an edge device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43400" y="155448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1783080"/>
            <a:ext cx="731520" cy="73152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546" y="1987906"/>
            <a:ext cx="321869" cy="32186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783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27432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on-site buzzer / LED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notified once a violation is confirmed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confirmation limits false alarms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38160" y="155448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1783080"/>
            <a:ext cx="731520" cy="73152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06" y="1987906"/>
            <a:ext cx="321869" cy="32186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326880" y="1783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27432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stored: time, camera, type, snapshot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logs in the supervisor app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exportable reports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53035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5321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08760" y="53035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runs on-site: the system works without a continuous cloud link, and raw video stays local.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existing work has achieved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IntelliSafe  ·  FYP Proposal  ·  Dept. of Computer Engineering, CUI Lahore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468880"/>
                <a:gridCol w="2377440"/>
                <a:gridCol w="20391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and 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for our aims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Lema et al., 2023 [2]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PPE alarms (helmet, vest) in a real facility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YOLOv5 + StrongSORT tracking; Jetson Nano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FPS, AP 0.62 (YOLOv5S at 384 px)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PPE only; needed site images to generalise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 &amp; Xiong, 2025 [3]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Fall-protection PPE (helmet, harness, lanyard)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YOLOv8 (attention, Ghost conv); Jetson Xavier NX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 92.52% at 9.11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frame rate; no fire/smoke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Ahmad &amp; Rahimi, 2024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SH17 PPE dataset: 8,099 images, 17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 / v9 / v10 benchmarks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mAP@0.5 70.9% (YOLOv9-e); YOLOv8n 58.0%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only; generic footwear; non-commercial licence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Venâncio et al., 2022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and smoke (D-Fire, 21,000+ images)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Pruned CNN + temporal context; low-power devices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 75.91%; false positives cut by 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only; no PPE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IntelliSafe (proposed)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PPE + fire/smoke in one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YOLO11 / YOLO26 + tracking + temporal voting; Jetson-class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Targets: ≥85% mAP@0.5 (helmet, vest), ≥15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boots, on-site alert and supervisor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as reported by each source under its own dataset and hardware, so they are reference points, not a like-for-like ranking.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we adopt and gaps we address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IntelliSafe  ·  FYP Proposal  ·  Dept. of Computer Engineering, CUI Lahore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we adopt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103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over time, not per frame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49631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and temporal analysis cut false alarms [2], [6].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57600"/>
            <a:ext cx="548640" cy="54864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4747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site-like images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86791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dropped on a new facility until site images were added [2].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029200"/>
            <a:ext cx="548640" cy="54864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8463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accuracy and speed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523951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boards trade mAP for FPS: 25 FPS at AP 0.62 [2] versus 92.5% mAP at 9 FPS [3].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we address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09360" y="1965960"/>
            <a:ext cx="5330952" cy="1188720"/>
          </a:xfrm>
          <a:prstGeom prst="roundRect">
            <a:avLst>
              <a:gd name="adj" fmla="val 6154"/>
            </a:avLst>
          </a:prstGeom>
          <a:solidFill>
            <a:srgbClr val="FDE9DC"/>
          </a:solidFill>
          <a:ln w="6350">
            <a:solidFill>
              <a:srgbClr val="FDE9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2221992"/>
            <a:ext cx="658368" cy="65836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2303" y="2406335"/>
            <a:ext cx="289682" cy="28968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406640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and fire/smoke are treated separately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406640" y="24963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edge pipeline covers both hazards.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309360" y="3337560"/>
            <a:ext cx="5330952" cy="1188720"/>
          </a:xfrm>
          <a:prstGeom prst="roundRect">
            <a:avLst>
              <a:gd name="adj" fmla="val 6154"/>
            </a:avLst>
          </a:prstGeom>
          <a:solidFill>
            <a:srgbClr val="FDE9DC"/>
          </a:solidFill>
          <a:ln w="6350">
            <a:solidFill>
              <a:srgbClr val="FDE9D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37960" y="3593592"/>
            <a:ext cx="658368" cy="65836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303" y="3777935"/>
            <a:ext cx="289682" cy="28968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406640" y="34472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safety-boot class in public data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7406640" y="38679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SH17 labels only “foot” and “shoes”; we add custom annotation or a foot-crop classifier.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309360" y="4709160"/>
            <a:ext cx="5330952" cy="1188720"/>
          </a:xfrm>
          <a:prstGeom prst="roundRect">
            <a:avLst>
              <a:gd name="adj" fmla="val 6154"/>
            </a:avLst>
          </a:prstGeom>
          <a:solidFill>
            <a:srgbClr val="FDE9DC"/>
          </a:solidFill>
          <a:ln w="6350">
            <a:solidFill>
              <a:srgbClr val="FDE9D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537960" y="4965192"/>
            <a:ext cx="658368" cy="65836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303" y="5149535"/>
            <a:ext cx="289682" cy="289682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7406640" y="48188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stop before alerting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7406640" y="52395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 on-site alerts, an event log and a supervisor app.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objectives, each with a success measure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IntelliSafe  ·  FYP Proposal  ·  Dept. of Computer Engineering, CUI Lahore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754880"/>
                <a:gridCol w="2834640"/>
                <a:gridCol w="1490472"/>
                <a:gridCol w="1463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measure (proposed)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Scope, requirements and literature review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572"/>
                          </a:solidFill>
                        </a:rPr>
                        <a:t>Proposal approved by supervisor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</a:rPr>
                        <a:t>● Completed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FYP-I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Annotated dataset: PPE and fire/smoke, public plus site-like images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572"/>
                          </a:solidFill>
                        </a:rPr>
                        <a:t>Six classes, scene-wise split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6A21"/>
                          </a:solidFill>
                        </a:rPr>
                        <a:t>● In progress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FYP-I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Detect PPE non-compliance: helmet, vest, safety boots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572"/>
                          </a:solidFill>
                        </a:rPr>
                        <a:t>≥85% mAP@0.5 (helmet, vest)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6A21"/>
                          </a:solidFill>
                        </a:rPr>
                        <a:t>● In progress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FYP-I / II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Detect smoke and fire early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572"/>
                          </a:solidFill>
                        </a:rPr>
                        <a:t>Low false alarms on hard negatives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572"/>
                          </a:solidFill>
                        </a:rPr>
                        <a:t>● Planned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FYP-I / II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Run fully on an edge device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572"/>
                          </a:solidFill>
                        </a:rPr>
                        <a:t>≥15 FPS per stream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572"/>
                          </a:solidFill>
                        </a:rPr>
                        <a:t>● Planned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FYP-II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Alert, log and supervisor application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572"/>
                          </a:solidFill>
                        </a:rPr>
                        <a:t>Alert &lt; 2 s; daily log and reports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572"/>
                          </a:solidFill>
                        </a:rPr>
                        <a:t>● Planned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FYP-II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proposed and will be refined after baseline benchmarking.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video in, decisions on-device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IntelliSafe  ·  FYP Proposal  ·  Dept. of Computer Engineering, CUI Lahore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5603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feed(s)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/ CCTV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USB / CSI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1691640"/>
            <a:ext cx="6803136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8575">
            <a:solidFill>
              <a:srgbClr val="F26A2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1801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  ·  on-site, offline-capable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251460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14600" y="251460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Capture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86200" y="3200400"/>
            <a:ext cx="256032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42232" y="251460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87952" y="251460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YOLO detector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person, helmet, vest, boots, fire, smoke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59552" y="3200400"/>
            <a:ext cx="256032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15584" y="251460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61304" y="251460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Track workers,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32904" y="3200400"/>
            <a:ext cx="256032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88936" y="251460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34656" y="251460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Rule engine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voting, cool-down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920240" y="3200400"/>
            <a:ext cx="54864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1691640"/>
            <a:ext cx="2039112" cy="914400"/>
          </a:xfrm>
          <a:prstGeom prst="roundRect">
            <a:avLst>
              <a:gd name="adj" fmla="val 8000"/>
            </a:avLst>
          </a:prstGeom>
          <a:solidFill>
            <a:srgbClr val="FDE9DC"/>
          </a:solidFill>
          <a:ln w="15875">
            <a:solidFill>
              <a:srgbClr val="F26A2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46920" y="1691640"/>
            <a:ext cx="1947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alert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/ LED / siren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0" y="2743200"/>
            <a:ext cx="2039112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46920" y="2743200"/>
            <a:ext cx="1947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camera, type, snapshot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01200" y="3794760"/>
            <a:ext cx="2039112" cy="91440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46920" y="3794760"/>
            <a:ext cx="1947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application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daily logs, reports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89136" y="3200400"/>
            <a:ext cx="237744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0" y="2148840"/>
            <a:ext cx="0" cy="105156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0" y="2148840"/>
            <a:ext cx="274320" cy="0"/>
          </a:xfrm>
          <a:prstGeom prst="line">
            <a:avLst/>
          </a:prstGeom>
          <a:noFill/>
          <a:ln w="19050">
            <a:solidFill>
              <a:srgbClr val="F26A2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26880" y="3200400"/>
            <a:ext cx="27432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620756" y="3657600"/>
            <a:ext cx="0" cy="13716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48640" y="502920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5257800"/>
            <a:ext cx="658368" cy="65836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863" y="5442143"/>
            <a:ext cx="289682" cy="289682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554480" y="5120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554480" y="5486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stays on-site; low latency.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343400" y="502920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26280" y="5257800"/>
            <a:ext cx="658368" cy="65836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623" y="5442143"/>
            <a:ext cx="289682" cy="289682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5349240" y="5120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hazard families</a:t>
            </a:r>
            <a:endParaRPr lang="en-US" sz="1500" dirty="0"/>
          </a:p>
        </p:txBody>
      </p:sp>
      <p:sp>
        <p:nvSpPr>
          <p:cNvPr id="42" name="Text 38"/>
          <p:cNvSpPr txBox="1"/>
          <p:nvPr/>
        </p:nvSpPr>
        <p:spPr>
          <a:xfrm>
            <a:off x="5349240" y="5486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and fire/smoke, one pipeline.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8138160" y="502920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321040" y="5257800"/>
            <a:ext cx="658368" cy="65836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383" y="5442143"/>
            <a:ext cx="289682" cy="289682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9144000" y="5120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Confirm, then alert</a:t>
            </a:r>
            <a:endParaRPr lang="en-US" sz="1500" dirty="0"/>
          </a:p>
        </p:txBody>
      </p:sp>
      <p:sp>
        <p:nvSpPr>
          <p:cNvPr id="47" name="Text 42"/>
          <p:cNvSpPr txBox="1"/>
          <p:nvPr/>
        </p:nvSpPr>
        <p:spPr>
          <a:xfrm>
            <a:off x="9144000" y="5486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over frames limits false alarms.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frame to alert: decision logic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IntelliSafe  ·  FYP Proposal  ·  Dept. of Computer Engineering, CUI Lahore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PATH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PATH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659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person and PPE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19659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19659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workers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783080"/>
            <a:ext cx="1828800" cy="1280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17830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missing?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9659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9659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violation count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2011680" cy="1280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178308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N of M frames?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2423160"/>
            <a:ext cx="41148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49040" y="2423160"/>
            <a:ext cx="45720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35040" y="2423160"/>
            <a:ext cx="36576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0" y="2423160"/>
            <a:ext cx="45720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035040" y="2148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3063240"/>
            <a:ext cx="0" cy="32004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397764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compliant, reset count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keep counting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43434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fire, smoke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14600" y="43434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60320" y="43434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above threshold?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80560" y="43434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26280" y="4343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for T seconds?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12280" y="43434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43434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Hard-negative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vest, welding, steam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11680" y="4800600"/>
            <a:ext cx="50292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977640" y="4800600"/>
            <a:ext cx="50292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309360" y="4800600"/>
            <a:ext cx="50292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652760" y="306324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 w="15875">
            <a:solidFill>
              <a:srgbClr val="1F29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98480" y="3063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241280" y="2423160"/>
            <a:ext cx="86868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09960" y="2423160"/>
            <a:ext cx="0" cy="64008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275320" y="4800600"/>
            <a:ext cx="283464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1109960" y="3977640"/>
            <a:ext cx="0" cy="82296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event → on-site alert + supervisor notification (cool-down) + log with snapshot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models and how we will evaluate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IntelliSafe  ·  FYP Proposal  ·  Dept. of Computer Engineering, CUI Lahore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261518" cy="2615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645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231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SH17: 8,099 images, 17 classes [4]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CHV: person, helmet, vest [5]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D-Fire: 21,000+ fire/smoke images [6]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site-like images, incl. hard negatives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scene, not by frame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3400" y="146304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1645920"/>
            <a:ext cx="594360" cy="59436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18123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9240" y="1645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4231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 and YOLO26, nano/small [9]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from COCO weights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Boots: direct detection vs foot-crop classifier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TensorRT / ONNX Runtime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Jetson-class vs CPU-only baseline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38160" y="146304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1645920"/>
            <a:ext cx="594360" cy="59436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181" y="181234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44000" y="1645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24231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precision, recall, mAP@0.5 and 0.5:0.95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FPS and end-to-end latency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per hour; missed violations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delivery time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with vs without temporal voting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FDE9DC"/>
          </a:solidFill>
          <a:ln w="6350">
            <a:solidFill>
              <a:srgbClr val="FDE9D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51937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points from the literature (other datasets and hardware)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55595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SH17, YOLOv8n: 58.0% mAP@0.5 across 17 classes [4]   ·   Jetson Nano, YOLOv5S: 25 FPS [2]   ·   D-Fire: 75.91% mAP@0.5 [6]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822960" y="58704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benchmarking on our own data is the next milestone (Oct–Nov 2026).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IntelliSafe  ·  FYP Proposal  ·  Dept. of Computer Engineering, CUI Lahore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394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International Labour Organization, “Construction: a hazardous work.” ilo.org/resource/construction-hazardous-work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D. G. Lema, R. Usamentiaga, and D. F. García, “Low-cost system for real-time verification of PPE in industrial facilities using edge computing devices,” J. Real-Time Image Process., vol. 20, no. 6, Art. 111, 2023.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D. Kim and S. Xiong, “Enhancing worker safety: Real-time automated detection of PPE to prevent falls from heights at construction sites using improved YOLOv8 and edge devices,” J. Constr. Eng. Manage., vol. 151, no. 1, Art. 04024187, 2025.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H. M. Ahmad and A. Rahimi, “SH17: A dataset for human safety and PPE detection in manufacturing industry,” J. Saf. Sci. Resil., 2024.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Z. Wang et al., “Fast PPE detection for real construction sites using deep learning approaches,” Sensors, vol. 21, no. 10, Art. 3478, 2021.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463040"/>
            <a:ext cx="5376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P. V. A. B. de Venâncio, A. C. Lisboa, and A. V. Barbosa, “An automatic fire detection system based on deep CNNs for low-power, resource-constrained devices,” Neural Comput. Appl., vol. 34, no. 18, pp. 15349–15368, 2022.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United Nations General Assembly, “Transforming our world: The 2030 Agenda for Sustainable Development,” A/RES/70/1, 2015.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J. Redmon, S. Divvala, R. Girshick, and A. Farhadi, “You only look once: Unified, real-time object detection,” in Proc. IEEE CVPR, 2016, pp. 779–788.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Ultralytics, “Models supported by Ultralytics (YOLO11, YOLO26).” docs.ultralytics.com/models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MAPPING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Development Goals addressed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IntelliSafe  ·  FYP Proposal  ·  Dept. of Computer Engineering, CUI Lahore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097280"/>
                <a:gridCol w="2194560"/>
                <a:gridCol w="2926080"/>
                <a:gridCol w="14904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/ Not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Inclusion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Goal(s) of project in this SDG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goal(s) meet the SDG criteria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remarks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3: Good Health and Well-being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Objectives 2–3 (PPE, fire/smoke)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injuries and fire-related harm to workers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4: Quality Education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the project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8: Decent Work and Economic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Objectives 2–6 (whole system)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8.8: safe and secure working environments for all workers [7]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alignment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9: Industry, Innovation and 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Objectives 4–6 (edge AI, alerts, logs)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 edge AI modernises safety monitoring in industry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11: Sustainable Cities and Communities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3 (fire/smoke)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fire warning on construction sites supports safer urban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12: Responsible Consumption and 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the project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levels are proposed for the supervisor’s review. SDGs ticked at kick-off: 3, 8, 9, 11.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WITH SUPERVISOR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plan and key dates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IntelliSafe  ·  FYP Proposal  ·  Dept. of Computer Engineering, CUI Lahore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1870862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060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Ikram Ullah Khosa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Co-supervisor: none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Uzair, Muhammad Ahmad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43400" y="146304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1691640"/>
            <a:ext cx="640080" cy="64008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942" y="187086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9496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cadence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260604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meeting (day and time to be agreed)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meeting: progress against plan, blockers, next-week goals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minutes shared after every meeting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of the latest working build at milestones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38160" y="1463040"/>
            <a:ext cx="3502152" cy="4526280"/>
          </a:xfrm>
          <a:prstGeom prst="roundRect">
            <a:avLst>
              <a:gd name="adj" fmla="val 2089"/>
            </a:avLst>
          </a:prstGeom>
          <a:solidFill>
            <a:srgbClr val="FDE9DC"/>
          </a:solidFill>
          <a:ln w="6350">
            <a:solidFill>
              <a:srgbClr val="FDE9D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1691640"/>
            <a:ext cx="640080" cy="64008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2" y="187086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8972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dates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 2026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992124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due, 3:00 PM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after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992124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presentations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841248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Dec 2026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992124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 submission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8412480" y="4526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Feb 2027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9921240" y="4526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FYP-II classes begin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8412480" y="5166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May 2027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9921240" y="5166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FYP-II submission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Two-semester plan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IntelliSafe  ·  FYP Proposal  ·  Dept. of Computer Engineering, CUI Lahore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417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531619" y="1417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0" cy="406908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600200"/>
            <a:ext cx="7952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92911" y="1645920"/>
            <a:ext cx="0" cy="406908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92911" y="1600200"/>
            <a:ext cx="8217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14650" y="1645920"/>
            <a:ext cx="0" cy="406908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14650" y="1600200"/>
            <a:ext cx="7952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09880" y="1645920"/>
            <a:ext cx="0" cy="406908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09880" y="1600200"/>
            <a:ext cx="8217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31619" y="1645920"/>
            <a:ext cx="0" cy="406908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31619" y="1600200"/>
            <a:ext cx="8217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53358" y="1645920"/>
            <a:ext cx="0" cy="406908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53358" y="1600200"/>
            <a:ext cx="74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5573" y="1645920"/>
            <a:ext cx="0" cy="406908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95573" y="1600200"/>
            <a:ext cx="8217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17312" y="1645920"/>
            <a:ext cx="0" cy="406908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17312" y="1600200"/>
            <a:ext cx="7952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712543" y="1645920"/>
            <a:ext cx="0" cy="406908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712543" y="1600200"/>
            <a:ext cx="8217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534281" y="1645920"/>
            <a:ext cx="0" cy="406908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52096" y="1874520"/>
            <a:ext cx="1086816" cy="38404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1874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literature review, proposal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56726" y="1956816"/>
            <a:ext cx="715708" cy="219456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2258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and annotation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27834" y="2340864"/>
            <a:ext cx="1272369" cy="219456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26426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training and benchmarking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84496" y="2724912"/>
            <a:ext cx="1457923" cy="219456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30266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hardware and live inference pipeline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711" y="3108960"/>
            <a:ext cx="1086816" cy="219456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4107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 report, demo and submission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68927" y="3493008"/>
            <a:ext cx="556662" cy="219456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3794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Optimisation, tracking, temporal logic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38911" y="3877056"/>
            <a:ext cx="901262" cy="219456"/>
          </a:xfrm>
          <a:prstGeom prst="rect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41788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Alerting, logging, supervisor app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10019" y="4261104"/>
            <a:ext cx="1272369" cy="219456"/>
          </a:xfrm>
          <a:prstGeom prst="rect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45628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site-condition testing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52235" y="4645152"/>
            <a:ext cx="1086816" cy="219456"/>
          </a:xfrm>
          <a:prstGeom prst="rect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49469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evaluation, thesis, demo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394450" y="5029200"/>
            <a:ext cx="1033800" cy="219456"/>
          </a:xfrm>
          <a:prstGeom prst="rect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330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meetings (weekly, tentative)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96560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82114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67668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53222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38776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24329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09883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95437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991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66545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52099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637653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23207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08760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94314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78745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64299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49853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35407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420961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606515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92069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977622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163176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48730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534284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719838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05392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090946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276500" y="5477256"/>
            <a:ext cx="91440" cy="9144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452096" y="5330952"/>
            <a:ext cx="108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 / break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880849" y="1874520"/>
            <a:ext cx="0" cy="3840480"/>
          </a:xfrm>
          <a:prstGeom prst="line">
            <a:avLst/>
          </a:prstGeom>
          <a:noFill/>
          <a:ln w="15875">
            <a:solidFill>
              <a:srgbClr val="2E7D4F"/>
            </a:solidFill>
            <a:prstDash val="dash"/>
          </a:ln>
        </p:spPr>
      </p:sp>
      <p:sp>
        <p:nvSpPr>
          <p:cNvPr id="79" name="Text 77"/>
          <p:cNvSpPr txBox="1"/>
          <p:nvPr/>
        </p:nvSpPr>
        <p:spPr>
          <a:xfrm>
            <a:off x="4332209" y="57881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425588" y="1874520"/>
            <a:ext cx="0" cy="3840480"/>
          </a:xfrm>
          <a:prstGeom prst="line">
            <a:avLst/>
          </a:prstGeom>
          <a:noFill/>
          <a:ln w="15875">
            <a:solidFill>
              <a:srgbClr val="2E7D4F"/>
            </a:solidFill>
            <a:prstDash val="dash"/>
          </a:ln>
        </p:spPr>
      </p:sp>
      <p:sp>
        <p:nvSpPr>
          <p:cNvPr id="81" name="Text 79"/>
          <p:cNvSpPr txBox="1"/>
          <p:nvPr/>
        </p:nvSpPr>
        <p:spPr>
          <a:xfrm>
            <a:off x="6876948" y="57881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 due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Dec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1428250" y="1874520"/>
            <a:ext cx="0" cy="3840480"/>
          </a:xfrm>
          <a:prstGeom prst="line">
            <a:avLst/>
          </a:prstGeom>
          <a:noFill/>
          <a:ln w="15875">
            <a:solidFill>
              <a:srgbClr val="2E7D4F"/>
            </a:solidFill>
            <a:prstDash val="dash"/>
          </a:ln>
        </p:spPr>
      </p:sp>
      <p:sp>
        <p:nvSpPr>
          <p:cNvPr id="83" name="Text 81"/>
          <p:cNvSpPr txBox="1"/>
          <p:nvPr/>
        </p:nvSpPr>
        <p:spPr>
          <a:xfrm>
            <a:off x="10879610" y="57881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FYP-II due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May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48640" y="6053328"/>
            <a:ext cx="274320" cy="128016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14400" y="5989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 (Fall 2026)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651760" y="6053328"/>
            <a:ext cx="274320" cy="128016"/>
          </a:xfrm>
          <a:prstGeom prst="rect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3017520" y="5989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FYP-II (Spring 2027)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377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520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6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937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IntelliSafe  ·  Uzair and Muhammad Ahmad  ·  Supervisor: Dr. Ikram Ullah Khosa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418320" y="2103120"/>
            <a:ext cx="1463040" cy="1463040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7971" y="2512771"/>
            <a:ext cx="643738" cy="64373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424160" y="3749040"/>
            <a:ext cx="1188720" cy="1188720"/>
          </a:xfrm>
          <a:prstGeom prst="ellipse">
            <a:avLst/>
          </a:prstGeom>
          <a:solidFill>
            <a:srgbClr val="3A4753"/>
          </a:solidFill>
          <a:ln w="12700">
            <a:solidFill>
              <a:srgbClr val="3A4753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002" y="4081882"/>
            <a:ext cx="523037" cy="5230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IntelliSafe FYP Proposal</dc:title>
  <dc:subject>PptxGenJS Presentation</dc:subject>
  <dc:creator>Uzair, Muhammad Ahmad</dc:creator>
  <cp:lastModifiedBy>Uzair, Muhammad Ahmad</cp:lastModifiedBy>
  <cp:revision>1</cp:revision>
  <dcterms:created xsi:type="dcterms:W3CDTF">2026-09-20T19:17:46Z</dcterms:created>
  <dcterms:modified xsi:type="dcterms:W3CDTF">2026-09-20T19:17:46Z</dcterms:modified>
</cp:coreProperties>
</file>